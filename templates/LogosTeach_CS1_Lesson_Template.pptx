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A64936"/>
          </a:solidFill>
          <a:ln w="12700">
            <a:solidFill>
              <a:srgbClr val="A64936"/>
            </a:solidFill>
            <a:prstDash val="solid"/>
          </a:ln>
        </p:spPr>
      </p:sp>
      <p:sp>
        <p:nvSpPr>
          <p:cNvPr id="3" name="Shape 1"/>
          <p:cNvSpPr/>
          <p:nvPr/>
        </p:nvSpPr>
        <p:spPr>
          <a:xfrm>
            <a:off x="0" y="164592"/>
            <a:ext cx="12191695" cy="73152"/>
          </a:xfrm>
          <a:prstGeom prst="rect">
            <a:avLst/>
          </a:prstGeom>
          <a:solidFill>
            <a:srgbClr val="E1A244"/>
          </a:solidFill>
          <a:ln w="12700">
            <a:solidFill>
              <a:srgbClr val="E1A244"/>
            </a:solidFill>
            <a:prstDash val="solid"/>
          </a:ln>
        </p:spPr>
      </p:sp>
      <p:sp>
        <p:nvSpPr>
          <p:cNvPr id="4" name="Shape 2"/>
          <p:cNvSpPr/>
          <p:nvPr/>
        </p:nvSpPr>
        <p:spPr>
          <a:xfrm>
            <a:off x="0" y="5989320"/>
            <a:ext cx="12191695" cy="868680"/>
          </a:xfrm>
          <a:prstGeom prst="rect">
            <a:avLst/>
          </a:prstGeom>
          <a:solidFill>
            <a:srgbClr val="0D3358"/>
          </a:solidFill>
          <a:ln w="12700">
            <a:solidFill>
              <a:srgbClr val="0D3358"/>
            </a:solidFill>
            <a:prstDash val="solid"/>
          </a:ln>
        </p:spPr>
      </p:sp>
      <p:sp>
        <p:nvSpPr>
          <p:cNvPr id="5" name="Shape 3"/>
          <p:cNvSpPr/>
          <p:nvPr/>
        </p:nvSpPr>
        <p:spPr>
          <a:xfrm>
            <a:off x="0" y="5989320"/>
            <a:ext cx="12191695" cy="41148"/>
          </a:xfrm>
          <a:prstGeom prst="rect">
            <a:avLst/>
          </a:prstGeom>
          <a:solidFill>
            <a:srgbClr val="E1A244"/>
          </a:solidFill>
          <a:ln w="12700">
            <a:solidFill>
              <a:srgbClr val="E1A244"/>
            </a:solidFill>
            <a:prstDash val="solid"/>
          </a:ln>
        </p:spPr>
      </p:sp>
      <p:sp>
        <p:nvSpPr>
          <p:cNvPr id="6" name="Text 4"/>
          <p:cNvSpPr/>
          <p:nvPr/>
        </p:nvSpPr>
        <p:spPr>
          <a:xfrm>
            <a:off x="640080" y="1051560"/>
            <a:ext cx="10972800" cy="329184"/>
          </a:xfrm>
          <a:prstGeom prst="rect">
            <a:avLst/>
          </a:prstGeom>
          <a:noFill/>
          <a:ln/>
        </p:spPr>
        <p:txBody>
          <a:bodyPr wrap="square" lIns="0" tIns="0" rIns="0" bIns="0" rtlCol="0" anchor="ctr"/>
          <a:lstStyle/>
          <a:p>
            <a:pPr indent="0" marL="0">
              <a:buNone/>
            </a:pPr>
            <a:r>
              <a:rPr lang="en-US" sz="1600" b="1" dirty="0">
                <a:solidFill>
                  <a:srgbClr val="E1A244"/>
                </a:solidFill>
                <a:latin typeface="Calibri" pitchFamily="34" charset="0"/>
                <a:ea typeface="Calibri" pitchFamily="34" charset="-122"/>
                <a:cs typeface="Calibri" pitchFamily="34" charset="-120"/>
              </a:rPr>
              <a:t>UNIT N   ·   CHAPTER N   ·   LESSON N</a:t>
            </a:r>
            <a:endParaRPr lang="en-US" sz="1600" dirty="0"/>
          </a:p>
        </p:txBody>
      </p:sp>
      <p:sp>
        <p:nvSpPr>
          <p:cNvPr id="7" name="Text 5"/>
          <p:cNvSpPr/>
          <p:nvPr/>
        </p:nvSpPr>
        <p:spPr>
          <a:xfrm>
            <a:off x="640080" y="1554480"/>
            <a:ext cx="10972800" cy="9601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Lesson Title Goes Here</a:t>
            </a:r>
            <a:endParaRPr lang="en-US" sz="4400" dirty="0"/>
          </a:p>
        </p:txBody>
      </p:sp>
      <p:sp>
        <p:nvSpPr>
          <p:cNvPr id="8" name="Text 6"/>
          <p:cNvSpPr/>
          <p:nvPr/>
        </p:nvSpPr>
        <p:spPr>
          <a:xfrm>
            <a:off x="640080" y="2606040"/>
            <a:ext cx="10972800" cy="365760"/>
          </a:xfrm>
          <a:prstGeom prst="rect">
            <a:avLst/>
          </a:prstGeom>
          <a:noFill/>
          <a:ln/>
        </p:spPr>
        <p:txBody>
          <a:bodyPr wrap="square" lIns="0" tIns="0" rIns="0" bIns="0" rtlCol="0" anchor="ctr"/>
          <a:lstStyle/>
          <a:p>
            <a:pPr indent="0" marL="0">
              <a:buNone/>
            </a:pPr>
            <a:r>
              <a:rPr lang="en-US" sz="2000" i="1" dirty="0">
                <a:solidFill>
                  <a:srgbClr val="C5D0D8"/>
                </a:solidFill>
                <a:latin typeface="Calibri" pitchFamily="34" charset="0"/>
                <a:ea typeface="Calibri" pitchFamily="34" charset="-122"/>
                <a:cs typeface="Calibri" pitchFamily="34" charset="-120"/>
              </a:rPr>
              <a:t>Python with a Worldview  ·  Computer Science 1</a:t>
            </a:r>
            <a:endParaRPr lang="en-US" sz="2000" dirty="0"/>
          </a:p>
        </p:txBody>
      </p:sp>
      <p:sp>
        <p:nvSpPr>
          <p:cNvPr id="9" name="Shape 7"/>
          <p:cNvSpPr/>
          <p:nvPr/>
        </p:nvSpPr>
        <p:spPr>
          <a:xfrm>
            <a:off x="640080" y="3200400"/>
            <a:ext cx="2011680" cy="64008"/>
          </a:xfrm>
          <a:prstGeom prst="rect">
            <a:avLst/>
          </a:prstGeom>
          <a:solidFill>
            <a:srgbClr val="E1A244"/>
          </a:solidFill>
          <a:ln w="12700">
            <a:solidFill>
              <a:srgbClr val="E1A244"/>
            </a:solidFill>
            <a:prstDash val="solid"/>
          </a:ln>
        </p:spPr>
      </p:sp>
      <p:sp>
        <p:nvSpPr>
          <p:cNvPr id="10" name="Text 8"/>
          <p:cNvSpPr/>
          <p:nvPr/>
        </p:nvSpPr>
        <p:spPr>
          <a:xfrm>
            <a:off x="640080" y="3474720"/>
            <a:ext cx="9601200" cy="1005840"/>
          </a:xfrm>
          <a:prstGeom prst="rect">
            <a:avLst/>
          </a:prstGeom>
          <a:noFill/>
          <a:ln/>
        </p:spPr>
        <p:txBody>
          <a:bodyPr wrap="square" lIns="0" tIns="0" rIns="0" bIns="0" rtlCol="0" anchor="ctr"/>
          <a:lstStyle/>
          <a:p>
            <a:pPr indent="0" marL="0">
              <a:buNone/>
            </a:pPr>
            <a:r>
              <a:rPr lang="en-US" sz="1800" dirty="0">
                <a:solidFill>
                  <a:srgbClr val="F6F6F5"/>
                </a:solidFill>
                <a:latin typeface="Calibri" pitchFamily="34" charset="0"/>
                <a:ea typeface="Calibri" pitchFamily="34" charset="-122"/>
                <a:cs typeface="Calibri" pitchFamily="34" charset="-120"/>
              </a:rPr>
              <a:t>One-sentence lesson promise. What the student can do when this lesson ends.</a:t>
            </a:r>
            <a:endParaRPr lang="en-US" sz="1800" dirty="0"/>
          </a:p>
          <a:p>
            <a:pPr indent="0" marL="0">
              <a:buNone/>
            </a:pPr>
            <a:r>
              <a:rPr lang="en-US" sz="1800" dirty="0">
                <a:solidFill>
                  <a:srgbClr val="F6F6F5"/>
                </a:solidFill>
                <a:latin typeface="Calibri" pitchFamily="34" charset="0"/>
                <a:ea typeface="Calibri" pitchFamily="34" charset="-122"/>
                <a:cs typeface="Calibri" pitchFamily="34" charset="-120"/>
              </a:rPr>
              <a:t>Optional second line: the bridge from the last lesson or the hook for this one.</a:t>
            </a:r>
            <a:endParaRPr lang="en-US" sz="1800" dirty="0"/>
          </a:p>
        </p:txBody>
      </p:sp>
      <p:sp>
        <p:nvSpPr>
          <p:cNvPr id="11" name="Text 9"/>
          <p:cNvSpPr/>
          <p:nvPr/>
        </p:nvSpPr>
        <p:spPr>
          <a:xfrm>
            <a:off x="640080" y="6108192"/>
            <a:ext cx="5303520" cy="256032"/>
          </a:xfrm>
          <a:prstGeom prst="rect">
            <a:avLst/>
          </a:prstGeom>
          <a:noFill/>
          <a:ln/>
        </p:spPr>
        <p:txBody>
          <a:bodyPr wrap="square" lIns="0" tIns="0" rIns="0" bIns="0" rtlCol="0" anchor="ctr"/>
          <a:lstStyle/>
          <a:p>
            <a:pPr indent="0" marL="0">
              <a:buNone/>
            </a:pPr>
            <a:r>
              <a:rPr lang="en-US" sz="1300" dirty="0">
                <a:solidFill>
                  <a:srgbClr val="F6F6F5"/>
                </a:solidFill>
                <a:latin typeface="Calibri" pitchFamily="34" charset="0"/>
                <a:ea typeface="Calibri" pitchFamily="34" charset="-122"/>
                <a:cs typeface="Calibri" pitchFamily="34" charset="-120"/>
              </a:rPr>
              <a:t>LogosTeach  ·  John C. Partridge</a:t>
            </a:r>
            <a:endParaRPr lang="en-US" sz="1300" dirty="0"/>
          </a:p>
        </p:txBody>
      </p:sp>
      <p:sp>
        <p:nvSpPr>
          <p:cNvPr id="12" name="Text 10"/>
          <p:cNvSpPr/>
          <p:nvPr/>
        </p:nvSpPr>
        <p:spPr>
          <a:xfrm>
            <a:off x="6309360" y="6108192"/>
            <a:ext cx="5303520" cy="256032"/>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Copyright 2026 LogosTeach  ·  All Rights Reserved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N  ·  Lesson Title</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2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How to Use This Template</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298448"/>
            <a:ext cx="11247120" cy="896112"/>
          </a:xfrm>
          <a:prstGeom prst="roundRect">
            <a:avLst>
              <a:gd name="adj" fmla="val 8163"/>
            </a:avLst>
          </a:prstGeom>
          <a:solidFill>
            <a:srgbClr val="FFFFFF"/>
          </a:solidFill>
          <a:ln w="12700">
            <a:solidFill>
              <a:srgbClr val="E2E8EE"/>
            </a:solidFill>
            <a:prstDash val="solid"/>
          </a:ln>
        </p:spPr>
      </p:sp>
      <p:sp>
        <p:nvSpPr>
          <p:cNvPr id="13" name="Shape 11"/>
          <p:cNvSpPr/>
          <p:nvPr/>
        </p:nvSpPr>
        <p:spPr>
          <a:xfrm>
            <a:off x="621792" y="1508760"/>
            <a:ext cx="658368" cy="475488"/>
          </a:xfrm>
          <a:prstGeom prst="roundRect">
            <a:avLst>
              <a:gd name="adj" fmla="val 11538"/>
            </a:avLst>
          </a:prstGeom>
          <a:solidFill>
            <a:srgbClr val="1A7070"/>
          </a:solidFill>
          <a:ln w="12700">
            <a:solidFill>
              <a:srgbClr val="1A7070"/>
            </a:solidFill>
            <a:prstDash val="solid"/>
          </a:ln>
        </p:spPr>
      </p:sp>
      <p:sp>
        <p:nvSpPr>
          <p:cNvPr id="14" name="Text 12"/>
          <p:cNvSpPr/>
          <p:nvPr/>
        </p:nvSpPr>
        <p:spPr>
          <a:xfrm>
            <a:off x="621792" y="1508760"/>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5" name="Text 13"/>
          <p:cNvSpPr/>
          <p:nvPr/>
        </p:nvSpPr>
        <p:spPr>
          <a:xfrm>
            <a:off x="1463040" y="1408176"/>
            <a:ext cx="9966960" cy="292608"/>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Duplicate, do not restyle.</a:t>
            </a:r>
            <a:endParaRPr lang="en-US" sz="1600" dirty="0"/>
          </a:p>
        </p:txBody>
      </p:sp>
      <p:sp>
        <p:nvSpPr>
          <p:cNvPr id="16" name="Text 14"/>
          <p:cNvSpPr/>
          <p:nvPr/>
        </p:nvSpPr>
        <p:spPr>
          <a:xfrm>
            <a:off x="1463040" y="1700784"/>
            <a:ext cx="9966960" cy="384048"/>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Copy this file for every new lesson. Keep the navy header, gold rule, cream field, and footer exactly as they are.</a:t>
            </a:r>
            <a:endParaRPr lang="en-US" sz="1400" dirty="0"/>
          </a:p>
        </p:txBody>
      </p:sp>
      <p:sp>
        <p:nvSpPr>
          <p:cNvPr id="17" name="Shape 15"/>
          <p:cNvSpPr/>
          <p:nvPr/>
        </p:nvSpPr>
        <p:spPr>
          <a:xfrm>
            <a:off x="457200" y="2286000"/>
            <a:ext cx="11247120" cy="896112"/>
          </a:xfrm>
          <a:prstGeom prst="roundRect">
            <a:avLst>
              <a:gd name="adj" fmla="val 8163"/>
            </a:avLst>
          </a:prstGeom>
          <a:solidFill>
            <a:srgbClr val="F0F7FF"/>
          </a:solidFill>
          <a:ln w="12700">
            <a:solidFill>
              <a:srgbClr val="E2E8EE"/>
            </a:solidFill>
            <a:prstDash val="solid"/>
          </a:ln>
        </p:spPr>
      </p:sp>
      <p:sp>
        <p:nvSpPr>
          <p:cNvPr id="18" name="Shape 16"/>
          <p:cNvSpPr/>
          <p:nvPr/>
        </p:nvSpPr>
        <p:spPr>
          <a:xfrm>
            <a:off x="621792" y="2496312"/>
            <a:ext cx="658368" cy="475488"/>
          </a:xfrm>
          <a:prstGeom prst="roundRect">
            <a:avLst>
              <a:gd name="adj" fmla="val 11538"/>
            </a:avLst>
          </a:prstGeom>
          <a:solidFill>
            <a:srgbClr val="1A7070"/>
          </a:solidFill>
          <a:ln w="12700">
            <a:solidFill>
              <a:srgbClr val="1A7070"/>
            </a:solidFill>
            <a:prstDash val="solid"/>
          </a:ln>
        </p:spPr>
      </p:sp>
      <p:sp>
        <p:nvSpPr>
          <p:cNvPr id="19" name="Text 17"/>
          <p:cNvSpPr/>
          <p:nvPr/>
        </p:nvSpPr>
        <p:spPr>
          <a:xfrm>
            <a:off x="621792" y="2496312"/>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20" name="Text 18"/>
          <p:cNvSpPr/>
          <p:nvPr/>
        </p:nvSpPr>
        <p:spPr>
          <a:xfrm>
            <a:off x="1463040" y="2395728"/>
            <a:ext cx="9966960" cy="292608"/>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Swap the placeholders.</a:t>
            </a:r>
            <a:endParaRPr lang="en-US" sz="1600" dirty="0"/>
          </a:p>
        </p:txBody>
      </p:sp>
      <p:sp>
        <p:nvSpPr>
          <p:cNvPr id="21" name="Text 19"/>
          <p:cNvSpPr/>
          <p:nvPr/>
        </p:nvSpPr>
        <p:spPr>
          <a:xfrm>
            <a:off x="1463040" y="2688336"/>
            <a:ext cx="9966960" cy="384048"/>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Replace Unit N, Lesson Title, slide titles, body copy, and code. Leave colors, fonts, and measurements alone.</a:t>
            </a:r>
            <a:endParaRPr lang="en-US" sz="1400" dirty="0"/>
          </a:p>
        </p:txBody>
      </p:sp>
      <p:sp>
        <p:nvSpPr>
          <p:cNvPr id="22" name="Shape 20"/>
          <p:cNvSpPr/>
          <p:nvPr/>
        </p:nvSpPr>
        <p:spPr>
          <a:xfrm>
            <a:off x="457200" y="3273552"/>
            <a:ext cx="11247120" cy="896112"/>
          </a:xfrm>
          <a:prstGeom prst="roundRect">
            <a:avLst>
              <a:gd name="adj" fmla="val 8163"/>
            </a:avLst>
          </a:prstGeom>
          <a:solidFill>
            <a:srgbClr val="FFFFFF"/>
          </a:solidFill>
          <a:ln w="12700">
            <a:solidFill>
              <a:srgbClr val="E2E8EE"/>
            </a:solidFill>
            <a:prstDash val="solid"/>
          </a:ln>
        </p:spPr>
      </p:sp>
      <p:sp>
        <p:nvSpPr>
          <p:cNvPr id="23" name="Shape 21"/>
          <p:cNvSpPr/>
          <p:nvPr/>
        </p:nvSpPr>
        <p:spPr>
          <a:xfrm>
            <a:off x="621792" y="3483864"/>
            <a:ext cx="658368" cy="475488"/>
          </a:xfrm>
          <a:prstGeom prst="roundRect">
            <a:avLst>
              <a:gd name="adj" fmla="val 11538"/>
            </a:avLst>
          </a:prstGeom>
          <a:solidFill>
            <a:srgbClr val="1A7070"/>
          </a:solidFill>
          <a:ln w="12700">
            <a:solidFill>
              <a:srgbClr val="1A7070"/>
            </a:solidFill>
            <a:prstDash val="solid"/>
          </a:ln>
        </p:spPr>
      </p:sp>
      <p:sp>
        <p:nvSpPr>
          <p:cNvPr id="24" name="Text 22"/>
          <p:cNvSpPr/>
          <p:nvPr/>
        </p:nvSpPr>
        <p:spPr>
          <a:xfrm>
            <a:off x="621792" y="3483864"/>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5" name="Text 23"/>
          <p:cNvSpPr/>
          <p:nvPr/>
        </p:nvSpPr>
        <p:spPr>
          <a:xfrm>
            <a:off x="1463040" y="3383280"/>
            <a:ext cx="9966960" cy="292608"/>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Pick a layout, then fill it.</a:t>
            </a:r>
            <a:endParaRPr lang="en-US" sz="1600" dirty="0"/>
          </a:p>
        </p:txBody>
      </p:sp>
      <p:sp>
        <p:nvSpPr>
          <p:cNvPr id="26" name="Text 24"/>
          <p:cNvSpPr/>
          <p:nvPr/>
        </p:nvSpPr>
        <p:spPr>
          <a:xfrm>
            <a:off x="1463040" y="3675888"/>
            <a:ext cx="9966960" cy="384048"/>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Each remaining slide is a reusable pattern: objectives, vocabulary, compare, cards, code, Scripture, caution, summary.</a:t>
            </a:r>
            <a:endParaRPr lang="en-US" sz="1400" dirty="0"/>
          </a:p>
        </p:txBody>
      </p:sp>
      <p:sp>
        <p:nvSpPr>
          <p:cNvPr id="27" name="Shape 25"/>
          <p:cNvSpPr/>
          <p:nvPr/>
        </p:nvSpPr>
        <p:spPr>
          <a:xfrm>
            <a:off x="457200" y="4261104"/>
            <a:ext cx="11247120" cy="896112"/>
          </a:xfrm>
          <a:prstGeom prst="roundRect">
            <a:avLst>
              <a:gd name="adj" fmla="val 8163"/>
            </a:avLst>
          </a:prstGeom>
          <a:solidFill>
            <a:srgbClr val="F0F7FF"/>
          </a:solidFill>
          <a:ln w="12700">
            <a:solidFill>
              <a:srgbClr val="E2E8EE"/>
            </a:solidFill>
            <a:prstDash val="solid"/>
          </a:ln>
        </p:spPr>
      </p:sp>
      <p:sp>
        <p:nvSpPr>
          <p:cNvPr id="28" name="Shape 26"/>
          <p:cNvSpPr/>
          <p:nvPr/>
        </p:nvSpPr>
        <p:spPr>
          <a:xfrm>
            <a:off x="621792" y="4471416"/>
            <a:ext cx="658368" cy="475488"/>
          </a:xfrm>
          <a:prstGeom prst="roundRect">
            <a:avLst>
              <a:gd name="adj" fmla="val 11538"/>
            </a:avLst>
          </a:prstGeom>
          <a:solidFill>
            <a:srgbClr val="1A7070"/>
          </a:solidFill>
          <a:ln w="12700">
            <a:solidFill>
              <a:srgbClr val="1A7070"/>
            </a:solidFill>
            <a:prstDash val="solid"/>
          </a:ln>
        </p:spPr>
      </p:sp>
      <p:sp>
        <p:nvSpPr>
          <p:cNvPr id="29" name="Text 27"/>
          <p:cNvSpPr/>
          <p:nvPr/>
        </p:nvSpPr>
        <p:spPr>
          <a:xfrm>
            <a:off x="621792" y="4471416"/>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30" name="Text 28"/>
          <p:cNvSpPr/>
          <p:nvPr/>
        </p:nvSpPr>
        <p:spPr>
          <a:xfrm>
            <a:off x="1463040" y="4370832"/>
            <a:ext cx="9966960" cy="292608"/>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Keep the 14-slide habit.</a:t>
            </a:r>
            <a:endParaRPr lang="en-US" sz="1600" dirty="0"/>
          </a:p>
        </p:txBody>
      </p:sp>
      <p:sp>
        <p:nvSpPr>
          <p:cNvPr id="31" name="Text 29"/>
          <p:cNvSpPr/>
          <p:nvPr/>
        </p:nvSpPr>
        <p:spPr>
          <a:xfrm>
            <a:off x="1463040" y="4663440"/>
            <a:ext cx="9966960" cy="384048"/>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Title, objectives, teaching slides, Scripture, summary plus next-lesson bar. Delete unused layouts after you copy them.</a:t>
            </a:r>
            <a:endParaRPr lang="en-US" sz="1400" dirty="0"/>
          </a:p>
        </p:txBody>
      </p:sp>
      <p:sp>
        <p:nvSpPr>
          <p:cNvPr id="32" name="Shape 30"/>
          <p:cNvSpPr/>
          <p:nvPr/>
        </p:nvSpPr>
        <p:spPr>
          <a:xfrm>
            <a:off x="457200" y="5248656"/>
            <a:ext cx="11247120" cy="896112"/>
          </a:xfrm>
          <a:prstGeom prst="roundRect">
            <a:avLst>
              <a:gd name="adj" fmla="val 8163"/>
            </a:avLst>
          </a:prstGeom>
          <a:solidFill>
            <a:srgbClr val="FFFFFF"/>
          </a:solidFill>
          <a:ln w="12700">
            <a:solidFill>
              <a:srgbClr val="E2E8EE"/>
            </a:solidFill>
            <a:prstDash val="solid"/>
          </a:ln>
        </p:spPr>
      </p:sp>
      <p:sp>
        <p:nvSpPr>
          <p:cNvPr id="33" name="Shape 31"/>
          <p:cNvSpPr/>
          <p:nvPr/>
        </p:nvSpPr>
        <p:spPr>
          <a:xfrm>
            <a:off x="621792" y="5458968"/>
            <a:ext cx="658368" cy="475488"/>
          </a:xfrm>
          <a:prstGeom prst="roundRect">
            <a:avLst>
              <a:gd name="adj" fmla="val 11538"/>
            </a:avLst>
          </a:prstGeom>
          <a:solidFill>
            <a:srgbClr val="1A7070"/>
          </a:solidFill>
          <a:ln w="12700">
            <a:solidFill>
              <a:srgbClr val="1A7070"/>
            </a:solidFill>
            <a:prstDash val="solid"/>
          </a:ln>
        </p:spPr>
      </p:sp>
      <p:sp>
        <p:nvSpPr>
          <p:cNvPr id="34" name="Text 32"/>
          <p:cNvSpPr/>
          <p:nvPr/>
        </p:nvSpPr>
        <p:spPr>
          <a:xfrm>
            <a:off x="621792" y="5458968"/>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35" name="Text 33"/>
          <p:cNvSpPr/>
          <p:nvPr/>
        </p:nvSpPr>
        <p:spPr>
          <a:xfrm>
            <a:off x="1463040" y="5358384"/>
            <a:ext cx="9966960" cy="292608"/>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Scripture is NKJV only.</a:t>
            </a:r>
            <a:endParaRPr lang="en-US" sz="1600" dirty="0"/>
          </a:p>
        </p:txBody>
      </p:sp>
      <p:sp>
        <p:nvSpPr>
          <p:cNvPr id="36" name="Text 34"/>
          <p:cNvSpPr/>
          <p:nvPr/>
        </p:nvSpPr>
        <p:spPr>
          <a:xfrm>
            <a:off x="1463040" y="5650992"/>
            <a:ext cx="9966960" cy="384048"/>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Place the verse in italic on ivory. Put the reference in teal. Worldview belongs on the slide, not only in the notes.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N  ·  Lesson Title</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3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House Palette and Type</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25880"/>
            <a:ext cx="2788920" cy="1280160"/>
          </a:xfrm>
          <a:prstGeom prst="roundRect">
            <a:avLst>
              <a:gd name="adj" fmla="val 5714"/>
            </a:avLst>
          </a:prstGeom>
          <a:solidFill>
            <a:srgbClr val="FFFFFF"/>
          </a:solidFill>
          <a:ln w="12700">
            <a:solidFill>
              <a:srgbClr val="E2E8EE"/>
            </a:solidFill>
            <a:prstDash val="solid"/>
          </a:ln>
        </p:spPr>
      </p:sp>
      <p:sp>
        <p:nvSpPr>
          <p:cNvPr id="13" name="Shape 11"/>
          <p:cNvSpPr/>
          <p:nvPr/>
        </p:nvSpPr>
        <p:spPr>
          <a:xfrm>
            <a:off x="603504" y="1490472"/>
            <a:ext cx="502920" cy="502920"/>
          </a:xfrm>
          <a:prstGeom prst="roundRect">
            <a:avLst>
              <a:gd name="adj" fmla="val 10909"/>
            </a:avLst>
          </a:prstGeom>
          <a:solidFill>
            <a:srgbClr val="0D3358"/>
          </a:solidFill>
          <a:ln w="12700">
            <a:solidFill>
              <a:srgbClr val="C5D7F0"/>
            </a:solidFill>
            <a:prstDash val="solid"/>
          </a:ln>
        </p:spPr>
      </p:sp>
      <p:sp>
        <p:nvSpPr>
          <p:cNvPr id="14" name="Text 12"/>
          <p:cNvSpPr/>
          <p:nvPr/>
        </p:nvSpPr>
        <p:spPr>
          <a:xfrm>
            <a:off x="1225296" y="1472184"/>
            <a:ext cx="1874520" cy="274320"/>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Navy</a:t>
            </a:r>
            <a:endParaRPr lang="en-US" sz="1500" dirty="0"/>
          </a:p>
        </p:txBody>
      </p:sp>
      <p:sp>
        <p:nvSpPr>
          <p:cNvPr id="15" name="Text 13"/>
          <p:cNvSpPr/>
          <p:nvPr/>
        </p:nvSpPr>
        <p:spPr>
          <a:xfrm>
            <a:off x="1225296" y="1746504"/>
            <a:ext cx="1874520" cy="219456"/>
          </a:xfrm>
          <a:prstGeom prst="rect">
            <a:avLst/>
          </a:prstGeom>
          <a:noFill/>
          <a:ln/>
        </p:spPr>
        <p:txBody>
          <a:bodyPr wrap="square" lIns="0" tIns="0" rIns="0" bIns="0" rtlCol="0" anchor="ctr"/>
          <a:lstStyle/>
          <a:p>
            <a:pPr indent="0" marL="0">
              <a:buNone/>
            </a:pPr>
            <a:r>
              <a:rPr lang="en-US" sz="1200" dirty="0">
                <a:solidFill>
                  <a:srgbClr val="1A7070"/>
                </a:solidFill>
                <a:latin typeface="Consolas" pitchFamily="34" charset="0"/>
                <a:ea typeface="Consolas" pitchFamily="34" charset="-122"/>
                <a:cs typeface="Consolas" pitchFamily="34" charset="-120"/>
              </a:rPr>
              <a:t>#0D3358</a:t>
            </a:r>
            <a:endParaRPr lang="en-US" sz="1200" dirty="0"/>
          </a:p>
        </p:txBody>
      </p:sp>
      <p:sp>
        <p:nvSpPr>
          <p:cNvPr id="16" name="Text 14"/>
          <p:cNvSpPr/>
          <p:nvPr/>
        </p:nvSpPr>
        <p:spPr>
          <a:xfrm>
            <a:off x="603504" y="2112264"/>
            <a:ext cx="2496312" cy="329184"/>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Headers, titles</a:t>
            </a:r>
            <a:endParaRPr lang="en-US" sz="1300" dirty="0"/>
          </a:p>
        </p:txBody>
      </p:sp>
      <p:sp>
        <p:nvSpPr>
          <p:cNvPr id="17" name="Shape 15"/>
          <p:cNvSpPr/>
          <p:nvPr/>
        </p:nvSpPr>
        <p:spPr>
          <a:xfrm>
            <a:off x="3383280" y="1325880"/>
            <a:ext cx="2788920" cy="1280160"/>
          </a:xfrm>
          <a:prstGeom prst="roundRect">
            <a:avLst>
              <a:gd name="adj" fmla="val 5714"/>
            </a:avLst>
          </a:prstGeom>
          <a:solidFill>
            <a:srgbClr val="FFFFFF"/>
          </a:solidFill>
          <a:ln w="12700">
            <a:solidFill>
              <a:srgbClr val="E2E8EE"/>
            </a:solidFill>
            <a:prstDash val="solid"/>
          </a:ln>
        </p:spPr>
      </p:sp>
      <p:sp>
        <p:nvSpPr>
          <p:cNvPr id="18" name="Shape 16"/>
          <p:cNvSpPr/>
          <p:nvPr/>
        </p:nvSpPr>
        <p:spPr>
          <a:xfrm>
            <a:off x="3529584" y="1490472"/>
            <a:ext cx="502920" cy="502920"/>
          </a:xfrm>
          <a:prstGeom prst="roundRect">
            <a:avLst>
              <a:gd name="adj" fmla="val 10909"/>
            </a:avLst>
          </a:prstGeom>
          <a:solidFill>
            <a:srgbClr val="0A2540"/>
          </a:solidFill>
          <a:ln w="12700">
            <a:solidFill>
              <a:srgbClr val="C5D7F0"/>
            </a:solidFill>
            <a:prstDash val="solid"/>
          </a:ln>
        </p:spPr>
      </p:sp>
      <p:sp>
        <p:nvSpPr>
          <p:cNvPr id="19" name="Text 17"/>
          <p:cNvSpPr/>
          <p:nvPr/>
        </p:nvSpPr>
        <p:spPr>
          <a:xfrm>
            <a:off x="4151376" y="1472184"/>
            <a:ext cx="1874520" cy="274320"/>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Navy Dark</a:t>
            </a:r>
            <a:endParaRPr lang="en-US" sz="1500" dirty="0"/>
          </a:p>
        </p:txBody>
      </p:sp>
      <p:sp>
        <p:nvSpPr>
          <p:cNvPr id="20" name="Text 18"/>
          <p:cNvSpPr/>
          <p:nvPr/>
        </p:nvSpPr>
        <p:spPr>
          <a:xfrm>
            <a:off x="4151376" y="1746504"/>
            <a:ext cx="1874520" cy="219456"/>
          </a:xfrm>
          <a:prstGeom prst="rect">
            <a:avLst/>
          </a:prstGeom>
          <a:noFill/>
          <a:ln/>
        </p:spPr>
        <p:txBody>
          <a:bodyPr wrap="square" lIns="0" tIns="0" rIns="0" bIns="0" rtlCol="0" anchor="ctr"/>
          <a:lstStyle/>
          <a:p>
            <a:pPr indent="0" marL="0">
              <a:buNone/>
            </a:pPr>
            <a:r>
              <a:rPr lang="en-US" sz="1200" dirty="0">
                <a:solidFill>
                  <a:srgbClr val="1A7070"/>
                </a:solidFill>
                <a:latin typeface="Consolas" pitchFamily="34" charset="0"/>
                <a:ea typeface="Consolas" pitchFamily="34" charset="-122"/>
                <a:cs typeface="Consolas" pitchFamily="34" charset="-120"/>
              </a:rPr>
              <a:t>#0A2540</a:t>
            </a:r>
            <a:endParaRPr lang="en-US" sz="1200" dirty="0"/>
          </a:p>
        </p:txBody>
      </p:sp>
      <p:sp>
        <p:nvSpPr>
          <p:cNvPr id="21" name="Text 19"/>
          <p:cNvSpPr/>
          <p:nvPr/>
        </p:nvSpPr>
        <p:spPr>
          <a:xfrm>
            <a:off x="3529584" y="2112264"/>
            <a:ext cx="2496312" cy="329184"/>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Title slide field</a:t>
            </a:r>
            <a:endParaRPr lang="en-US" sz="1300" dirty="0"/>
          </a:p>
        </p:txBody>
      </p:sp>
      <p:sp>
        <p:nvSpPr>
          <p:cNvPr id="22" name="Shape 20"/>
          <p:cNvSpPr/>
          <p:nvPr/>
        </p:nvSpPr>
        <p:spPr>
          <a:xfrm>
            <a:off x="6309360" y="1325880"/>
            <a:ext cx="2788920" cy="1280160"/>
          </a:xfrm>
          <a:prstGeom prst="roundRect">
            <a:avLst>
              <a:gd name="adj" fmla="val 5714"/>
            </a:avLst>
          </a:prstGeom>
          <a:solidFill>
            <a:srgbClr val="FFFFFF"/>
          </a:solidFill>
          <a:ln w="12700">
            <a:solidFill>
              <a:srgbClr val="E2E8EE"/>
            </a:solidFill>
            <a:prstDash val="solid"/>
          </a:ln>
        </p:spPr>
      </p:sp>
      <p:sp>
        <p:nvSpPr>
          <p:cNvPr id="23" name="Shape 21"/>
          <p:cNvSpPr/>
          <p:nvPr/>
        </p:nvSpPr>
        <p:spPr>
          <a:xfrm>
            <a:off x="6455664" y="1490472"/>
            <a:ext cx="502920" cy="502920"/>
          </a:xfrm>
          <a:prstGeom prst="roundRect">
            <a:avLst>
              <a:gd name="adj" fmla="val 10909"/>
            </a:avLst>
          </a:prstGeom>
          <a:solidFill>
            <a:srgbClr val="1A7070"/>
          </a:solidFill>
          <a:ln w="12700">
            <a:solidFill>
              <a:srgbClr val="C5D7F0"/>
            </a:solidFill>
            <a:prstDash val="solid"/>
          </a:ln>
        </p:spPr>
      </p:sp>
      <p:sp>
        <p:nvSpPr>
          <p:cNvPr id="24" name="Text 22"/>
          <p:cNvSpPr/>
          <p:nvPr/>
        </p:nvSpPr>
        <p:spPr>
          <a:xfrm>
            <a:off x="7077456" y="1472184"/>
            <a:ext cx="1874520" cy="274320"/>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Teal</a:t>
            </a:r>
            <a:endParaRPr lang="en-US" sz="1500" dirty="0"/>
          </a:p>
        </p:txBody>
      </p:sp>
      <p:sp>
        <p:nvSpPr>
          <p:cNvPr id="25" name="Text 23"/>
          <p:cNvSpPr/>
          <p:nvPr/>
        </p:nvSpPr>
        <p:spPr>
          <a:xfrm>
            <a:off x="7077456" y="1746504"/>
            <a:ext cx="1874520" cy="219456"/>
          </a:xfrm>
          <a:prstGeom prst="rect">
            <a:avLst/>
          </a:prstGeom>
          <a:noFill/>
          <a:ln/>
        </p:spPr>
        <p:txBody>
          <a:bodyPr wrap="square" lIns="0" tIns="0" rIns="0" bIns="0" rtlCol="0" anchor="ctr"/>
          <a:lstStyle/>
          <a:p>
            <a:pPr indent="0" marL="0">
              <a:buNone/>
            </a:pPr>
            <a:r>
              <a:rPr lang="en-US" sz="1200" dirty="0">
                <a:solidFill>
                  <a:srgbClr val="1A7070"/>
                </a:solidFill>
                <a:latin typeface="Consolas" pitchFamily="34" charset="0"/>
                <a:ea typeface="Consolas" pitchFamily="34" charset="-122"/>
                <a:cs typeface="Consolas" pitchFamily="34" charset="-120"/>
              </a:rPr>
              <a:t>#1A7070</a:t>
            </a:r>
            <a:endParaRPr lang="en-US" sz="1200" dirty="0"/>
          </a:p>
        </p:txBody>
      </p:sp>
      <p:sp>
        <p:nvSpPr>
          <p:cNvPr id="26" name="Text 24"/>
          <p:cNvSpPr/>
          <p:nvPr/>
        </p:nvSpPr>
        <p:spPr>
          <a:xfrm>
            <a:off x="6455664" y="2112264"/>
            <a:ext cx="2496312" cy="329184"/>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Accents, labels</a:t>
            </a:r>
            <a:endParaRPr lang="en-US" sz="1300" dirty="0"/>
          </a:p>
        </p:txBody>
      </p:sp>
      <p:sp>
        <p:nvSpPr>
          <p:cNvPr id="27" name="Shape 25"/>
          <p:cNvSpPr/>
          <p:nvPr/>
        </p:nvSpPr>
        <p:spPr>
          <a:xfrm>
            <a:off x="9235440" y="1325880"/>
            <a:ext cx="2788920" cy="1280160"/>
          </a:xfrm>
          <a:prstGeom prst="roundRect">
            <a:avLst>
              <a:gd name="adj" fmla="val 5714"/>
            </a:avLst>
          </a:prstGeom>
          <a:solidFill>
            <a:srgbClr val="FFFFFF"/>
          </a:solidFill>
          <a:ln w="12700">
            <a:solidFill>
              <a:srgbClr val="E2E8EE"/>
            </a:solidFill>
            <a:prstDash val="solid"/>
          </a:ln>
        </p:spPr>
      </p:sp>
      <p:sp>
        <p:nvSpPr>
          <p:cNvPr id="28" name="Shape 26"/>
          <p:cNvSpPr/>
          <p:nvPr/>
        </p:nvSpPr>
        <p:spPr>
          <a:xfrm>
            <a:off x="9381744" y="1490472"/>
            <a:ext cx="502920" cy="502920"/>
          </a:xfrm>
          <a:prstGeom prst="roundRect">
            <a:avLst>
              <a:gd name="adj" fmla="val 10909"/>
            </a:avLst>
          </a:prstGeom>
          <a:solidFill>
            <a:srgbClr val="E1A244"/>
          </a:solidFill>
          <a:ln w="12700">
            <a:solidFill>
              <a:srgbClr val="C5D7F0"/>
            </a:solidFill>
            <a:prstDash val="solid"/>
          </a:ln>
        </p:spPr>
      </p:sp>
      <p:sp>
        <p:nvSpPr>
          <p:cNvPr id="29" name="Text 27"/>
          <p:cNvSpPr/>
          <p:nvPr/>
        </p:nvSpPr>
        <p:spPr>
          <a:xfrm>
            <a:off x="10003536" y="1472184"/>
            <a:ext cx="1874520" cy="274320"/>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Gold</a:t>
            </a:r>
            <a:endParaRPr lang="en-US" sz="1500" dirty="0"/>
          </a:p>
        </p:txBody>
      </p:sp>
      <p:sp>
        <p:nvSpPr>
          <p:cNvPr id="30" name="Text 28"/>
          <p:cNvSpPr/>
          <p:nvPr/>
        </p:nvSpPr>
        <p:spPr>
          <a:xfrm>
            <a:off x="10003536" y="1746504"/>
            <a:ext cx="1874520" cy="219456"/>
          </a:xfrm>
          <a:prstGeom prst="rect">
            <a:avLst/>
          </a:prstGeom>
          <a:noFill/>
          <a:ln/>
        </p:spPr>
        <p:txBody>
          <a:bodyPr wrap="square" lIns="0" tIns="0" rIns="0" bIns="0" rtlCol="0" anchor="ctr"/>
          <a:lstStyle/>
          <a:p>
            <a:pPr indent="0" marL="0">
              <a:buNone/>
            </a:pPr>
            <a:r>
              <a:rPr lang="en-US" sz="1200" dirty="0">
                <a:solidFill>
                  <a:srgbClr val="1A7070"/>
                </a:solidFill>
                <a:latin typeface="Consolas" pitchFamily="34" charset="0"/>
                <a:ea typeface="Consolas" pitchFamily="34" charset="-122"/>
                <a:cs typeface="Consolas" pitchFamily="34" charset="-120"/>
              </a:rPr>
              <a:t>#E1A244</a:t>
            </a:r>
            <a:endParaRPr lang="en-US" sz="1200" dirty="0"/>
          </a:p>
        </p:txBody>
      </p:sp>
      <p:sp>
        <p:nvSpPr>
          <p:cNvPr id="31" name="Text 29"/>
          <p:cNvSpPr/>
          <p:nvPr/>
        </p:nvSpPr>
        <p:spPr>
          <a:xfrm>
            <a:off x="9381744" y="2112264"/>
            <a:ext cx="2496312" cy="329184"/>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Rules, kickers</a:t>
            </a:r>
            <a:endParaRPr lang="en-US" sz="1300" dirty="0"/>
          </a:p>
        </p:txBody>
      </p:sp>
      <p:sp>
        <p:nvSpPr>
          <p:cNvPr id="32" name="Shape 30"/>
          <p:cNvSpPr/>
          <p:nvPr/>
        </p:nvSpPr>
        <p:spPr>
          <a:xfrm>
            <a:off x="457200" y="2743200"/>
            <a:ext cx="2788920" cy="1280160"/>
          </a:xfrm>
          <a:prstGeom prst="roundRect">
            <a:avLst>
              <a:gd name="adj" fmla="val 5714"/>
            </a:avLst>
          </a:prstGeom>
          <a:solidFill>
            <a:srgbClr val="FFFFFF"/>
          </a:solidFill>
          <a:ln w="12700">
            <a:solidFill>
              <a:srgbClr val="E2E8EE"/>
            </a:solidFill>
            <a:prstDash val="solid"/>
          </a:ln>
        </p:spPr>
      </p:sp>
      <p:sp>
        <p:nvSpPr>
          <p:cNvPr id="33" name="Shape 31"/>
          <p:cNvSpPr/>
          <p:nvPr/>
        </p:nvSpPr>
        <p:spPr>
          <a:xfrm>
            <a:off x="603504" y="2907792"/>
            <a:ext cx="502920" cy="502920"/>
          </a:xfrm>
          <a:prstGeom prst="roundRect">
            <a:avLst>
              <a:gd name="adj" fmla="val 10909"/>
            </a:avLst>
          </a:prstGeom>
          <a:solidFill>
            <a:srgbClr val="D08F3C"/>
          </a:solidFill>
          <a:ln w="12700">
            <a:solidFill>
              <a:srgbClr val="C5D7F0"/>
            </a:solidFill>
            <a:prstDash val="solid"/>
          </a:ln>
        </p:spPr>
      </p:sp>
      <p:sp>
        <p:nvSpPr>
          <p:cNvPr id="34" name="Text 32"/>
          <p:cNvSpPr/>
          <p:nvPr/>
        </p:nvSpPr>
        <p:spPr>
          <a:xfrm>
            <a:off x="1225296" y="2889504"/>
            <a:ext cx="1874520" cy="274320"/>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Gold Deep</a:t>
            </a:r>
            <a:endParaRPr lang="en-US" sz="1500" dirty="0"/>
          </a:p>
        </p:txBody>
      </p:sp>
      <p:sp>
        <p:nvSpPr>
          <p:cNvPr id="35" name="Text 33"/>
          <p:cNvSpPr/>
          <p:nvPr/>
        </p:nvSpPr>
        <p:spPr>
          <a:xfrm>
            <a:off x="1225296" y="3163824"/>
            <a:ext cx="1874520" cy="219456"/>
          </a:xfrm>
          <a:prstGeom prst="rect">
            <a:avLst/>
          </a:prstGeom>
          <a:noFill/>
          <a:ln/>
        </p:spPr>
        <p:txBody>
          <a:bodyPr wrap="square" lIns="0" tIns="0" rIns="0" bIns="0" rtlCol="0" anchor="ctr"/>
          <a:lstStyle/>
          <a:p>
            <a:pPr indent="0" marL="0">
              <a:buNone/>
            </a:pPr>
            <a:r>
              <a:rPr lang="en-US" sz="1200" dirty="0">
                <a:solidFill>
                  <a:srgbClr val="1A7070"/>
                </a:solidFill>
                <a:latin typeface="Consolas" pitchFamily="34" charset="0"/>
                <a:ea typeface="Consolas" pitchFamily="34" charset="-122"/>
                <a:cs typeface="Consolas" pitchFamily="34" charset="-120"/>
              </a:rPr>
              <a:t>#D08F3C</a:t>
            </a:r>
            <a:endParaRPr lang="en-US" sz="1200" dirty="0"/>
          </a:p>
        </p:txBody>
      </p:sp>
      <p:sp>
        <p:nvSpPr>
          <p:cNvPr id="36" name="Text 34"/>
          <p:cNvSpPr/>
          <p:nvPr/>
        </p:nvSpPr>
        <p:spPr>
          <a:xfrm>
            <a:off x="603504" y="3529584"/>
            <a:ext cx="2496312" cy="329184"/>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Secondary gold</a:t>
            </a:r>
            <a:endParaRPr lang="en-US" sz="1300" dirty="0"/>
          </a:p>
        </p:txBody>
      </p:sp>
      <p:sp>
        <p:nvSpPr>
          <p:cNvPr id="37" name="Shape 35"/>
          <p:cNvSpPr/>
          <p:nvPr/>
        </p:nvSpPr>
        <p:spPr>
          <a:xfrm>
            <a:off x="3383280" y="2743200"/>
            <a:ext cx="2788920" cy="1280160"/>
          </a:xfrm>
          <a:prstGeom prst="roundRect">
            <a:avLst>
              <a:gd name="adj" fmla="val 5714"/>
            </a:avLst>
          </a:prstGeom>
          <a:solidFill>
            <a:srgbClr val="FFFFFF"/>
          </a:solidFill>
          <a:ln w="12700">
            <a:solidFill>
              <a:srgbClr val="E2E8EE"/>
            </a:solidFill>
            <a:prstDash val="solid"/>
          </a:ln>
        </p:spPr>
      </p:sp>
      <p:sp>
        <p:nvSpPr>
          <p:cNvPr id="38" name="Shape 36"/>
          <p:cNvSpPr/>
          <p:nvPr/>
        </p:nvSpPr>
        <p:spPr>
          <a:xfrm>
            <a:off x="3529584" y="2907792"/>
            <a:ext cx="502920" cy="502920"/>
          </a:xfrm>
          <a:prstGeom prst="roundRect">
            <a:avLst>
              <a:gd name="adj" fmla="val 10909"/>
            </a:avLst>
          </a:prstGeom>
          <a:solidFill>
            <a:srgbClr val="A64936"/>
          </a:solidFill>
          <a:ln w="12700">
            <a:solidFill>
              <a:srgbClr val="C5D7F0"/>
            </a:solidFill>
            <a:prstDash val="solid"/>
          </a:ln>
        </p:spPr>
      </p:sp>
      <p:sp>
        <p:nvSpPr>
          <p:cNvPr id="39" name="Text 37"/>
          <p:cNvSpPr/>
          <p:nvPr/>
        </p:nvSpPr>
        <p:spPr>
          <a:xfrm>
            <a:off x="4151376" y="2889504"/>
            <a:ext cx="1874520" cy="274320"/>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Rust</a:t>
            </a:r>
            <a:endParaRPr lang="en-US" sz="1500" dirty="0"/>
          </a:p>
        </p:txBody>
      </p:sp>
      <p:sp>
        <p:nvSpPr>
          <p:cNvPr id="40" name="Text 38"/>
          <p:cNvSpPr/>
          <p:nvPr/>
        </p:nvSpPr>
        <p:spPr>
          <a:xfrm>
            <a:off x="4151376" y="3163824"/>
            <a:ext cx="1874520" cy="219456"/>
          </a:xfrm>
          <a:prstGeom prst="rect">
            <a:avLst/>
          </a:prstGeom>
          <a:noFill/>
          <a:ln/>
        </p:spPr>
        <p:txBody>
          <a:bodyPr wrap="square" lIns="0" tIns="0" rIns="0" bIns="0" rtlCol="0" anchor="ctr"/>
          <a:lstStyle/>
          <a:p>
            <a:pPr indent="0" marL="0">
              <a:buNone/>
            </a:pPr>
            <a:r>
              <a:rPr lang="en-US" sz="1200" dirty="0">
                <a:solidFill>
                  <a:srgbClr val="1A7070"/>
                </a:solidFill>
                <a:latin typeface="Consolas" pitchFamily="34" charset="0"/>
                <a:ea typeface="Consolas" pitchFamily="34" charset="-122"/>
                <a:cs typeface="Consolas" pitchFamily="34" charset="-120"/>
              </a:rPr>
              <a:t>#A64936</a:t>
            </a:r>
            <a:endParaRPr lang="en-US" sz="1200" dirty="0"/>
          </a:p>
        </p:txBody>
      </p:sp>
      <p:sp>
        <p:nvSpPr>
          <p:cNvPr id="41" name="Text 39"/>
          <p:cNvSpPr/>
          <p:nvPr/>
        </p:nvSpPr>
        <p:spPr>
          <a:xfrm>
            <a:off x="3529584" y="3529584"/>
            <a:ext cx="2496312" cy="329184"/>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Title band, caution</a:t>
            </a:r>
            <a:endParaRPr lang="en-US" sz="1300" dirty="0"/>
          </a:p>
        </p:txBody>
      </p:sp>
      <p:sp>
        <p:nvSpPr>
          <p:cNvPr id="42" name="Shape 40"/>
          <p:cNvSpPr/>
          <p:nvPr/>
        </p:nvSpPr>
        <p:spPr>
          <a:xfrm>
            <a:off x="6309360" y="2743200"/>
            <a:ext cx="2788920" cy="1280160"/>
          </a:xfrm>
          <a:prstGeom prst="roundRect">
            <a:avLst>
              <a:gd name="adj" fmla="val 5714"/>
            </a:avLst>
          </a:prstGeom>
          <a:solidFill>
            <a:srgbClr val="FFFFFF"/>
          </a:solidFill>
          <a:ln w="12700">
            <a:solidFill>
              <a:srgbClr val="E2E8EE"/>
            </a:solidFill>
            <a:prstDash val="solid"/>
          </a:ln>
        </p:spPr>
      </p:sp>
      <p:sp>
        <p:nvSpPr>
          <p:cNvPr id="43" name="Shape 41"/>
          <p:cNvSpPr/>
          <p:nvPr/>
        </p:nvSpPr>
        <p:spPr>
          <a:xfrm>
            <a:off x="6455664" y="2907792"/>
            <a:ext cx="502920" cy="502920"/>
          </a:xfrm>
          <a:prstGeom prst="roundRect">
            <a:avLst>
              <a:gd name="adj" fmla="val 10909"/>
            </a:avLst>
          </a:prstGeom>
          <a:solidFill>
            <a:srgbClr val="F6F6F5"/>
          </a:solidFill>
          <a:ln w="12700">
            <a:solidFill>
              <a:srgbClr val="C5D7F0"/>
            </a:solidFill>
            <a:prstDash val="solid"/>
          </a:ln>
        </p:spPr>
      </p:sp>
      <p:sp>
        <p:nvSpPr>
          <p:cNvPr id="44" name="Text 42"/>
          <p:cNvSpPr/>
          <p:nvPr/>
        </p:nvSpPr>
        <p:spPr>
          <a:xfrm>
            <a:off x="7077456" y="2889504"/>
            <a:ext cx="1874520" cy="274320"/>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Cream</a:t>
            </a:r>
            <a:endParaRPr lang="en-US" sz="1500" dirty="0"/>
          </a:p>
        </p:txBody>
      </p:sp>
      <p:sp>
        <p:nvSpPr>
          <p:cNvPr id="45" name="Text 43"/>
          <p:cNvSpPr/>
          <p:nvPr/>
        </p:nvSpPr>
        <p:spPr>
          <a:xfrm>
            <a:off x="7077456" y="3163824"/>
            <a:ext cx="1874520" cy="219456"/>
          </a:xfrm>
          <a:prstGeom prst="rect">
            <a:avLst/>
          </a:prstGeom>
          <a:noFill/>
          <a:ln/>
        </p:spPr>
        <p:txBody>
          <a:bodyPr wrap="square" lIns="0" tIns="0" rIns="0" bIns="0" rtlCol="0" anchor="ctr"/>
          <a:lstStyle/>
          <a:p>
            <a:pPr indent="0" marL="0">
              <a:buNone/>
            </a:pPr>
            <a:r>
              <a:rPr lang="en-US" sz="1200" dirty="0">
                <a:solidFill>
                  <a:srgbClr val="1A7070"/>
                </a:solidFill>
                <a:latin typeface="Consolas" pitchFamily="34" charset="0"/>
                <a:ea typeface="Consolas" pitchFamily="34" charset="-122"/>
                <a:cs typeface="Consolas" pitchFamily="34" charset="-120"/>
              </a:rPr>
              <a:t>#F6F6F5</a:t>
            </a:r>
            <a:endParaRPr lang="en-US" sz="1200" dirty="0"/>
          </a:p>
        </p:txBody>
      </p:sp>
      <p:sp>
        <p:nvSpPr>
          <p:cNvPr id="46" name="Text 44"/>
          <p:cNvSpPr/>
          <p:nvPr/>
        </p:nvSpPr>
        <p:spPr>
          <a:xfrm>
            <a:off x="6455664" y="3529584"/>
            <a:ext cx="2496312" cy="329184"/>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Content field</a:t>
            </a:r>
            <a:endParaRPr lang="en-US" sz="1300" dirty="0"/>
          </a:p>
        </p:txBody>
      </p:sp>
      <p:sp>
        <p:nvSpPr>
          <p:cNvPr id="47" name="Shape 45"/>
          <p:cNvSpPr/>
          <p:nvPr/>
        </p:nvSpPr>
        <p:spPr>
          <a:xfrm>
            <a:off x="9235440" y="2743200"/>
            <a:ext cx="2788920" cy="1280160"/>
          </a:xfrm>
          <a:prstGeom prst="roundRect">
            <a:avLst>
              <a:gd name="adj" fmla="val 5714"/>
            </a:avLst>
          </a:prstGeom>
          <a:solidFill>
            <a:srgbClr val="FFFFFF"/>
          </a:solidFill>
          <a:ln w="12700">
            <a:solidFill>
              <a:srgbClr val="E2E8EE"/>
            </a:solidFill>
            <a:prstDash val="solid"/>
          </a:ln>
        </p:spPr>
      </p:sp>
      <p:sp>
        <p:nvSpPr>
          <p:cNvPr id="48" name="Shape 46"/>
          <p:cNvSpPr/>
          <p:nvPr/>
        </p:nvSpPr>
        <p:spPr>
          <a:xfrm>
            <a:off x="9381744" y="2907792"/>
            <a:ext cx="502920" cy="502920"/>
          </a:xfrm>
          <a:prstGeom prst="roundRect">
            <a:avLst>
              <a:gd name="adj" fmla="val 10909"/>
            </a:avLst>
          </a:prstGeom>
          <a:solidFill>
            <a:srgbClr val="2A2A2A"/>
          </a:solidFill>
          <a:ln w="12700">
            <a:solidFill>
              <a:srgbClr val="C5D7F0"/>
            </a:solidFill>
            <a:prstDash val="solid"/>
          </a:ln>
        </p:spPr>
      </p:sp>
      <p:sp>
        <p:nvSpPr>
          <p:cNvPr id="49" name="Text 47"/>
          <p:cNvSpPr/>
          <p:nvPr/>
        </p:nvSpPr>
        <p:spPr>
          <a:xfrm>
            <a:off x="10003536" y="2889504"/>
            <a:ext cx="1874520" cy="274320"/>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Ink</a:t>
            </a:r>
            <a:endParaRPr lang="en-US" sz="1500" dirty="0"/>
          </a:p>
        </p:txBody>
      </p:sp>
      <p:sp>
        <p:nvSpPr>
          <p:cNvPr id="50" name="Text 48"/>
          <p:cNvSpPr/>
          <p:nvPr/>
        </p:nvSpPr>
        <p:spPr>
          <a:xfrm>
            <a:off x="10003536" y="3163824"/>
            <a:ext cx="1874520" cy="219456"/>
          </a:xfrm>
          <a:prstGeom prst="rect">
            <a:avLst/>
          </a:prstGeom>
          <a:noFill/>
          <a:ln/>
        </p:spPr>
        <p:txBody>
          <a:bodyPr wrap="square" lIns="0" tIns="0" rIns="0" bIns="0" rtlCol="0" anchor="ctr"/>
          <a:lstStyle/>
          <a:p>
            <a:pPr indent="0" marL="0">
              <a:buNone/>
            </a:pPr>
            <a:r>
              <a:rPr lang="en-US" sz="1200" dirty="0">
                <a:solidFill>
                  <a:srgbClr val="1A7070"/>
                </a:solidFill>
                <a:latin typeface="Consolas" pitchFamily="34" charset="0"/>
                <a:ea typeface="Consolas" pitchFamily="34" charset="-122"/>
                <a:cs typeface="Consolas" pitchFamily="34" charset="-120"/>
              </a:rPr>
              <a:t>#2A2A2A</a:t>
            </a:r>
            <a:endParaRPr lang="en-US" sz="1200" dirty="0"/>
          </a:p>
        </p:txBody>
      </p:sp>
      <p:sp>
        <p:nvSpPr>
          <p:cNvPr id="51" name="Text 49"/>
          <p:cNvSpPr/>
          <p:nvPr/>
        </p:nvSpPr>
        <p:spPr>
          <a:xfrm>
            <a:off x="9381744" y="3529584"/>
            <a:ext cx="2496312" cy="329184"/>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Body copy</a:t>
            </a:r>
            <a:endParaRPr lang="en-US" sz="1300" dirty="0"/>
          </a:p>
        </p:txBody>
      </p:sp>
      <p:sp>
        <p:nvSpPr>
          <p:cNvPr id="52" name="Shape 50"/>
          <p:cNvSpPr/>
          <p:nvPr/>
        </p:nvSpPr>
        <p:spPr>
          <a:xfrm>
            <a:off x="457200" y="4297680"/>
            <a:ext cx="11247120" cy="1965960"/>
          </a:xfrm>
          <a:prstGeom prst="roundRect">
            <a:avLst>
              <a:gd name="adj" fmla="val 3721"/>
            </a:avLst>
          </a:prstGeom>
          <a:solidFill>
            <a:srgbClr val="FFFFFF"/>
          </a:solidFill>
          <a:ln w="12700">
            <a:solidFill>
              <a:srgbClr val="E2E8EE"/>
            </a:solidFill>
            <a:prstDash val="solid"/>
          </a:ln>
        </p:spPr>
      </p:sp>
      <p:sp>
        <p:nvSpPr>
          <p:cNvPr id="53" name="Text 51"/>
          <p:cNvSpPr/>
          <p:nvPr/>
        </p:nvSpPr>
        <p:spPr>
          <a:xfrm>
            <a:off x="685800" y="4434840"/>
            <a:ext cx="10789920" cy="292608"/>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Type and chrome</a:t>
            </a:r>
            <a:endParaRPr lang="en-US" sz="1600" dirty="0"/>
          </a:p>
        </p:txBody>
      </p:sp>
      <p:sp>
        <p:nvSpPr>
          <p:cNvPr id="54" name="Text 52"/>
          <p:cNvSpPr/>
          <p:nvPr/>
        </p:nvSpPr>
        <p:spPr>
          <a:xfrm>
            <a:off x="685800" y="4773168"/>
            <a:ext cx="10789920" cy="1353312"/>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Fonts.  Calibri for all teaching text. Consolas for every code sample. Never mix in a third face.</a:t>
            </a:r>
            <a:endParaRPr lang="en-US" sz="1500" dirty="0"/>
          </a:p>
          <a:p>
            <a:pPr indent="0" marL="0">
              <a:buNone/>
            </a:pPr>
            <a:r>
              <a:rPr lang="en-US" sz="1500" dirty="0">
                <a:solidFill>
                  <a:srgbClr val="2A2A2A"/>
                </a:solidFill>
                <a:latin typeface="Calibri" pitchFamily="34" charset="0"/>
                <a:ea typeface="Calibri" pitchFamily="34" charset="-122"/>
                <a:cs typeface="Calibri" pitchFamily="34" charset="-120"/>
              </a:rPr>
              <a:t>Sizes.  Title slide 44 / 20. Content title 28. Body 15–18. Labels 13 bold. Footer 11. Code 14–16.</a:t>
            </a:r>
            <a:endParaRPr lang="en-US" sz="1500" dirty="0"/>
          </a:p>
          <a:p>
            <a:pPr indent="0" marL="0">
              <a:buNone/>
            </a:pPr>
            <a:r>
              <a:rPr lang="en-US" sz="1500" dirty="0">
                <a:solidFill>
                  <a:srgbClr val="2A2A2A"/>
                </a:solidFill>
                <a:latin typeface="Calibri" pitchFamily="34" charset="0"/>
                <a:ea typeface="Calibri" pitchFamily="34" charset="-122"/>
                <a:cs typeface="Calibri" pitchFamily="34" charset="-120"/>
              </a:rPr>
              <a:t>Chrome.  Header bar 0.52 in navy + 0.06 in gold. Footer bar starts at 7.08 in. Content lives between 0.72 and 7.00.</a:t>
            </a:r>
            <a:endParaRPr lang="en-US" sz="1500" dirty="0"/>
          </a:p>
          <a:p>
            <a:pPr indent="0" marL="0">
              <a:buNone/>
            </a:pPr>
            <a:r>
              <a:rPr lang="en-US" sz="1500" dirty="0">
                <a:solidFill>
                  <a:srgbClr val="2A2A2A"/>
                </a:solidFill>
                <a:latin typeface="Calibri" pitchFamily="34" charset="0"/>
                <a:ea typeface="Calibri" pitchFamily="34" charset="-122"/>
                <a:cs typeface="Calibri" pitchFamily="34" charset="-120"/>
              </a:rPr>
              <a:t>Cards.  White or paleNote on cream. Teal or gold left accent 0.12 in. Code sits on #E7F2FD. Scripture sits on ivory.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N  ·  Lesson Title</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4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In This Lesson</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53312"/>
            <a:ext cx="11247120" cy="841248"/>
          </a:xfrm>
          <a:prstGeom prst="roundRect">
            <a:avLst>
              <a:gd name="adj" fmla="val 8696"/>
            </a:avLst>
          </a:prstGeom>
          <a:solidFill>
            <a:srgbClr val="FFFFFF"/>
          </a:solidFill>
          <a:ln w="12700">
            <a:solidFill>
              <a:srgbClr val="E2E8EE"/>
            </a:solidFill>
            <a:prstDash val="solid"/>
          </a:ln>
        </p:spPr>
      </p:sp>
      <p:sp>
        <p:nvSpPr>
          <p:cNvPr id="13" name="Shape 11"/>
          <p:cNvSpPr/>
          <p:nvPr/>
        </p:nvSpPr>
        <p:spPr>
          <a:xfrm>
            <a:off x="621792" y="1536192"/>
            <a:ext cx="658368" cy="475488"/>
          </a:xfrm>
          <a:prstGeom prst="roundRect">
            <a:avLst>
              <a:gd name="adj" fmla="val 11538"/>
            </a:avLst>
          </a:prstGeom>
          <a:solidFill>
            <a:srgbClr val="1A7070"/>
          </a:solidFill>
          <a:ln w="12700">
            <a:solidFill>
              <a:srgbClr val="1A7070"/>
            </a:solidFill>
            <a:prstDash val="solid"/>
          </a:ln>
        </p:spPr>
      </p:sp>
      <p:sp>
        <p:nvSpPr>
          <p:cNvPr id="14" name="Text 12"/>
          <p:cNvSpPr/>
          <p:nvPr/>
        </p:nvSpPr>
        <p:spPr>
          <a:xfrm>
            <a:off x="621792" y="1536192"/>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5" name="Text 13"/>
          <p:cNvSpPr/>
          <p:nvPr/>
        </p:nvSpPr>
        <p:spPr>
          <a:xfrm>
            <a:off x="1463040" y="1517904"/>
            <a:ext cx="9966960" cy="512064"/>
          </a:xfrm>
          <a:prstGeom prst="rect">
            <a:avLst/>
          </a:prstGeom>
          <a:noFill/>
          <a:ln/>
        </p:spPr>
        <p:txBody>
          <a:bodyPr wrap="square" lIns="0" tIns="0" rIns="0" bIns="0" rtlCol="0" anchor="ctr"/>
          <a:lstStyle/>
          <a:p>
            <a:pPr indent="0" marL="0">
              <a:buNone/>
            </a:pPr>
            <a:r>
              <a:rPr lang="en-US" sz="1800" dirty="0">
                <a:solidFill>
                  <a:srgbClr val="2A2A2A"/>
                </a:solidFill>
                <a:latin typeface="Calibri" pitchFamily="34" charset="0"/>
                <a:ea typeface="Calibri" pitchFamily="34" charset="-122"/>
                <a:cs typeface="Calibri" pitchFamily="34" charset="-120"/>
              </a:rPr>
              <a:t>Name the first skill the student should walk away with.</a:t>
            </a:r>
            <a:endParaRPr lang="en-US" sz="1800" dirty="0"/>
          </a:p>
        </p:txBody>
      </p:sp>
      <p:sp>
        <p:nvSpPr>
          <p:cNvPr id="16" name="Shape 14"/>
          <p:cNvSpPr/>
          <p:nvPr/>
        </p:nvSpPr>
        <p:spPr>
          <a:xfrm>
            <a:off x="457200" y="2304288"/>
            <a:ext cx="11247120" cy="841248"/>
          </a:xfrm>
          <a:prstGeom prst="roundRect">
            <a:avLst>
              <a:gd name="adj" fmla="val 8696"/>
            </a:avLst>
          </a:prstGeom>
          <a:solidFill>
            <a:srgbClr val="F0F7FF"/>
          </a:solidFill>
          <a:ln w="12700">
            <a:solidFill>
              <a:srgbClr val="E2E8EE"/>
            </a:solidFill>
            <a:prstDash val="solid"/>
          </a:ln>
        </p:spPr>
      </p:sp>
      <p:sp>
        <p:nvSpPr>
          <p:cNvPr id="17" name="Shape 15"/>
          <p:cNvSpPr/>
          <p:nvPr/>
        </p:nvSpPr>
        <p:spPr>
          <a:xfrm>
            <a:off x="621792" y="2487168"/>
            <a:ext cx="658368" cy="475488"/>
          </a:xfrm>
          <a:prstGeom prst="roundRect">
            <a:avLst>
              <a:gd name="adj" fmla="val 11538"/>
            </a:avLst>
          </a:prstGeom>
          <a:solidFill>
            <a:srgbClr val="1A7070"/>
          </a:solidFill>
          <a:ln w="12700">
            <a:solidFill>
              <a:srgbClr val="1A7070"/>
            </a:solidFill>
            <a:prstDash val="solid"/>
          </a:ln>
        </p:spPr>
      </p:sp>
      <p:sp>
        <p:nvSpPr>
          <p:cNvPr id="18" name="Text 16"/>
          <p:cNvSpPr/>
          <p:nvPr/>
        </p:nvSpPr>
        <p:spPr>
          <a:xfrm>
            <a:off x="621792" y="2487168"/>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9" name="Text 17"/>
          <p:cNvSpPr/>
          <p:nvPr/>
        </p:nvSpPr>
        <p:spPr>
          <a:xfrm>
            <a:off x="1463040" y="2468880"/>
            <a:ext cx="9966960" cy="512064"/>
          </a:xfrm>
          <a:prstGeom prst="rect">
            <a:avLst/>
          </a:prstGeom>
          <a:noFill/>
          <a:ln/>
        </p:spPr>
        <p:txBody>
          <a:bodyPr wrap="square" lIns="0" tIns="0" rIns="0" bIns="0" rtlCol="0" anchor="ctr"/>
          <a:lstStyle/>
          <a:p>
            <a:pPr indent="0" marL="0">
              <a:buNone/>
            </a:pPr>
            <a:r>
              <a:rPr lang="en-US" sz="1800" dirty="0">
                <a:solidFill>
                  <a:srgbClr val="2A2A2A"/>
                </a:solidFill>
                <a:latin typeface="Calibri" pitchFamily="34" charset="0"/>
                <a:ea typeface="Calibri" pitchFamily="34" charset="-122"/>
                <a:cs typeface="Calibri" pitchFamily="34" charset="-120"/>
              </a:rPr>
              <a:t>Name the second skill. Keep each objective one sentence and observable.</a:t>
            </a:r>
            <a:endParaRPr lang="en-US" sz="1800" dirty="0"/>
          </a:p>
        </p:txBody>
      </p:sp>
      <p:sp>
        <p:nvSpPr>
          <p:cNvPr id="20" name="Shape 18"/>
          <p:cNvSpPr/>
          <p:nvPr/>
        </p:nvSpPr>
        <p:spPr>
          <a:xfrm>
            <a:off x="457200" y="3255264"/>
            <a:ext cx="11247120" cy="841248"/>
          </a:xfrm>
          <a:prstGeom prst="roundRect">
            <a:avLst>
              <a:gd name="adj" fmla="val 8696"/>
            </a:avLst>
          </a:prstGeom>
          <a:solidFill>
            <a:srgbClr val="FFFFFF"/>
          </a:solidFill>
          <a:ln w="12700">
            <a:solidFill>
              <a:srgbClr val="E2E8EE"/>
            </a:solidFill>
            <a:prstDash val="solid"/>
          </a:ln>
        </p:spPr>
      </p:sp>
      <p:sp>
        <p:nvSpPr>
          <p:cNvPr id="21" name="Shape 19"/>
          <p:cNvSpPr/>
          <p:nvPr/>
        </p:nvSpPr>
        <p:spPr>
          <a:xfrm>
            <a:off x="621792" y="3438144"/>
            <a:ext cx="658368" cy="475488"/>
          </a:xfrm>
          <a:prstGeom prst="roundRect">
            <a:avLst>
              <a:gd name="adj" fmla="val 11538"/>
            </a:avLst>
          </a:prstGeom>
          <a:solidFill>
            <a:srgbClr val="1A7070"/>
          </a:solidFill>
          <a:ln w="12700">
            <a:solidFill>
              <a:srgbClr val="1A7070"/>
            </a:solidFill>
            <a:prstDash val="solid"/>
          </a:ln>
        </p:spPr>
      </p:sp>
      <p:sp>
        <p:nvSpPr>
          <p:cNvPr id="22" name="Text 20"/>
          <p:cNvSpPr/>
          <p:nvPr/>
        </p:nvSpPr>
        <p:spPr>
          <a:xfrm>
            <a:off x="621792" y="3438144"/>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3" name="Text 21"/>
          <p:cNvSpPr/>
          <p:nvPr/>
        </p:nvSpPr>
        <p:spPr>
          <a:xfrm>
            <a:off x="1463040" y="3419856"/>
            <a:ext cx="9966960" cy="512064"/>
          </a:xfrm>
          <a:prstGeom prst="rect">
            <a:avLst/>
          </a:prstGeom>
          <a:noFill/>
          <a:ln/>
        </p:spPr>
        <p:txBody>
          <a:bodyPr wrap="square" lIns="0" tIns="0" rIns="0" bIns="0" rtlCol="0" anchor="ctr"/>
          <a:lstStyle/>
          <a:p>
            <a:pPr indent="0" marL="0">
              <a:buNone/>
            </a:pPr>
            <a:r>
              <a:rPr lang="en-US" sz="1800" dirty="0">
                <a:solidFill>
                  <a:srgbClr val="2A2A2A"/>
                </a:solidFill>
                <a:latin typeface="Calibri" pitchFamily="34" charset="0"/>
                <a:ea typeface="Calibri" pitchFamily="34" charset="-122"/>
                <a:cs typeface="Calibri" pitchFamily="34" charset="-120"/>
              </a:rPr>
              <a:t>Name the third skill. Prefer verbs: name, trace, write, distinguish, repair.</a:t>
            </a:r>
            <a:endParaRPr lang="en-US" sz="1800" dirty="0"/>
          </a:p>
        </p:txBody>
      </p:sp>
      <p:sp>
        <p:nvSpPr>
          <p:cNvPr id="24" name="Shape 22"/>
          <p:cNvSpPr/>
          <p:nvPr/>
        </p:nvSpPr>
        <p:spPr>
          <a:xfrm>
            <a:off x="457200" y="4206240"/>
            <a:ext cx="11247120" cy="841248"/>
          </a:xfrm>
          <a:prstGeom prst="roundRect">
            <a:avLst>
              <a:gd name="adj" fmla="val 8696"/>
            </a:avLst>
          </a:prstGeom>
          <a:solidFill>
            <a:srgbClr val="F0F7FF"/>
          </a:solidFill>
          <a:ln w="12700">
            <a:solidFill>
              <a:srgbClr val="E2E8EE"/>
            </a:solidFill>
            <a:prstDash val="solid"/>
          </a:ln>
        </p:spPr>
      </p:sp>
      <p:sp>
        <p:nvSpPr>
          <p:cNvPr id="25" name="Shape 23"/>
          <p:cNvSpPr/>
          <p:nvPr/>
        </p:nvSpPr>
        <p:spPr>
          <a:xfrm>
            <a:off x="621792" y="4389120"/>
            <a:ext cx="658368" cy="475488"/>
          </a:xfrm>
          <a:prstGeom prst="roundRect">
            <a:avLst>
              <a:gd name="adj" fmla="val 11538"/>
            </a:avLst>
          </a:prstGeom>
          <a:solidFill>
            <a:srgbClr val="1A7070"/>
          </a:solidFill>
          <a:ln w="12700">
            <a:solidFill>
              <a:srgbClr val="1A7070"/>
            </a:solidFill>
            <a:prstDash val="solid"/>
          </a:ln>
        </p:spPr>
      </p:sp>
      <p:sp>
        <p:nvSpPr>
          <p:cNvPr id="26" name="Text 24"/>
          <p:cNvSpPr/>
          <p:nvPr/>
        </p:nvSpPr>
        <p:spPr>
          <a:xfrm>
            <a:off x="621792" y="4389120"/>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7" name="Text 25"/>
          <p:cNvSpPr/>
          <p:nvPr/>
        </p:nvSpPr>
        <p:spPr>
          <a:xfrm>
            <a:off x="1463040" y="4370832"/>
            <a:ext cx="9966960" cy="512064"/>
          </a:xfrm>
          <a:prstGeom prst="rect">
            <a:avLst/>
          </a:prstGeom>
          <a:noFill/>
          <a:ln/>
        </p:spPr>
        <p:txBody>
          <a:bodyPr wrap="square" lIns="0" tIns="0" rIns="0" bIns="0" rtlCol="0" anchor="ctr"/>
          <a:lstStyle/>
          <a:p>
            <a:pPr indent="0" marL="0">
              <a:buNone/>
            </a:pPr>
            <a:r>
              <a:rPr lang="en-US" sz="1800" dirty="0">
                <a:solidFill>
                  <a:srgbClr val="2A2A2A"/>
                </a:solidFill>
                <a:latin typeface="Calibri" pitchFamily="34" charset="0"/>
                <a:ea typeface="Calibri" pitchFamily="34" charset="-122"/>
                <a:cs typeface="Calibri" pitchFamily="34" charset="-120"/>
              </a:rPr>
              <a:t>Name the fourth skill. Aim for four or five objectives, not a paragraph.</a:t>
            </a:r>
            <a:endParaRPr lang="en-US" sz="1800" dirty="0"/>
          </a:p>
        </p:txBody>
      </p:sp>
      <p:sp>
        <p:nvSpPr>
          <p:cNvPr id="28" name="Shape 26"/>
          <p:cNvSpPr/>
          <p:nvPr/>
        </p:nvSpPr>
        <p:spPr>
          <a:xfrm>
            <a:off x="457200" y="5157216"/>
            <a:ext cx="11247120" cy="841248"/>
          </a:xfrm>
          <a:prstGeom prst="roundRect">
            <a:avLst>
              <a:gd name="adj" fmla="val 8696"/>
            </a:avLst>
          </a:prstGeom>
          <a:solidFill>
            <a:srgbClr val="FFFFFF"/>
          </a:solidFill>
          <a:ln w="12700">
            <a:solidFill>
              <a:srgbClr val="E2E8EE"/>
            </a:solidFill>
            <a:prstDash val="solid"/>
          </a:ln>
        </p:spPr>
      </p:sp>
      <p:sp>
        <p:nvSpPr>
          <p:cNvPr id="29" name="Shape 27"/>
          <p:cNvSpPr/>
          <p:nvPr/>
        </p:nvSpPr>
        <p:spPr>
          <a:xfrm>
            <a:off x="621792" y="5340096"/>
            <a:ext cx="658368" cy="475488"/>
          </a:xfrm>
          <a:prstGeom prst="roundRect">
            <a:avLst>
              <a:gd name="adj" fmla="val 11538"/>
            </a:avLst>
          </a:prstGeom>
          <a:solidFill>
            <a:srgbClr val="1A7070"/>
          </a:solidFill>
          <a:ln w="12700">
            <a:solidFill>
              <a:srgbClr val="1A7070"/>
            </a:solidFill>
            <a:prstDash val="solid"/>
          </a:ln>
        </p:spPr>
      </p:sp>
      <p:sp>
        <p:nvSpPr>
          <p:cNvPr id="30" name="Text 28"/>
          <p:cNvSpPr/>
          <p:nvPr/>
        </p:nvSpPr>
        <p:spPr>
          <a:xfrm>
            <a:off x="621792" y="5340096"/>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31" name="Text 29"/>
          <p:cNvSpPr/>
          <p:nvPr/>
        </p:nvSpPr>
        <p:spPr>
          <a:xfrm>
            <a:off x="1463040" y="5321808"/>
            <a:ext cx="9966960" cy="512064"/>
          </a:xfrm>
          <a:prstGeom prst="rect">
            <a:avLst/>
          </a:prstGeom>
          <a:noFill/>
          <a:ln/>
        </p:spPr>
        <p:txBody>
          <a:bodyPr wrap="square" lIns="0" tIns="0" rIns="0" bIns="0" rtlCol="0" anchor="ctr"/>
          <a:lstStyle/>
          <a:p>
            <a:pPr indent="0" marL="0">
              <a:buNone/>
            </a:pPr>
            <a:r>
              <a:rPr lang="en-US" sz="1800" dirty="0">
                <a:solidFill>
                  <a:srgbClr val="2A2A2A"/>
                </a:solidFill>
                <a:latin typeface="Calibri" pitchFamily="34" charset="0"/>
                <a:ea typeface="Calibri" pitchFamily="34" charset="-122"/>
                <a:cs typeface="Calibri" pitchFamily="34" charset="-120"/>
              </a:rPr>
              <a:t>Name the fifth skill, or delete this row if the lesson only needs four.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N  ·  Lesson Title</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5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The Big Idea</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53312"/>
            <a:ext cx="11247120" cy="1325880"/>
          </a:xfrm>
          <a:prstGeom prst="roundRect">
            <a:avLst>
              <a:gd name="adj" fmla="val 5517"/>
            </a:avLst>
          </a:prstGeom>
          <a:solidFill>
            <a:srgbClr val="FFFFFF"/>
          </a:solidFill>
          <a:ln w="12700">
            <a:solidFill>
              <a:srgbClr val="E2E8EE"/>
            </a:solidFill>
            <a:prstDash val="solid"/>
          </a:ln>
        </p:spPr>
      </p:sp>
      <p:sp>
        <p:nvSpPr>
          <p:cNvPr id="13" name="Text 11"/>
          <p:cNvSpPr/>
          <p:nvPr/>
        </p:nvSpPr>
        <p:spPr>
          <a:xfrm>
            <a:off x="685800" y="1536192"/>
            <a:ext cx="10789920" cy="960120"/>
          </a:xfrm>
          <a:prstGeom prst="rect">
            <a:avLst/>
          </a:prstGeom>
          <a:noFill/>
          <a:ln/>
        </p:spPr>
        <p:txBody>
          <a:bodyPr wrap="square" lIns="0" tIns="0" rIns="0" bIns="0" rtlCol="0" anchor="ctr"/>
          <a:lstStyle/>
          <a:p>
            <a:pPr indent="0" marL="0">
              <a:buNone/>
            </a:pPr>
            <a:r>
              <a:rPr lang="en-US" sz="2000" dirty="0">
                <a:solidFill>
                  <a:srgbClr val="0D3358"/>
                </a:solidFill>
                <a:latin typeface="Calibri" pitchFamily="34" charset="0"/>
                <a:ea typeface="Calibri" pitchFamily="34" charset="-122"/>
                <a:cs typeface="Calibri" pitchFamily="34" charset="-120"/>
              </a:rPr>
              <a:t>Write the definition or core claim in one or two sentences. This card is the thing the student should be able to say out loud.</a:t>
            </a:r>
            <a:endParaRPr lang="en-US" sz="2000" dirty="0"/>
          </a:p>
        </p:txBody>
      </p:sp>
      <p:sp>
        <p:nvSpPr>
          <p:cNvPr id="14" name="Shape 12"/>
          <p:cNvSpPr/>
          <p:nvPr/>
        </p:nvSpPr>
        <p:spPr>
          <a:xfrm>
            <a:off x="457200" y="2880360"/>
            <a:ext cx="3675888" cy="3337560"/>
          </a:xfrm>
          <a:prstGeom prst="roundRect">
            <a:avLst>
              <a:gd name="adj" fmla="val 2192"/>
            </a:avLst>
          </a:prstGeom>
          <a:solidFill>
            <a:srgbClr val="FFFFFF"/>
          </a:solidFill>
          <a:ln w="12700">
            <a:solidFill>
              <a:srgbClr val="E2E8EE"/>
            </a:solidFill>
            <a:prstDash val="solid"/>
          </a:ln>
        </p:spPr>
      </p:sp>
      <p:sp>
        <p:nvSpPr>
          <p:cNvPr id="15" name="Shape 13"/>
          <p:cNvSpPr/>
          <p:nvPr/>
        </p:nvSpPr>
        <p:spPr>
          <a:xfrm>
            <a:off x="457200" y="2880360"/>
            <a:ext cx="109728" cy="3337560"/>
          </a:xfrm>
          <a:prstGeom prst="rect">
            <a:avLst/>
          </a:prstGeom>
          <a:solidFill>
            <a:srgbClr val="1A7070"/>
          </a:solidFill>
          <a:ln w="12700">
            <a:solidFill>
              <a:srgbClr val="1A7070"/>
            </a:solidFill>
            <a:prstDash val="solid"/>
          </a:ln>
        </p:spPr>
      </p:sp>
      <p:sp>
        <p:nvSpPr>
          <p:cNvPr id="16" name="Text 14"/>
          <p:cNvSpPr/>
          <p:nvPr/>
        </p:nvSpPr>
        <p:spPr>
          <a:xfrm>
            <a:off x="713232" y="3035808"/>
            <a:ext cx="3246120" cy="292608"/>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LABEL ONE</a:t>
            </a:r>
            <a:endParaRPr lang="en-US" sz="1300" dirty="0"/>
          </a:p>
        </p:txBody>
      </p:sp>
      <p:sp>
        <p:nvSpPr>
          <p:cNvPr id="17" name="Text 15"/>
          <p:cNvSpPr/>
          <p:nvPr/>
        </p:nvSpPr>
        <p:spPr>
          <a:xfrm>
            <a:off x="713232" y="3364992"/>
            <a:ext cx="3246120" cy="64008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Short supporting claim.</a:t>
            </a:r>
            <a:endParaRPr lang="en-US" sz="1800" dirty="0"/>
          </a:p>
        </p:txBody>
      </p:sp>
      <p:sp>
        <p:nvSpPr>
          <p:cNvPr id="18" name="Text 16"/>
          <p:cNvSpPr/>
          <p:nvPr/>
        </p:nvSpPr>
        <p:spPr>
          <a:xfrm>
            <a:off x="713232" y="4069080"/>
            <a:ext cx="3246120" cy="192024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One or two sentences that unpack the claim. Stay concrete. Use the language the student already has.</a:t>
            </a:r>
            <a:endParaRPr lang="en-US" sz="1500" dirty="0"/>
          </a:p>
        </p:txBody>
      </p:sp>
      <p:sp>
        <p:nvSpPr>
          <p:cNvPr id="19" name="Shape 17"/>
          <p:cNvSpPr/>
          <p:nvPr/>
        </p:nvSpPr>
        <p:spPr>
          <a:xfrm>
            <a:off x="4297680" y="2880360"/>
            <a:ext cx="3675888" cy="3337560"/>
          </a:xfrm>
          <a:prstGeom prst="roundRect">
            <a:avLst>
              <a:gd name="adj" fmla="val 2192"/>
            </a:avLst>
          </a:prstGeom>
          <a:solidFill>
            <a:srgbClr val="FFFFFF"/>
          </a:solidFill>
          <a:ln w="12700">
            <a:solidFill>
              <a:srgbClr val="E2E8EE"/>
            </a:solidFill>
            <a:prstDash val="solid"/>
          </a:ln>
        </p:spPr>
      </p:sp>
      <p:sp>
        <p:nvSpPr>
          <p:cNvPr id="20" name="Shape 18"/>
          <p:cNvSpPr/>
          <p:nvPr/>
        </p:nvSpPr>
        <p:spPr>
          <a:xfrm>
            <a:off x="4297680" y="2880360"/>
            <a:ext cx="109728" cy="3337560"/>
          </a:xfrm>
          <a:prstGeom prst="rect">
            <a:avLst/>
          </a:prstGeom>
          <a:solidFill>
            <a:srgbClr val="1A7070"/>
          </a:solidFill>
          <a:ln w="12700">
            <a:solidFill>
              <a:srgbClr val="1A7070"/>
            </a:solidFill>
            <a:prstDash val="solid"/>
          </a:ln>
        </p:spPr>
      </p:sp>
      <p:sp>
        <p:nvSpPr>
          <p:cNvPr id="21" name="Text 19"/>
          <p:cNvSpPr/>
          <p:nvPr/>
        </p:nvSpPr>
        <p:spPr>
          <a:xfrm>
            <a:off x="4553712" y="3035808"/>
            <a:ext cx="3246120" cy="292608"/>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LABEL TWO</a:t>
            </a:r>
            <a:endParaRPr lang="en-US" sz="1300" dirty="0"/>
          </a:p>
        </p:txBody>
      </p:sp>
      <p:sp>
        <p:nvSpPr>
          <p:cNvPr id="22" name="Text 20"/>
          <p:cNvSpPr/>
          <p:nvPr/>
        </p:nvSpPr>
        <p:spPr>
          <a:xfrm>
            <a:off x="4553712" y="3364992"/>
            <a:ext cx="3246120" cy="64008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Short supporting claim.</a:t>
            </a:r>
            <a:endParaRPr lang="en-US" sz="1800" dirty="0"/>
          </a:p>
        </p:txBody>
      </p:sp>
      <p:sp>
        <p:nvSpPr>
          <p:cNvPr id="23" name="Text 21"/>
          <p:cNvSpPr/>
          <p:nvPr/>
        </p:nvSpPr>
        <p:spPr>
          <a:xfrm>
            <a:off x="4553712" y="4069080"/>
            <a:ext cx="3246120" cy="192024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A second angle on the same idea. Avoid introducing a new major topic on this slide.</a:t>
            </a:r>
            <a:endParaRPr lang="en-US" sz="1500" dirty="0"/>
          </a:p>
        </p:txBody>
      </p:sp>
      <p:sp>
        <p:nvSpPr>
          <p:cNvPr id="24" name="Shape 22"/>
          <p:cNvSpPr/>
          <p:nvPr/>
        </p:nvSpPr>
        <p:spPr>
          <a:xfrm>
            <a:off x="8138160" y="2880360"/>
            <a:ext cx="3675888" cy="3337560"/>
          </a:xfrm>
          <a:prstGeom prst="roundRect">
            <a:avLst>
              <a:gd name="adj" fmla="val 2192"/>
            </a:avLst>
          </a:prstGeom>
          <a:solidFill>
            <a:srgbClr val="FFFFFF"/>
          </a:solidFill>
          <a:ln w="12700">
            <a:solidFill>
              <a:srgbClr val="E2E8EE"/>
            </a:solidFill>
            <a:prstDash val="solid"/>
          </a:ln>
        </p:spPr>
      </p:sp>
      <p:sp>
        <p:nvSpPr>
          <p:cNvPr id="25" name="Shape 23"/>
          <p:cNvSpPr/>
          <p:nvPr/>
        </p:nvSpPr>
        <p:spPr>
          <a:xfrm>
            <a:off x="8138160" y="2880360"/>
            <a:ext cx="109728" cy="3337560"/>
          </a:xfrm>
          <a:prstGeom prst="rect">
            <a:avLst/>
          </a:prstGeom>
          <a:solidFill>
            <a:srgbClr val="1A7070"/>
          </a:solidFill>
          <a:ln w="12700">
            <a:solidFill>
              <a:srgbClr val="1A7070"/>
            </a:solidFill>
            <a:prstDash val="solid"/>
          </a:ln>
        </p:spPr>
      </p:sp>
      <p:sp>
        <p:nvSpPr>
          <p:cNvPr id="26" name="Text 24"/>
          <p:cNvSpPr/>
          <p:nvPr/>
        </p:nvSpPr>
        <p:spPr>
          <a:xfrm>
            <a:off x="8394192" y="3035808"/>
            <a:ext cx="3246120" cy="292608"/>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LABEL THREE</a:t>
            </a:r>
            <a:endParaRPr lang="en-US" sz="1300" dirty="0"/>
          </a:p>
        </p:txBody>
      </p:sp>
      <p:sp>
        <p:nvSpPr>
          <p:cNvPr id="27" name="Text 25"/>
          <p:cNvSpPr/>
          <p:nvPr/>
        </p:nvSpPr>
        <p:spPr>
          <a:xfrm>
            <a:off x="8394192" y="3364992"/>
            <a:ext cx="3246120" cy="64008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Short supporting claim.</a:t>
            </a:r>
            <a:endParaRPr lang="en-US" sz="1800" dirty="0"/>
          </a:p>
        </p:txBody>
      </p:sp>
      <p:sp>
        <p:nvSpPr>
          <p:cNvPr id="28" name="Text 26"/>
          <p:cNvSpPr/>
          <p:nvPr/>
        </p:nvSpPr>
        <p:spPr>
          <a:xfrm>
            <a:off x="8394192" y="4069080"/>
            <a:ext cx="3246120" cy="192024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A third angle, a contrast, or a classroom check: what the student should notice when the idea is missing.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N  ·  Lesson Title</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6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Vocabulary</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71600"/>
            <a:ext cx="3675888" cy="4846320"/>
          </a:xfrm>
          <a:prstGeom prst="roundRect">
            <a:avLst>
              <a:gd name="adj" fmla="val 1990"/>
            </a:avLst>
          </a:prstGeom>
          <a:solidFill>
            <a:srgbClr val="FFFFFF"/>
          </a:solidFill>
          <a:ln w="12700">
            <a:solidFill>
              <a:srgbClr val="E2E8EE"/>
            </a:solidFill>
            <a:prstDash val="solid"/>
          </a:ln>
        </p:spPr>
      </p:sp>
      <p:sp>
        <p:nvSpPr>
          <p:cNvPr id="13" name="Shape 11"/>
          <p:cNvSpPr/>
          <p:nvPr/>
        </p:nvSpPr>
        <p:spPr>
          <a:xfrm>
            <a:off x="457200" y="1371600"/>
            <a:ext cx="3675888" cy="109728"/>
          </a:xfrm>
          <a:prstGeom prst="rect">
            <a:avLst/>
          </a:prstGeom>
          <a:solidFill>
            <a:srgbClr val="1A7070"/>
          </a:solidFill>
          <a:ln w="12700">
            <a:solidFill>
              <a:srgbClr val="1A7070"/>
            </a:solidFill>
            <a:prstDash val="solid"/>
          </a:ln>
        </p:spPr>
      </p:sp>
      <p:sp>
        <p:nvSpPr>
          <p:cNvPr id="14" name="Text 12"/>
          <p:cNvSpPr/>
          <p:nvPr/>
        </p:nvSpPr>
        <p:spPr>
          <a:xfrm>
            <a:off x="658368" y="1664208"/>
            <a:ext cx="3273552" cy="64008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TERM ONE</a:t>
            </a:r>
            <a:endParaRPr lang="en-US" sz="1800" dirty="0"/>
          </a:p>
        </p:txBody>
      </p:sp>
      <p:sp>
        <p:nvSpPr>
          <p:cNvPr id="15" name="Text 13"/>
          <p:cNvSpPr/>
          <p:nvPr/>
        </p:nvSpPr>
        <p:spPr>
          <a:xfrm>
            <a:off x="658368" y="2377440"/>
            <a:ext cx="3273552" cy="192024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One-sentence definition the student can copy into notes.</a:t>
            </a:r>
            <a:endParaRPr lang="en-US" sz="1600" dirty="0"/>
          </a:p>
        </p:txBody>
      </p:sp>
      <p:sp>
        <p:nvSpPr>
          <p:cNvPr id="16" name="Shape 14"/>
          <p:cNvSpPr/>
          <p:nvPr/>
        </p:nvSpPr>
        <p:spPr>
          <a:xfrm>
            <a:off x="658368" y="4617720"/>
            <a:ext cx="3273552" cy="1280160"/>
          </a:xfrm>
          <a:prstGeom prst="roundRect">
            <a:avLst>
              <a:gd name="adj" fmla="val 4286"/>
            </a:avLst>
          </a:prstGeom>
          <a:solidFill>
            <a:srgbClr val="E7F2FD"/>
          </a:solidFill>
          <a:ln w="12700">
            <a:solidFill>
              <a:srgbClr val="D3E4F6"/>
            </a:solidFill>
            <a:prstDash val="solid"/>
          </a:ln>
        </p:spPr>
      </p:sp>
      <p:sp>
        <p:nvSpPr>
          <p:cNvPr id="17" name="Text 15"/>
          <p:cNvSpPr/>
          <p:nvPr/>
        </p:nvSpPr>
        <p:spPr>
          <a:xfrm>
            <a:off x="804672" y="4754880"/>
            <a:ext cx="2980944" cy="1005840"/>
          </a:xfrm>
          <a:prstGeom prst="rect">
            <a:avLst/>
          </a:prstGeom>
          <a:noFill/>
          <a:ln/>
        </p:spPr>
        <p:txBody>
          <a:bodyPr wrap="square" lIns="0" tIns="0" rIns="0" bIns="0" rtlCol="0" anchor="ctr"/>
          <a:lstStyle/>
          <a:p>
            <a:pPr indent="0" marL="0">
              <a:buNone/>
            </a:pPr>
            <a:r>
              <a:rPr lang="en-US" sz="1400" dirty="0">
                <a:solidFill>
                  <a:srgbClr val="1A2B3C"/>
                </a:solidFill>
                <a:latin typeface="Consolas" pitchFamily="34" charset="0"/>
                <a:ea typeface="Consolas" pitchFamily="34" charset="-122"/>
                <a:cs typeface="Consolas" pitchFamily="34" charset="-120"/>
              </a:rPr>
              <a:t>short example or reminder</a:t>
            </a:r>
            <a:endParaRPr lang="en-US" sz="1400" dirty="0"/>
          </a:p>
        </p:txBody>
      </p:sp>
      <p:sp>
        <p:nvSpPr>
          <p:cNvPr id="18" name="Shape 16"/>
          <p:cNvSpPr/>
          <p:nvPr/>
        </p:nvSpPr>
        <p:spPr>
          <a:xfrm>
            <a:off x="4297680" y="1371600"/>
            <a:ext cx="3675888" cy="4846320"/>
          </a:xfrm>
          <a:prstGeom prst="roundRect">
            <a:avLst>
              <a:gd name="adj" fmla="val 1990"/>
            </a:avLst>
          </a:prstGeom>
          <a:solidFill>
            <a:srgbClr val="FFFFFF"/>
          </a:solidFill>
          <a:ln w="12700">
            <a:solidFill>
              <a:srgbClr val="E2E8EE"/>
            </a:solidFill>
            <a:prstDash val="solid"/>
          </a:ln>
        </p:spPr>
      </p:sp>
      <p:sp>
        <p:nvSpPr>
          <p:cNvPr id="19" name="Shape 17"/>
          <p:cNvSpPr/>
          <p:nvPr/>
        </p:nvSpPr>
        <p:spPr>
          <a:xfrm>
            <a:off x="4297680" y="1371600"/>
            <a:ext cx="3675888" cy="109728"/>
          </a:xfrm>
          <a:prstGeom prst="rect">
            <a:avLst/>
          </a:prstGeom>
          <a:solidFill>
            <a:srgbClr val="1A7070"/>
          </a:solidFill>
          <a:ln w="12700">
            <a:solidFill>
              <a:srgbClr val="1A7070"/>
            </a:solidFill>
            <a:prstDash val="solid"/>
          </a:ln>
        </p:spPr>
      </p:sp>
      <p:sp>
        <p:nvSpPr>
          <p:cNvPr id="20" name="Text 18"/>
          <p:cNvSpPr/>
          <p:nvPr/>
        </p:nvSpPr>
        <p:spPr>
          <a:xfrm>
            <a:off x="4498848" y="1664208"/>
            <a:ext cx="3273552" cy="64008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TERM TWO</a:t>
            </a:r>
            <a:endParaRPr lang="en-US" sz="1800" dirty="0"/>
          </a:p>
        </p:txBody>
      </p:sp>
      <p:sp>
        <p:nvSpPr>
          <p:cNvPr id="21" name="Text 19"/>
          <p:cNvSpPr/>
          <p:nvPr/>
        </p:nvSpPr>
        <p:spPr>
          <a:xfrm>
            <a:off x="4498848" y="2377440"/>
            <a:ext cx="3273552" cy="192024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One-sentence definition. Keep the word itself out of the definition when you can.</a:t>
            </a:r>
            <a:endParaRPr lang="en-US" sz="1600" dirty="0"/>
          </a:p>
        </p:txBody>
      </p:sp>
      <p:sp>
        <p:nvSpPr>
          <p:cNvPr id="22" name="Shape 20"/>
          <p:cNvSpPr/>
          <p:nvPr/>
        </p:nvSpPr>
        <p:spPr>
          <a:xfrm>
            <a:off x="4498848" y="4617720"/>
            <a:ext cx="3273552" cy="1280160"/>
          </a:xfrm>
          <a:prstGeom prst="roundRect">
            <a:avLst>
              <a:gd name="adj" fmla="val 4286"/>
            </a:avLst>
          </a:prstGeom>
          <a:solidFill>
            <a:srgbClr val="E7F2FD"/>
          </a:solidFill>
          <a:ln w="12700">
            <a:solidFill>
              <a:srgbClr val="D3E4F6"/>
            </a:solidFill>
            <a:prstDash val="solid"/>
          </a:ln>
        </p:spPr>
      </p:sp>
      <p:sp>
        <p:nvSpPr>
          <p:cNvPr id="23" name="Text 21"/>
          <p:cNvSpPr/>
          <p:nvPr/>
        </p:nvSpPr>
        <p:spPr>
          <a:xfrm>
            <a:off x="4645152" y="4754880"/>
            <a:ext cx="2980944" cy="1005840"/>
          </a:xfrm>
          <a:prstGeom prst="rect">
            <a:avLst/>
          </a:prstGeom>
          <a:noFill/>
          <a:ln/>
        </p:spPr>
        <p:txBody>
          <a:bodyPr wrap="square" lIns="0" tIns="0" rIns="0" bIns="0" rtlCol="0" anchor="ctr"/>
          <a:lstStyle/>
          <a:p>
            <a:pPr indent="0" marL="0">
              <a:buNone/>
            </a:pPr>
            <a:r>
              <a:rPr lang="en-US" sz="1400" dirty="0">
                <a:solidFill>
                  <a:srgbClr val="1A2B3C"/>
                </a:solidFill>
                <a:latin typeface="Consolas" pitchFamily="34" charset="0"/>
                <a:ea typeface="Consolas" pitchFamily="34" charset="-122"/>
                <a:cs typeface="Consolas" pitchFamily="34" charset="-120"/>
              </a:rPr>
              <a:t>short example or reminder</a:t>
            </a:r>
            <a:endParaRPr lang="en-US" sz="1400" dirty="0"/>
          </a:p>
        </p:txBody>
      </p:sp>
      <p:sp>
        <p:nvSpPr>
          <p:cNvPr id="24" name="Shape 22"/>
          <p:cNvSpPr/>
          <p:nvPr/>
        </p:nvSpPr>
        <p:spPr>
          <a:xfrm>
            <a:off x="8138160" y="1371600"/>
            <a:ext cx="3675888" cy="4846320"/>
          </a:xfrm>
          <a:prstGeom prst="roundRect">
            <a:avLst>
              <a:gd name="adj" fmla="val 1990"/>
            </a:avLst>
          </a:prstGeom>
          <a:solidFill>
            <a:srgbClr val="FFFFFF"/>
          </a:solidFill>
          <a:ln w="12700">
            <a:solidFill>
              <a:srgbClr val="E2E8EE"/>
            </a:solidFill>
            <a:prstDash val="solid"/>
          </a:ln>
        </p:spPr>
      </p:sp>
      <p:sp>
        <p:nvSpPr>
          <p:cNvPr id="25" name="Shape 23"/>
          <p:cNvSpPr/>
          <p:nvPr/>
        </p:nvSpPr>
        <p:spPr>
          <a:xfrm>
            <a:off x="8138160" y="1371600"/>
            <a:ext cx="3675888" cy="109728"/>
          </a:xfrm>
          <a:prstGeom prst="rect">
            <a:avLst/>
          </a:prstGeom>
          <a:solidFill>
            <a:srgbClr val="1A7070"/>
          </a:solidFill>
          <a:ln w="12700">
            <a:solidFill>
              <a:srgbClr val="1A7070"/>
            </a:solidFill>
            <a:prstDash val="solid"/>
          </a:ln>
        </p:spPr>
      </p:sp>
      <p:sp>
        <p:nvSpPr>
          <p:cNvPr id="26" name="Text 24"/>
          <p:cNvSpPr/>
          <p:nvPr/>
        </p:nvSpPr>
        <p:spPr>
          <a:xfrm>
            <a:off x="8339328" y="1664208"/>
            <a:ext cx="3273552" cy="64008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TERM THREE</a:t>
            </a:r>
            <a:endParaRPr lang="en-US" sz="1800" dirty="0"/>
          </a:p>
        </p:txBody>
      </p:sp>
      <p:sp>
        <p:nvSpPr>
          <p:cNvPr id="27" name="Text 25"/>
          <p:cNvSpPr/>
          <p:nvPr/>
        </p:nvSpPr>
        <p:spPr>
          <a:xfrm>
            <a:off x="8339328" y="2377440"/>
            <a:ext cx="3273552" cy="192024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One-sentence definition. Pair the term with the action the student will take.</a:t>
            </a:r>
            <a:endParaRPr lang="en-US" sz="1600" dirty="0"/>
          </a:p>
        </p:txBody>
      </p:sp>
      <p:sp>
        <p:nvSpPr>
          <p:cNvPr id="28" name="Shape 26"/>
          <p:cNvSpPr/>
          <p:nvPr/>
        </p:nvSpPr>
        <p:spPr>
          <a:xfrm>
            <a:off x="8339328" y="4617720"/>
            <a:ext cx="3273552" cy="1280160"/>
          </a:xfrm>
          <a:prstGeom prst="roundRect">
            <a:avLst>
              <a:gd name="adj" fmla="val 4286"/>
            </a:avLst>
          </a:prstGeom>
          <a:solidFill>
            <a:srgbClr val="E7F2FD"/>
          </a:solidFill>
          <a:ln w="12700">
            <a:solidFill>
              <a:srgbClr val="D3E4F6"/>
            </a:solidFill>
            <a:prstDash val="solid"/>
          </a:ln>
        </p:spPr>
      </p:sp>
      <p:sp>
        <p:nvSpPr>
          <p:cNvPr id="29" name="Text 27"/>
          <p:cNvSpPr/>
          <p:nvPr/>
        </p:nvSpPr>
        <p:spPr>
          <a:xfrm>
            <a:off x="8485632" y="4754880"/>
            <a:ext cx="2980944" cy="1005840"/>
          </a:xfrm>
          <a:prstGeom prst="rect">
            <a:avLst/>
          </a:prstGeom>
          <a:noFill/>
          <a:ln/>
        </p:spPr>
        <p:txBody>
          <a:bodyPr wrap="square" lIns="0" tIns="0" rIns="0" bIns="0" rtlCol="0" anchor="ctr"/>
          <a:lstStyle/>
          <a:p>
            <a:pPr indent="0" marL="0">
              <a:buNone/>
            </a:pPr>
            <a:r>
              <a:rPr lang="en-US" sz="1400" dirty="0">
                <a:solidFill>
                  <a:srgbClr val="1A2B3C"/>
                </a:solidFill>
                <a:latin typeface="Consolas" pitchFamily="34" charset="0"/>
                <a:ea typeface="Consolas" pitchFamily="34" charset="-122"/>
                <a:cs typeface="Consolas" pitchFamily="34" charset="-120"/>
              </a:rPr>
              <a:t>short example or reminder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N  ·  Lesson Title</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7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Compare These Two</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71600"/>
            <a:ext cx="5532120" cy="4846320"/>
          </a:xfrm>
          <a:prstGeom prst="roundRect">
            <a:avLst>
              <a:gd name="adj" fmla="val 1509"/>
            </a:avLst>
          </a:prstGeom>
          <a:solidFill>
            <a:srgbClr val="FFFFFF"/>
          </a:solidFill>
          <a:ln w="12700">
            <a:solidFill>
              <a:srgbClr val="E2E8EE"/>
            </a:solidFill>
            <a:prstDash val="solid"/>
          </a:ln>
        </p:spPr>
      </p:sp>
      <p:sp>
        <p:nvSpPr>
          <p:cNvPr id="13" name="Shape 11"/>
          <p:cNvSpPr/>
          <p:nvPr/>
        </p:nvSpPr>
        <p:spPr>
          <a:xfrm>
            <a:off x="457200" y="1371600"/>
            <a:ext cx="109728" cy="4846320"/>
          </a:xfrm>
          <a:prstGeom prst="rect">
            <a:avLst/>
          </a:prstGeom>
          <a:solidFill>
            <a:srgbClr val="1A7070"/>
          </a:solidFill>
          <a:ln w="12700">
            <a:solidFill>
              <a:srgbClr val="1A7070"/>
            </a:solidFill>
            <a:prstDash val="solid"/>
          </a:ln>
        </p:spPr>
      </p:sp>
      <p:sp>
        <p:nvSpPr>
          <p:cNvPr id="14" name="Text 12"/>
          <p:cNvSpPr/>
          <p:nvPr/>
        </p:nvSpPr>
        <p:spPr>
          <a:xfrm>
            <a:off x="749808" y="1536192"/>
            <a:ext cx="5029200" cy="274320"/>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LEFT SIDE LABEL</a:t>
            </a:r>
            <a:endParaRPr lang="en-US" sz="1300" dirty="0"/>
          </a:p>
        </p:txBody>
      </p:sp>
      <p:sp>
        <p:nvSpPr>
          <p:cNvPr id="15" name="Text 13"/>
          <p:cNvSpPr/>
          <p:nvPr/>
        </p:nvSpPr>
        <p:spPr>
          <a:xfrm>
            <a:off x="749808" y="1865376"/>
            <a:ext cx="5029200" cy="502920"/>
          </a:xfrm>
          <a:prstGeom prst="rect">
            <a:avLst/>
          </a:prstGeom>
          <a:noFill/>
          <a:ln/>
        </p:spPr>
        <p:txBody>
          <a:bodyPr wrap="square" lIns="0" tIns="0" rIns="0" bIns="0" rtlCol="0" anchor="ctr"/>
          <a:lstStyle/>
          <a:p>
            <a:pPr indent="0" marL="0">
              <a:buNone/>
            </a:pPr>
            <a:r>
              <a:rPr lang="en-US" sz="2000" b="1" dirty="0">
                <a:solidFill>
                  <a:srgbClr val="0D3358"/>
                </a:solidFill>
                <a:latin typeface="Calibri" pitchFamily="34" charset="0"/>
                <a:ea typeface="Calibri" pitchFamily="34" charset="-122"/>
                <a:cs typeface="Calibri" pitchFamily="34" charset="-120"/>
              </a:rPr>
              <a:t>Short claim for the left idea.</a:t>
            </a:r>
            <a:endParaRPr lang="en-US" sz="2000" dirty="0"/>
          </a:p>
        </p:txBody>
      </p:sp>
      <p:sp>
        <p:nvSpPr>
          <p:cNvPr id="16" name="Text 14"/>
          <p:cNvSpPr/>
          <p:nvPr/>
        </p:nvSpPr>
        <p:spPr>
          <a:xfrm>
            <a:off x="749808" y="2450592"/>
            <a:ext cx="5029200" cy="123444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Two or three sentences that explain the left idea. Stay specific. This column is for the first member of a pair: call vs definition, print vs return, before vs after.</a:t>
            </a:r>
            <a:endParaRPr lang="en-US" sz="1600" dirty="0"/>
          </a:p>
        </p:txBody>
      </p:sp>
      <p:sp>
        <p:nvSpPr>
          <p:cNvPr id="17" name="Shape 15"/>
          <p:cNvSpPr/>
          <p:nvPr/>
        </p:nvSpPr>
        <p:spPr>
          <a:xfrm>
            <a:off x="749808" y="3794760"/>
            <a:ext cx="5029200" cy="1051560"/>
          </a:xfrm>
          <a:prstGeom prst="roundRect">
            <a:avLst>
              <a:gd name="adj" fmla="val 5217"/>
            </a:avLst>
          </a:prstGeom>
          <a:solidFill>
            <a:srgbClr val="E7F2FD"/>
          </a:solidFill>
          <a:ln w="12700">
            <a:solidFill>
              <a:srgbClr val="D3E4F6"/>
            </a:solidFill>
            <a:prstDash val="solid"/>
          </a:ln>
        </p:spPr>
      </p:sp>
      <p:sp>
        <p:nvSpPr>
          <p:cNvPr id="18" name="Text 16"/>
          <p:cNvSpPr/>
          <p:nvPr/>
        </p:nvSpPr>
        <p:spPr>
          <a:xfrm>
            <a:off x="914400" y="3904488"/>
            <a:ext cx="4700016" cy="832104"/>
          </a:xfrm>
          <a:prstGeom prst="rect">
            <a:avLst/>
          </a:prstGeom>
          <a:noFill/>
          <a:ln/>
        </p:spPr>
        <p:txBody>
          <a:bodyPr wrap="square" lIns="0" tIns="0" rIns="0" bIns="0" rtlCol="0" anchor="t"/>
          <a:lstStyle/>
          <a:p>
            <a:pPr indent="0" marL="0">
              <a:buNone/>
            </a:pPr>
            <a:r>
              <a:rPr lang="en-US" sz="1400" dirty="0">
                <a:solidFill>
                  <a:srgbClr val="1A2B3C"/>
                </a:solidFill>
                <a:latin typeface="Consolas" pitchFamily="34" charset="0"/>
                <a:ea typeface="Consolas" pitchFamily="34" charset="-122"/>
                <a:cs typeface="Consolas" pitchFamily="34" charset="-120"/>
              </a:rPr>
              <a:t>left_example()</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more_code_here()</a:t>
            </a:r>
            <a:endParaRPr lang="en-US" sz="1400" dirty="0"/>
          </a:p>
        </p:txBody>
      </p:sp>
      <p:sp>
        <p:nvSpPr>
          <p:cNvPr id="19" name="Text 17"/>
          <p:cNvSpPr/>
          <p:nvPr/>
        </p:nvSpPr>
        <p:spPr>
          <a:xfrm>
            <a:off x="749808" y="4983480"/>
            <a:ext cx="5029200" cy="100584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Closing line that tells the student what to notice on this side.</a:t>
            </a:r>
            <a:endParaRPr lang="en-US" sz="1500" dirty="0"/>
          </a:p>
        </p:txBody>
      </p:sp>
      <p:sp>
        <p:nvSpPr>
          <p:cNvPr id="20" name="Shape 18"/>
          <p:cNvSpPr/>
          <p:nvPr/>
        </p:nvSpPr>
        <p:spPr>
          <a:xfrm>
            <a:off x="6172200" y="1371600"/>
            <a:ext cx="5532120" cy="4846320"/>
          </a:xfrm>
          <a:prstGeom prst="roundRect">
            <a:avLst>
              <a:gd name="adj" fmla="val 1509"/>
            </a:avLst>
          </a:prstGeom>
          <a:solidFill>
            <a:srgbClr val="FFFFFF"/>
          </a:solidFill>
          <a:ln w="12700">
            <a:solidFill>
              <a:srgbClr val="E2E8EE"/>
            </a:solidFill>
            <a:prstDash val="solid"/>
          </a:ln>
        </p:spPr>
      </p:sp>
      <p:sp>
        <p:nvSpPr>
          <p:cNvPr id="21" name="Shape 19"/>
          <p:cNvSpPr/>
          <p:nvPr/>
        </p:nvSpPr>
        <p:spPr>
          <a:xfrm>
            <a:off x="6172200" y="1371600"/>
            <a:ext cx="109728" cy="4846320"/>
          </a:xfrm>
          <a:prstGeom prst="rect">
            <a:avLst/>
          </a:prstGeom>
          <a:solidFill>
            <a:srgbClr val="D08F3C"/>
          </a:solidFill>
          <a:ln w="12700">
            <a:solidFill>
              <a:srgbClr val="D08F3C"/>
            </a:solidFill>
            <a:prstDash val="solid"/>
          </a:ln>
        </p:spPr>
      </p:sp>
      <p:sp>
        <p:nvSpPr>
          <p:cNvPr id="22" name="Text 20"/>
          <p:cNvSpPr/>
          <p:nvPr/>
        </p:nvSpPr>
        <p:spPr>
          <a:xfrm>
            <a:off x="6464808" y="1536192"/>
            <a:ext cx="5029200" cy="274320"/>
          </a:xfrm>
          <a:prstGeom prst="rect">
            <a:avLst/>
          </a:prstGeom>
          <a:noFill/>
          <a:ln/>
        </p:spPr>
        <p:txBody>
          <a:bodyPr wrap="square" lIns="0" tIns="0" rIns="0" bIns="0" rtlCol="0" anchor="ctr"/>
          <a:lstStyle/>
          <a:p>
            <a:pPr indent="0" marL="0">
              <a:buNone/>
            </a:pPr>
            <a:r>
              <a:rPr lang="en-US" sz="1300" b="1" dirty="0">
                <a:solidFill>
                  <a:srgbClr val="D08F3C"/>
                </a:solidFill>
                <a:latin typeface="Calibri" pitchFamily="34" charset="0"/>
                <a:ea typeface="Calibri" pitchFamily="34" charset="-122"/>
                <a:cs typeface="Calibri" pitchFamily="34" charset="-120"/>
              </a:rPr>
              <a:t>RIGHT SIDE LABEL</a:t>
            </a:r>
            <a:endParaRPr lang="en-US" sz="1300" dirty="0"/>
          </a:p>
        </p:txBody>
      </p:sp>
      <p:sp>
        <p:nvSpPr>
          <p:cNvPr id="23" name="Text 21"/>
          <p:cNvSpPr/>
          <p:nvPr/>
        </p:nvSpPr>
        <p:spPr>
          <a:xfrm>
            <a:off x="6464808" y="1865376"/>
            <a:ext cx="5029200" cy="502920"/>
          </a:xfrm>
          <a:prstGeom prst="rect">
            <a:avLst/>
          </a:prstGeom>
          <a:noFill/>
          <a:ln/>
        </p:spPr>
        <p:txBody>
          <a:bodyPr wrap="square" lIns="0" tIns="0" rIns="0" bIns="0" rtlCol="0" anchor="ctr"/>
          <a:lstStyle/>
          <a:p>
            <a:pPr indent="0" marL="0">
              <a:buNone/>
            </a:pPr>
            <a:r>
              <a:rPr lang="en-US" sz="2000" b="1" dirty="0">
                <a:solidFill>
                  <a:srgbClr val="0D3358"/>
                </a:solidFill>
                <a:latin typeface="Calibri" pitchFamily="34" charset="0"/>
                <a:ea typeface="Calibri" pitchFamily="34" charset="-122"/>
                <a:cs typeface="Calibri" pitchFamily="34" charset="-120"/>
              </a:rPr>
              <a:t>Short claim for the right idea.</a:t>
            </a:r>
            <a:endParaRPr lang="en-US" sz="2000" dirty="0"/>
          </a:p>
        </p:txBody>
      </p:sp>
      <p:sp>
        <p:nvSpPr>
          <p:cNvPr id="24" name="Text 22"/>
          <p:cNvSpPr/>
          <p:nvPr/>
        </p:nvSpPr>
        <p:spPr>
          <a:xfrm>
            <a:off x="6464808" y="2450592"/>
            <a:ext cx="5029200" cy="123444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Two or three sentences that explain the contrast. The student should be able to point at both columns and say the difference in one breath.</a:t>
            </a:r>
            <a:endParaRPr lang="en-US" sz="1600" dirty="0"/>
          </a:p>
        </p:txBody>
      </p:sp>
      <p:sp>
        <p:nvSpPr>
          <p:cNvPr id="25" name="Shape 23"/>
          <p:cNvSpPr/>
          <p:nvPr/>
        </p:nvSpPr>
        <p:spPr>
          <a:xfrm>
            <a:off x="6464808" y="3794760"/>
            <a:ext cx="5029200" cy="1051560"/>
          </a:xfrm>
          <a:prstGeom prst="roundRect">
            <a:avLst>
              <a:gd name="adj" fmla="val 5217"/>
            </a:avLst>
          </a:prstGeom>
          <a:solidFill>
            <a:srgbClr val="E7F2FD"/>
          </a:solidFill>
          <a:ln w="12700">
            <a:solidFill>
              <a:srgbClr val="D3E4F6"/>
            </a:solidFill>
            <a:prstDash val="solid"/>
          </a:ln>
        </p:spPr>
      </p:sp>
      <p:sp>
        <p:nvSpPr>
          <p:cNvPr id="26" name="Text 24"/>
          <p:cNvSpPr/>
          <p:nvPr/>
        </p:nvSpPr>
        <p:spPr>
          <a:xfrm>
            <a:off x="6629400" y="3904488"/>
            <a:ext cx="4700016" cy="832104"/>
          </a:xfrm>
          <a:prstGeom prst="rect">
            <a:avLst/>
          </a:prstGeom>
          <a:noFill/>
          <a:ln/>
        </p:spPr>
        <p:txBody>
          <a:bodyPr wrap="square" lIns="0" tIns="0" rIns="0" bIns="0" rtlCol="0" anchor="t"/>
          <a:lstStyle/>
          <a:p>
            <a:pPr indent="0" marL="0">
              <a:buNone/>
            </a:pPr>
            <a:r>
              <a:rPr lang="en-US" sz="1400" dirty="0">
                <a:solidFill>
                  <a:srgbClr val="1A2B3C"/>
                </a:solidFill>
                <a:latin typeface="Consolas" pitchFamily="34" charset="0"/>
                <a:ea typeface="Consolas" pitchFamily="34" charset="-122"/>
                <a:cs typeface="Consolas" pitchFamily="34" charset="-120"/>
              </a:rPr>
              <a:t>right_example()</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more_code_here()</a:t>
            </a:r>
            <a:endParaRPr lang="en-US" sz="1400" dirty="0"/>
          </a:p>
        </p:txBody>
      </p:sp>
      <p:sp>
        <p:nvSpPr>
          <p:cNvPr id="27" name="Text 25"/>
          <p:cNvSpPr/>
          <p:nvPr/>
        </p:nvSpPr>
        <p:spPr>
          <a:xfrm>
            <a:off x="6464808" y="4983480"/>
            <a:ext cx="5029200" cy="100584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Closing line that tells the student what to notice on this side.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N  ·  Lesson Title</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8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Four Ideas on One Slide</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71600"/>
            <a:ext cx="5669280" cy="2212848"/>
          </a:xfrm>
          <a:prstGeom prst="roundRect">
            <a:avLst>
              <a:gd name="adj" fmla="val 3306"/>
            </a:avLst>
          </a:prstGeom>
          <a:solidFill>
            <a:srgbClr val="FFFFFF"/>
          </a:solidFill>
          <a:ln w="12700">
            <a:solidFill>
              <a:srgbClr val="E2E8EE"/>
            </a:solidFill>
            <a:prstDash val="solid"/>
          </a:ln>
        </p:spPr>
      </p:sp>
      <p:sp>
        <p:nvSpPr>
          <p:cNvPr id="13" name="Shape 11"/>
          <p:cNvSpPr/>
          <p:nvPr/>
        </p:nvSpPr>
        <p:spPr>
          <a:xfrm>
            <a:off x="658368" y="1627632"/>
            <a:ext cx="1234440" cy="502920"/>
          </a:xfrm>
          <a:prstGeom prst="roundRect">
            <a:avLst>
              <a:gd name="adj" fmla="val 10909"/>
            </a:avLst>
          </a:prstGeom>
          <a:solidFill>
            <a:srgbClr val="1A7070"/>
          </a:solidFill>
          <a:ln w="12700">
            <a:solidFill>
              <a:srgbClr val="1A7070"/>
            </a:solidFill>
            <a:prstDash val="solid"/>
          </a:ln>
        </p:spPr>
      </p:sp>
      <p:sp>
        <p:nvSpPr>
          <p:cNvPr id="14" name="Text 12"/>
          <p:cNvSpPr/>
          <p:nvPr/>
        </p:nvSpPr>
        <p:spPr>
          <a:xfrm>
            <a:off x="658368" y="1627632"/>
            <a:ext cx="1234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ONE</a:t>
            </a:r>
            <a:endParaRPr lang="en-US" sz="1400" dirty="0"/>
          </a:p>
        </p:txBody>
      </p:sp>
      <p:sp>
        <p:nvSpPr>
          <p:cNvPr id="15" name="Text 13"/>
          <p:cNvSpPr/>
          <p:nvPr/>
        </p:nvSpPr>
        <p:spPr>
          <a:xfrm>
            <a:off x="2011680" y="1627632"/>
            <a:ext cx="3840480" cy="50292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First idea title</a:t>
            </a:r>
            <a:endParaRPr lang="en-US" sz="1800" dirty="0"/>
          </a:p>
        </p:txBody>
      </p:sp>
      <p:sp>
        <p:nvSpPr>
          <p:cNvPr id="16" name="Text 14"/>
          <p:cNvSpPr/>
          <p:nvPr/>
        </p:nvSpPr>
        <p:spPr>
          <a:xfrm>
            <a:off x="713232" y="2331720"/>
            <a:ext cx="5166360" cy="105156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Two or three sentences. Keep the title short enough to sit beside the badge.</a:t>
            </a:r>
            <a:endParaRPr lang="en-US" sz="1600" dirty="0"/>
          </a:p>
        </p:txBody>
      </p:sp>
      <p:sp>
        <p:nvSpPr>
          <p:cNvPr id="17" name="Shape 15"/>
          <p:cNvSpPr/>
          <p:nvPr/>
        </p:nvSpPr>
        <p:spPr>
          <a:xfrm>
            <a:off x="6309360" y="1371600"/>
            <a:ext cx="5669280" cy="2212848"/>
          </a:xfrm>
          <a:prstGeom prst="roundRect">
            <a:avLst>
              <a:gd name="adj" fmla="val 3306"/>
            </a:avLst>
          </a:prstGeom>
          <a:solidFill>
            <a:srgbClr val="FFFFFF"/>
          </a:solidFill>
          <a:ln w="12700">
            <a:solidFill>
              <a:srgbClr val="E2E8EE"/>
            </a:solidFill>
            <a:prstDash val="solid"/>
          </a:ln>
        </p:spPr>
      </p:sp>
      <p:sp>
        <p:nvSpPr>
          <p:cNvPr id="18" name="Shape 16"/>
          <p:cNvSpPr/>
          <p:nvPr/>
        </p:nvSpPr>
        <p:spPr>
          <a:xfrm>
            <a:off x="6510528" y="1627632"/>
            <a:ext cx="1234440" cy="502920"/>
          </a:xfrm>
          <a:prstGeom prst="roundRect">
            <a:avLst>
              <a:gd name="adj" fmla="val 10909"/>
            </a:avLst>
          </a:prstGeom>
          <a:solidFill>
            <a:srgbClr val="1A7070"/>
          </a:solidFill>
          <a:ln w="12700">
            <a:solidFill>
              <a:srgbClr val="1A7070"/>
            </a:solidFill>
            <a:prstDash val="solid"/>
          </a:ln>
        </p:spPr>
      </p:sp>
      <p:sp>
        <p:nvSpPr>
          <p:cNvPr id="19" name="Text 17"/>
          <p:cNvSpPr/>
          <p:nvPr/>
        </p:nvSpPr>
        <p:spPr>
          <a:xfrm>
            <a:off x="6510528" y="1627632"/>
            <a:ext cx="1234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a:t>
            </a:r>
            <a:endParaRPr lang="en-US" sz="1400" dirty="0"/>
          </a:p>
        </p:txBody>
      </p:sp>
      <p:sp>
        <p:nvSpPr>
          <p:cNvPr id="20" name="Text 18"/>
          <p:cNvSpPr/>
          <p:nvPr/>
        </p:nvSpPr>
        <p:spPr>
          <a:xfrm>
            <a:off x="7863840" y="1627632"/>
            <a:ext cx="3840480" cy="50292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Second idea title</a:t>
            </a:r>
            <a:endParaRPr lang="en-US" sz="1800" dirty="0"/>
          </a:p>
        </p:txBody>
      </p:sp>
      <p:sp>
        <p:nvSpPr>
          <p:cNvPr id="21" name="Text 19"/>
          <p:cNvSpPr/>
          <p:nvPr/>
        </p:nvSpPr>
        <p:spPr>
          <a:xfrm>
            <a:off x="6565392" y="2331720"/>
            <a:ext cx="5166360" cy="105156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Two or three sentences. Match the height of the other three cards.</a:t>
            </a:r>
            <a:endParaRPr lang="en-US" sz="1600" dirty="0"/>
          </a:p>
        </p:txBody>
      </p:sp>
      <p:sp>
        <p:nvSpPr>
          <p:cNvPr id="22" name="Shape 20"/>
          <p:cNvSpPr/>
          <p:nvPr/>
        </p:nvSpPr>
        <p:spPr>
          <a:xfrm>
            <a:off x="457200" y="3749040"/>
            <a:ext cx="5669280" cy="2212848"/>
          </a:xfrm>
          <a:prstGeom prst="roundRect">
            <a:avLst>
              <a:gd name="adj" fmla="val 3306"/>
            </a:avLst>
          </a:prstGeom>
          <a:solidFill>
            <a:srgbClr val="FFFFFF"/>
          </a:solidFill>
          <a:ln w="12700">
            <a:solidFill>
              <a:srgbClr val="E2E8EE"/>
            </a:solidFill>
            <a:prstDash val="solid"/>
          </a:ln>
        </p:spPr>
      </p:sp>
      <p:sp>
        <p:nvSpPr>
          <p:cNvPr id="23" name="Shape 21"/>
          <p:cNvSpPr/>
          <p:nvPr/>
        </p:nvSpPr>
        <p:spPr>
          <a:xfrm>
            <a:off x="658368" y="4005072"/>
            <a:ext cx="1234440" cy="502920"/>
          </a:xfrm>
          <a:prstGeom prst="roundRect">
            <a:avLst>
              <a:gd name="adj" fmla="val 10909"/>
            </a:avLst>
          </a:prstGeom>
          <a:solidFill>
            <a:srgbClr val="1A7070"/>
          </a:solidFill>
          <a:ln w="12700">
            <a:solidFill>
              <a:srgbClr val="1A7070"/>
            </a:solidFill>
            <a:prstDash val="solid"/>
          </a:ln>
        </p:spPr>
      </p:sp>
      <p:sp>
        <p:nvSpPr>
          <p:cNvPr id="24" name="Text 22"/>
          <p:cNvSpPr/>
          <p:nvPr/>
        </p:nvSpPr>
        <p:spPr>
          <a:xfrm>
            <a:off x="658368" y="4005072"/>
            <a:ext cx="1234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THREE</a:t>
            </a:r>
            <a:endParaRPr lang="en-US" sz="1400" dirty="0"/>
          </a:p>
        </p:txBody>
      </p:sp>
      <p:sp>
        <p:nvSpPr>
          <p:cNvPr id="25" name="Text 23"/>
          <p:cNvSpPr/>
          <p:nvPr/>
        </p:nvSpPr>
        <p:spPr>
          <a:xfrm>
            <a:off x="2011680" y="4005072"/>
            <a:ext cx="3840480" cy="50292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Third idea title</a:t>
            </a:r>
            <a:endParaRPr lang="en-US" sz="1800" dirty="0"/>
          </a:p>
        </p:txBody>
      </p:sp>
      <p:sp>
        <p:nvSpPr>
          <p:cNvPr id="26" name="Text 24"/>
          <p:cNvSpPr/>
          <p:nvPr/>
        </p:nvSpPr>
        <p:spPr>
          <a:xfrm>
            <a:off x="713232" y="4709160"/>
            <a:ext cx="5166360" cy="105156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Two or three sentences. A concrete example belongs in the body, not the title.</a:t>
            </a:r>
            <a:endParaRPr lang="en-US" sz="1600" dirty="0"/>
          </a:p>
        </p:txBody>
      </p:sp>
      <p:sp>
        <p:nvSpPr>
          <p:cNvPr id="27" name="Shape 25"/>
          <p:cNvSpPr/>
          <p:nvPr/>
        </p:nvSpPr>
        <p:spPr>
          <a:xfrm>
            <a:off x="6309360" y="3749040"/>
            <a:ext cx="5669280" cy="2212848"/>
          </a:xfrm>
          <a:prstGeom prst="roundRect">
            <a:avLst>
              <a:gd name="adj" fmla="val 3306"/>
            </a:avLst>
          </a:prstGeom>
          <a:solidFill>
            <a:srgbClr val="FFFFFF"/>
          </a:solidFill>
          <a:ln w="12700">
            <a:solidFill>
              <a:srgbClr val="E2E8EE"/>
            </a:solidFill>
            <a:prstDash val="solid"/>
          </a:ln>
        </p:spPr>
      </p:sp>
      <p:sp>
        <p:nvSpPr>
          <p:cNvPr id="28" name="Shape 26"/>
          <p:cNvSpPr/>
          <p:nvPr/>
        </p:nvSpPr>
        <p:spPr>
          <a:xfrm>
            <a:off x="6510528" y="4005072"/>
            <a:ext cx="1234440" cy="502920"/>
          </a:xfrm>
          <a:prstGeom prst="roundRect">
            <a:avLst>
              <a:gd name="adj" fmla="val 10909"/>
            </a:avLst>
          </a:prstGeom>
          <a:solidFill>
            <a:srgbClr val="1A7070"/>
          </a:solidFill>
          <a:ln w="12700">
            <a:solidFill>
              <a:srgbClr val="1A7070"/>
            </a:solidFill>
            <a:prstDash val="solid"/>
          </a:ln>
        </p:spPr>
      </p:sp>
      <p:sp>
        <p:nvSpPr>
          <p:cNvPr id="29" name="Text 27"/>
          <p:cNvSpPr/>
          <p:nvPr/>
        </p:nvSpPr>
        <p:spPr>
          <a:xfrm>
            <a:off x="6510528" y="4005072"/>
            <a:ext cx="1234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FOUR</a:t>
            </a:r>
            <a:endParaRPr lang="en-US" sz="1400" dirty="0"/>
          </a:p>
        </p:txBody>
      </p:sp>
      <p:sp>
        <p:nvSpPr>
          <p:cNvPr id="30" name="Text 28"/>
          <p:cNvSpPr/>
          <p:nvPr/>
        </p:nvSpPr>
        <p:spPr>
          <a:xfrm>
            <a:off x="7863840" y="4005072"/>
            <a:ext cx="3840480" cy="50292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Fourth idea title</a:t>
            </a:r>
            <a:endParaRPr lang="en-US" sz="1800" dirty="0"/>
          </a:p>
        </p:txBody>
      </p:sp>
      <p:sp>
        <p:nvSpPr>
          <p:cNvPr id="31" name="Text 29"/>
          <p:cNvSpPr/>
          <p:nvPr/>
        </p:nvSpPr>
        <p:spPr>
          <a:xfrm>
            <a:off x="6565392" y="4709160"/>
            <a:ext cx="5166360" cy="105156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Two or three sentences. If you only have three ideas, delete a card and widen the rest.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N  ·  Lesson Title</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9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Read This Code Together</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53312"/>
            <a:ext cx="11247120" cy="3063240"/>
          </a:xfrm>
          <a:prstGeom prst="roundRect">
            <a:avLst>
              <a:gd name="adj" fmla="val 2388"/>
            </a:avLst>
          </a:prstGeom>
          <a:solidFill>
            <a:srgbClr val="E7F2FD"/>
          </a:solidFill>
          <a:ln w="12700">
            <a:solidFill>
              <a:srgbClr val="D3E4F6"/>
            </a:solidFill>
            <a:prstDash val="solid"/>
          </a:ln>
        </p:spPr>
      </p:sp>
      <p:sp>
        <p:nvSpPr>
          <p:cNvPr id="13" name="Text 11"/>
          <p:cNvSpPr/>
          <p:nvPr/>
        </p:nvSpPr>
        <p:spPr>
          <a:xfrm>
            <a:off x="731520" y="1554480"/>
            <a:ext cx="10698480" cy="2697480"/>
          </a:xfrm>
          <a:prstGeom prst="rect">
            <a:avLst/>
          </a:prstGeom>
          <a:noFill/>
          <a:ln/>
        </p:spPr>
        <p:txBody>
          <a:bodyPr wrap="square" lIns="0" tIns="0" rIns="0" bIns="0" rtlCol="0" anchor="ctr"/>
          <a:lstStyle/>
          <a:p>
            <a:pPr indent="0" marL="0">
              <a:buNone/>
            </a:pPr>
            <a:r>
              <a:rPr lang="en-US" sz="1800" dirty="0">
                <a:solidFill>
                  <a:srgbClr val="1A2B3C"/>
                </a:solidFill>
                <a:latin typeface="Consolas" pitchFamily="34" charset="0"/>
                <a:ea typeface="Consolas" pitchFamily="34" charset="-122"/>
                <a:cs typeface="Consolas" pitchFamily="34" charset="-120"/>
              </a:rPr>
              <a:t># Replace this sample with the lesson example.</a:t>
            </a:r>
            <a:endParaRPr lang="en-US" sz="1800" dirty="0"/>
          </a:p>
          <a:p>
            <a:pPr indent="0" marL="0">
              <a:buNone/>
            </a:pPr>
            <a:r>
              <a:rPr lang="en-US" sz="1800" dirty="0">
                <a:solidFill>
                  <a:srgbClr val="1A2B3C"/>
                </a:solidFill>
                <a:latin typeface="Consolas" pitchFamily="34" charset="0"/>
                <a:ea typeface="Consolas" pitchFamily="34" charset="-122"/>
                <a:cs typeface="Consolas" pitchFamily="34" charset="-120"/>
              </a:rPr>
              <a:t>def example_name(parameter):</a:t>
            </a:r>
            <a:endParaRPr lang="en-US" sz="1800" dirty="0"/>
          </a:p>
          <a:p>
            <a:pPr indent="0" marL="0">
              <a:buNone/>
            </a:pPr>
            <a:r>
              <a:rPr lang="en-US" sz="1800" dirty="0">
                <a:solidFill>
                  <a:srgbClr val="1A2B3C"/>
                </a:solidFill>
                <a:latin typeface="Consolas" pitchFamily="34" charset="0"/>
                <a:ea typeface="Consolas" pitchFamily="34" charset="-122"/>
                <a:cs typeface="Consolas" pitchFamily="34" charset="-120"/>
              </a:rPr>
              <a:t>    result = parameter</a:t>
            </a:r>
            <a:endParaRPr lang="en-US" sz="1800" dirty="0"/>
          </a:p>
          <a:p>
            <a:pPr indent="0" marL="0">
              <a:buNone/>
            </a:pPr>
            <a:r>
              <a:rPr lang="en-US" sz="1800" dirty="0">
                <a:solidFill>
                  <a:srgbClr val="1A2B3C"/>
                </a:solidFill>
                <a:latin typeface="Consolas" pitchFamily="34" charset="0"/>
                <a:ea typeface="Consolas" pitchFamily="34" charset="-122"/>
                <a:cs typeface="Consolas" pitchFamily="34" charset="-120"/>
              </a:rPr>
              <a:t>    return result</a:t>
            </a:r>
            <a:endParaRPr lang="en-US" sz="1800" dirty="0"/>
          </a:p>
          <a:p>
            <a:pPr indent="0" marL="0">
              <a:buNone/>
            </a:pPr>
            <a:endParaRPr lang="en-US" sz="1800" dirty="0"/>
          </a:p>
          <a:p>
            <a:pPr indent="0" marL="0">
              <a:buNone/>
            </a:pPr>
            <a:r>
              <a:rPr lang="en-US" sz="1800" dirty="0">
                <a:solidFill>
                  <a:srgbClr val="1A2B3C"/>
                </a:solidFill>
                <a:latin typeface="Consolas" pitchFamily="34" charset="0"/>
                <a:ea typeface="Consolas" pitchFamily="34" charset="-122"/>
                <a:cs typeface="Consolas" pitchFamily="34" charset="-120"/>
              </a:rPr>
              <a:t>value = example_name("argument")</a:t>
            </a:r>
            <a:endParaRPr lang="en-US" sz="1800" dirty="0"/>
          </a:p>
          <a:p>
            <a:pPr indent="0" marL="0">
              <a:buNone/>
            </a:pPr>
            <a:r>
              <a:rPr lang="en-US" sz="1800" dirty="0">
                <a:solidFill>
                  <a:srgbClr val="1A2B3C"/>
                </a:solidFill>
                <a:latin typeface="Consolas" pitchFamily="34" charset="0"/>
                <a:ea typeface="Consolas" pitchFamily="34" charset="-122"/>
                <a:cs typeface="Consolas" pitchFamily="34" charset="-120"/>
              </a:rPr>
              <a:t>print(value)</a:t>
            </a:r>
            <a:endParaRPr lang="en-US" sz="1800" dirty="0"/>
          </a:p>
        </p:txBody>
      </p:sp>
      <p:sp>
        <p:nvSpPr>
          <p:cNvPr id="14" name="Shape 12"/>
          <p:cNvSpPr/>
          <p:nvPr/>
        </p:nvSpPr>
        <p:spPr>
          <a:xfrm>
            <a:off x="457200" y="4590288"/>
            <a:ext cx="11247120" cy="1664208"/>
          </a:xfrm>
          <a:prstGeom prst="roundRect">
            <a:avLst>
              <a:gd name="adj" fmla="val 4396"/>
            </a:avLst>
          </a:prstGeom>
          <a:solidFill>
            <a:srgbClr val="FFFFFF"/>
          </a:solidFill>
          <a:ln w="12700">
            <a:solidFill>
              <a:srgbClr val="E2E8EE"/>
            </a:solidFill>
            <a:prstDash val="solid"/>
          </a:ln>
        </p:spPr>
      </p:sp>
      <p:sp>
        <p:nvSpPr>
          <p:cNvPr id="15" name="Shape 13"/>
          <p:cNvSpPr/>
          <p:nvPr/>
        </p:nvSpPr>
        <p:spPr>
          <a:xfrm>
            <a:off x="457200" y="4590288"/>
            <a:ext cx="109728" cy="1664208"/>
          </a:xfrm>
          <a:prstGeom prst="rect">
            <a:avLst/>
          </a:prstGeom>
          <a:solidFill>
            <a:srgbClr val="E1A244"/>
          </a:solidFill>
          <a:ln w="12700">
            <a:solidFill>
              <a:srgbClr val="E1A244"/>
            </a:solidFill>
            <a:prstDash val="solid"/>
          </a:ln>
        </p:spPr>
      </p:sp>
      <p:sp>
        <p:nvSpPr>
          <p:cNvPr id="16" name="Text 14"/>
          <p:cNvSpPr/>
          <p:nvPr/>
        </p:nvSpPr>
        <p:spPr>
          <a:xfrm>
            <a:off x="749808" y="4718304"/>
            <a:ext cx="10698480" cy="292608"/>
          </a:xfrm>
          <a:prstGeom prst="rect">
            <a:avLst/>
          </a:prstGeom>
          <a:noFill/>
          <a:ln/>
        </p:spPr>
        <p:txBody>
          <a:bodyPr wrap="square" lIns="0" tIns="0" rIns="0" bIns="0" rtlCol="0" anchor="ctr"/>
          <a:lstStyle/>
          <a:p>
            <a:pPr indent="0" marL="0">
              <a:buNone/>
            </a:pPr>
            <a:r>
              <a:rPr lang="en-US" sz="1400" b="1" dirty="0">
                <a:solidFill>
                  <a:srgbClr val="D08F3C"/>
                </a:solidFill>
                <a:latin typeface="Calibri" pitchFamily="34" charset="0"/>
                <a:ea typeface="Calibri" pitchFamily="34" charset="-122"/>
                <a:cs typeface="Calibri" pitchFamily="34" charset="-120"/>
              </a:rPr>
              <a:t>What to notice</a:t>
            </a:r>
            <a:endParaRPr lang="en-US" sz="1400" dirty="0"/>
          </a:p>
        </p:txBody>
      </p:sp>
      <p:sp>
        <p:nvSpPr>
          <p:cNvPr id="17" name="Text 15"/>
          <p:cNvSpPr/>
          <p:nvPr/>
        </p:nvSpPr>
        <p:spPr>
          <a:xfrm>
            <a:off x="749808" y="5029200"/>
            <a:ext cx="10698480" cy="105156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Point at the name, the parentheses, the colon, the indent, and the return. Say out loud what each line does before you change a single character. Keep this box for teaching talk, not a second code sample.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N  ·  Lesson Title</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10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Before and After</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71600"/>
            <a:ext cx="5532120" cy="4846320"/>
          </a:xfrm>
          <a:prstGeom prst="roundRect">
            <a:avLst>
              <a:gd name="adj" fmla="val 1509"/>
            </a:avLst>
          </a:prstGeom>
          <a:solidFill>
            <a:srgbClr val="FFFFFF"/>
          </a:solidFill>
          <a:ln w="12700">
            <a:solidFill>
              <a:srgbClr val="E2E8EE"/>
            </a:solidFill>
            <a:prstDash val="solid"/>
          </a:ln>
        </p:spPr>
      </p:sp>
      <p:sp>
        <p:nvSpPr>
          <p:cNvPr id="13" name="Text 11"/>
          <p:cNvSpPr/>
          <p:nvPr/>
        </p:nvSpPr>
        <p:spPr>
          <a:xfrm>
            <a:off x="685800" y="1536192"/>
            <a:ext cx="5074920" cy="274320"/>
          </a:xfrm>
          <a:prstGeom prst="rect">
            <a:avLst/>
          </a:prstGeom>
          <a:noFill/>
          <a:ln/>
        </p:spPr>
        <p:txBody>
          <a:bodyPr wrap="square" lIns="0" tIns="0" rIns="0" bIns="0" rtlCol="0" anchor="ctr"/>
          <a:lstStyle/>
          <a:p>
            <a:pPr indent="0" marL="0">
              <a:buNone/>
            </a:pPr>
            <a:r>
              <a:rPr lang="en-US" sz="1300" b="1" dirty="0">
                <a:solidFill>
                  <a:srgbClr val="A64936"/>
                </a:solidFill>
                <a:latin typeface="Calibri" pitchFamily="34" charset="0"/>
                <a:ea typeface="Calibri" pitchFamily="34" charset="-122"/>
                <a:cs typeface="Calibri" pitchFamily="34" charset="-120"/>
              </a:rPr>
              <a:t>WITHOUT  ·  THE PROBLEM</a:t>
            </a:r>
            <a:endParaRPr lang="en-US" sz="1300" dirty="0"/>
          </a:p>
        </p:txBody>
      </p:sp>
      <p:sp>
        <p:nvSpPr>
          <p:cNvPr id="14" name="Shape 12"/>
          <p:cNvSpPr/>
          <p:nvPr/>
        </p:nvSpPr>
        <p:spPr>
          <a:xfrm>
            <a:off x="658368" y="1920240"/>
            <a:ext cx="5120640" cy="2788920"/>
          </a:xfrm>
          <a:prstGeom prst="roundRect">
            <a:avLst>
              <a:gd name="adj" fmla="val 1967"/>
            </a:avLst>
          </a:prstGeom>
          <a:solidFill>
            <a:srgbClr val="E7F2FD"/>
          </a:solidFill>
          <a:ln w="12700">
            <a:solidFill>
              <a:srgbClr val="D3E4F6"/>
            </a:solidFill>
            <a:prstDash val="solid"/>
          </a:ln>
        </p:spPr>
      </p:sp>
      <p:sp>
        <p:nvSpPr>
          <p:cNvPr id="15" name="Text 13"/>
          <p:cNvSpPr/>
          <p:nvPr/>
        </p:nvSpPr>
        <p:spPr>
          <a:xfrm>
            <a:off x="822960" y="2029968"/>
            <a:ext cx="4791456" cy="2569464"/>
          </a:xfrm>
          <a:prstGeom prst="rect">
            <a:avLst/>
          </a:prstGeom>
          <a:noFill/>
          <a:ln/>
        </p:spPr>
        <p:txBody>
          <a:bodyPr wrap="square" lIns="0" tIns="0" rIns="0" bIns="0" rtlCol="0" anchor="t"/>
          <a:lstStyle/>
          <a:p>
            <a:pPr indent="0" marL="0">
              <a:buNone/>
            </a:pPr>
            <a:r>
              <a:rPr lang="en-US" sz="1400" dirty="0">
                <a:solidFill>
                  <a:srgbClr val="1A2B3C"/>
                </a:solidFill>
                <a:latin typeface="Consolas" pitchFamily="34" charset="0"/>
                <a:ea typeface="Consolas" pitchFamily="34" charset="-122"/>
                <a:cs typeface="Consolas" pitchFamily="34" charset="-120"/>
              </a:rPr>
              <a:t>print("line one")</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print("line two")</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print("line three")</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print("line one")</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print("line two")</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print("line three")</a:t>
            </a:r>
            <a:endParaRPr lang="en-US" sz="1400" dirty="0"/>
          </a:p>
        </p:txBody>
      </p:sp>
      <p:sp>
        <p:nvSpPr>
          <p:cNvPr id="16" name="Text 14"/>
          <p:cNvSpPr/>
          <p:nvPr/>
        </p:nvSpPr>
        <p:spPr>
          <a:xfrm>
            <a:off x="685800" y="4846320"/>
            <a:ext cx="5074920" cy="109728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Name the pain. Repeated work, a missed edit, or a name that hides the purpose.</a:t>
            </a:r>
            <a:endParaRPr lang="en-US" sz="1500" dirty="0"/>
          </a:p>
        </p:txBody>
      </p:sp>
      <p:sp>
        <p:nvSpPr>
          <p:cNvPr id="17" name="Shape 15"/>
          <p:cNvSpPr/>
          <p:nvPr/>
        </p:nvSpPr>
        <p:spPr>
          <a:xfrm>
            <a:off x="6172200" y="1371600"/>
            <a:ext cx="5532120" cy="4846320"/>
          </a:xfrm>
          <a:prstGeom prst="roundRect">
            <a:avLst>
              <a:gd name="adj" fmla="val 1509"/>
            </a:avLst>
          </a:prstGeom>
          <a:solidFill>
            <a:srgbClr val="FFFFFF"/>
          </a:solidFill>
          <a:ln w="12700">
            <a:solidFill>
              <a:srgbClr val="E2E8EE"/>
            </a:solidFill>
            <a:prstDash val="solid"/>
          </a:ln>
        </p:spPr>
      </p:sp>
      <p:sp>
        <p:nvSpPr>
          <p:cNvPr id="18" name="Text 16"/>
          <p:cNvSpPr/>
          <p:nvPr/>
        </p:nvSpPr>
        <p:spPr>
          <a:xfrm>
            <a:off x="6400800" y="1536192"/>
            <a:ext cx="5074920" cy="274320"/>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WITH  ·  THE BETTER WAY</a:t>
            </a:r>
            <a:endParaRPr lang="en-US" sz="1300" dirty="0"/>
          </a:p>
        </p:txBody>
      </p:sp>
      <p:sp>
        <p:nvSpPr>
          <p:cNvPr id="19" name="Shape 17"/>
          <p:cNvSpPr/>
          <p:nvPr/>
        </p:nvSpPr>
        <p:spPr>
          <a:xfrm>
            <a:off x="6373368" y="1920240"/>
            <a:ext cx="5120640" cy="2788920"/>
          </a:xfrm>
          <a:prstGeom prst="roundRect">
            <a:avLst>
              <a:gd name="adj" fmla="val 1967"/>
            </a:avLst>
          </a:prstGeom>
          <a:solidFill>
            <a:srgbClr val="E7F2FD"/>
          </a:solidFill>
          <a:ln w="12700">
            <a:solidFill>
              <a:srgbClr val="D3E4F6"/>
            </a:solidFill>
            <a:prstDash val="solid"/>
          </a:ln>
        </p:spPr>
      </p:sp>
      <p:sp>
        <p:nvSpPr>
          <p:cNvPr id="20" name="Text 18"/>
          <p:cNvSpPr/>
          <p:nvPr/>
        </p:nvSpPr>
        <p:spPr>
          <a:xfrm>
            <a:off x="6537960" y="2029968"/>
            <a:ext cx="4791456" cy="2569464"/>
          </a:xfrm>
          <a:prstGeom prst="rect">
            <a:avLst/>
          </a:prstGeom>
          <a:noFill/>
          <a:ln/>
        </p:spPr>
        <p:txBody>
          <a:bodyPr wrap="square" lIns="0" tIns="0" rIns="0" bIns="0" rtlCol="0" anchor="t"/>
          <a:lstStyle/>
          <a:p>
            <a:pPr indent="0" marL="0">
              <a:buNone/>
            </a:pPr>
            <a:r>
              <a:rPr lang="en-US" sz="1400" dirty="0">
                <a:solidFill>
                  <a:srgbClr val="1A2B3C"/>
                </a:solidFill>
                <a:latin typeface="Consolas" pitchFamily="34" charset="0"/>
                <a:ea typeface="Consolas" pitchFamily="34" charset="-122"/>
                <a:cs typeface="Consolas" pitchFamily="34" charset="-120"/>
              </a:rPr>
              <a:t>def do_the_job():</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    print("line one")</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    print("line two")</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    print("line three")</a:t>
            </a:r>
            <a:endParaRPr lang="en-US" sz="1400" dirty="0"/>
          </a:p>
          <a:p>
            <a:pPr indent="0" marL="0">
              <a:buNone/>
            </a:pP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do_the_job()</a:t>
            </a:r>
            <a:endParaRPr lang="en-US" sz="1400" dirty="0"/>
          </a:p>
        </p:txBody>
      </p:sp>
      <p:sp>
        <p:nvSpPr>
          <p:cNvPr id="21" name="Text 19"/>
          <p:cNvSpPr/>
          <p:nvPr/>
        </p:nvSpPr>
        <p:spPr>
          <a:xfrm>
            <a:off x="6400800" y="4846320"/>
            <a:ext cx="5074920" cy="109728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Name the gain. One place to change. A name that tells the next reader the purpose.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N  ·  Lesson Title</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11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Designed with Purpose</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71600"/>
            <a:ext cx="11247120" cy="2148840"/>
          </a:xfrm>
          <a:prstGeom prst="roundRect">
            <a:avLst>
              <a:gd name="adj" fmla="val 3404"/>
            </a:avLst>
          </a:prstGeom>
          <a:solidFill>
            <a:srgbClr val="FFF9F0"/>
          </a:solidFill>
          <a:ln w="12700">
            <a:solidFill>
              <a:srgbClr val="E8D9B8"/>
            </a:solidFill>
            <a:prstDash val="solid"/>
          </a:ln>
        </p:spPr>
      </p:sp>
      <p:sp>
        <p:nvSpPr>
          <p:cNvPr id="13" name="Text 11"/>
          <p:cNvSpPr/>
          <p:nvPr/>
        </p:nvSpPr>
        <p:spPr>
          <a:xfrm>
            <a:off x="731520" y="1554480"/>
            <a:ext cx="10698480" cy="1234440"/>
          </a:xfrm>
          <a:prstGeom prst="rect">
            <a:avLst/>
          </a:prstGeom>
          <a:noFill/>
          <a:ln/>
        </p:spPr>
        <p:txBody>
          <a:bodyPr wrap="square" lIns="0" tIns="0" rIns="0" bIns="0" rtlCol="0" anchor="ctr"/>
          <a:lstStyle/>
          <a:p>
            <a:pPr indent="0" marL="0">
              <a:buNone/>
            </a:pPr>
            <a:r>
              <a:rPr lang="en-US" sz="2000" i="1" dirty="0">
                <a:solidFill>
                  <a:srgbClr val="0D3358"/>
                </a:solidFill>
                <a:latin typeface="Calibri" pitchFamily="34" charset="0"/>
                <a:ea typeface="Calibri" pitchFamily="34" charset="-122"/>
                <a:cs typeface="Calibri" pitchFamily="34" charset="-120"/>
              </a:rPr>
              <a:t>Place the primary NKJV verse here in italic. Keep it long enough to carry the idea and short enough to be read aloud without rushing.</a:t>
            </a:r>
            <a:endParaRPr lang="en-US" sz="2000" dirty="0"/>
          </a:p>
        </p:txBody>
      </p:sp>
      <p:sp>
        <p:nvSpPr>
          <p:cNvPr id="14" name="Text 12"/>
          <p:cNvSpPr/>
          <p:nvPr/>
        </p:nvSpPr>
        <p:spPr>
          <a:xfrm>
            <a:off x="731520" y="2880360"/>
            <a:ext cx="10698480" cy="365760"/>
          </a:xfrm>
          <a:prstGeom prst="rect">
            <a:avLst/>
          </a:prstGeom>
          <a:noFill/>
          <a:ln/>
        </p:spPr>
        <p:txBody>
          <a:bodyPr wrap="square" lIns="0" tIns="0" rIns="0" bIns="0" rtlCol="0" anchor="ctr"/>
          <a:lstStyle/>
          <a:p>
            <a:pPr indent="0" marL="0">
              <a:buNone/>
            </a:pPr>
            <a:r>
              <a:rPr lang="en-US" sz="1400" b="1" dirty="0">
                <a:solidFill>
                  <a:srgbClr val="1A7070"/>
                </a:solidFill>
                <a:latin typeface="Calibri" pitchFamily="34" charset="0"/>
                <a:ea typeface="Calibri" pitchFamily="34" charset="-122"/>
                <a:cs typeface="Calibri" pitchFamily="34" charset="-120"/>
              </a:rPr>
              <a:t>Book Chapter:Verse  ·  NKJV</a:t>
            </a:r>
            <a:endParaRPr lang="en-US" sz="1400" dirty="0"/>
          </a:p>
        </p:txBody>
      </p:sp>
      <p:sp>
        <p:nvSpPr>
          <p:cNvPr id="15" name="Shape 13"/>
          <p:cNvSpPr/>
          <p:nvPr/>
        </p:nvSpPr>
        <p:spPr>
          <a:xfrm>
            <a:off x="457200" y="3703320"/>
            <a:ext cx="5532120" cy="2468880"/>
          </a:xfrm>
          <a:prstGeom prst="roundRect">
            <a:avLst>
              <a:gd name="adj" fmla="val 2963"/>
            </a:avLst>
          </a:prstGeom>
          <a:solidFill>
            <a:srgbClr val="FFF9F0"/>
          </a:solidFill>
          <a:ln w="12700">
            <a:solidFill>
              <a:srgbClr val="E8D9B8"/>
            </a:solidFill>
            <a:prstDash val="solid"/>
          </a:ln>
        </p:spPr>
      </p:sp>
      <p:sp>
        <p:nvSpPr>
          <p:cNvPr id="16" name="Text 14"/>
          <p:cNvSpPr/>
          <p:nvPr/>
        </p:nvSpPr>
        <p:spPr>
          <a:xfrm>
            <a:off x="685800" y="3886200"/>
            <a:ext cx="5074920" cy="1554480"/>
          </a:xfrm>
          <a:prstGeom prst="rect">
            <a:avLst/>
          </a:prstGeom>
          <a:noFill/>
          <a:ln/>
        </p:spPr>
        <p:txBody>
          <a:bodyPr wrap="square" lIns="0" tIns="0" rIns="0" bIns="0" rtlCol="0" anchor="ctr"/>
          <a:lstStyle/>
          <a:p>
            <a:pPr indent="0" marL="0">
              <a:buNone/>
            </a:pPr>
            <a:r>
              <a:rPr lang="en-US" sz="1600" i="1" dirty="0">
                <a:solidFill>
                  <a:srgbClr val="0D3358"/>
                </a:solidFill>
                <a:latin typeface="Calibri" pitchFamily="34" charset="0"/>
                <a:ea typeface="Calibri" pitchFamily="34" charset="-122"/>
                <a:cs typeface="Calibri" pitchFamily="34" charset="-120"/>
              </a:rPr>
              <a:t>Optional second NKJV passage. Use this card when two texts serve the same lesson theme. Otherwise replace this card with more teaching copy.</a:t>
            </a:r>
            <a:endParaRPr lang="en-US" sz="1600" dirty="0"/>
          </a:p>
        </p:txBody>
      </p:sp>
      <p:sp>
        <p:nvSpPr>
          <p:cNvPr id="17" name="Text 15"/>
          <p:cNvSpPr/>
          <p:nvPr/>
        </p:nvSpPr>
        <p:spPr>
          <a:xfrm>
            <a:off x="685800" y="5532120"/>
            <a:ext cx="5074920" cy="365760"/>
          </a:xfrm>
          <a:prstGeom prst="rect">
            <a:avLst/>
          </a:prstGeom>
          <a:noFill/>
          <a:ln/>
        </p:spPr>
        <p:txBody>
          <a:bodyPr wrap="square" lIns="0" tIns="0" rIns="0" bIns="0" rtlCol="0" anchor="ctr"/>
          <a:lstStyle/>
          <a:p>
            <a:pPr indent="0" marL="0">
              <a:buNone/>
            </a:pPr>
            <a:r>
              <a:rPr lang="en-US" sz="1400" b="1" dirty="0">
                <a:solidFill>
                  <a:srgbClr val="1A7070"/>
                </a:solidFill>
                <a:latin typeface="Calibri" pitchFamily="34" charset="0"/>
                <a:ea typeface="Calibri" pitchFamily="34" charset="-122"/>
                <a:cs typeface="Calibri" pitchFamily="34" charset="-120"/>
              </a:rPr>
              <a:t>Book Chapter:Verse  ·  NKJV</a:t>
            </a:r>
            <a:endParaRPr lang="en-US" sz="1400" dirty="0"/>
          </a:p>
        </p:txBody>
      </p:sp>
      <p:sp>
        <p:nvSpPr>
          <p:cNvPr id="18" name="Shape 16"/>
          <p:cNvSpPr/>
          <p:nvPr/>
        </p:nvSpPr>
        <p:spPr>
          <a:xfrm>
            <a:off x="6172200" y="3703320"/>
            <a:ext cx="5532120" cy="2468880"/>
          </a:xfrm>
          <a:prstGeom prst="roundRect">
            <a:avLst>
              <a:gd name="adj" fmla="val 2963"/>
            </a:avLst>
          </a:prstGeom>
          <a:solidFill>
            <a:srgbClr val="FFFFFF"/>
          </a:solidFill>
          <a:ln w="12700">
            <a:solidFill>
              <a:srgbClr val="E2E8EE"/>
            </a:solidFill>
            <a:prstDash val="solid"/>
          </a:ln>
        </p:spPr>
      </p:sp>
      <p:sp>
        <p:nvSpPr>
          <p:cNvPr id="19" name="Text 17"/>
          <p:cNvSpPr/>
          <p:nvPr/>
        </p:nvSpPr>
        <p:spPr>
          <a:xfrm>
            <a:off x="6400800" y="3886200"/>
            <a:ext cx="5074920" cy="320040"/>
          </a:xfrm>
          <a:prstGeom prst="rect">
            <a:avLst/>
          </a:prstGeom>
          <a:noFill/>
          <a:ln/>
        </p:spPr>
        <p:txBody>
          <a:bodyPr wrap="square" lIns="0" tIns="0" rIns="0" bIns="0" rtlCol="0" anchor="ctr"/>
          <a:lstStyle/>
          <a:p>
            <a:pPr indent="0" marL="0">
              <a:buNone/>
            </a:pPr>
            <a:r>
              <a:rPr lang="en-US" sz="1400" b="1" dirty="0">
                <a:solidFill>
                  <a:srgbClr val="1A7070"/>
                </a:solidFill>
                <a:latin typeface="Calibri" pitchFamily="34" charset="0"/>
                <a:ea typeface="Calibri" pitchFamily="34" charset="-122"/>
                <a:cs typeface="Calibri" pitchFamily="34" charset="-120"/>
              </a:rPr>
              <a:t>Worldview connection</a:t>
            </a:r>
            <a:endParaRPr lang="en-US" sz="1400" dirty="0"/>
          </a:p>
        </p:txBody>
      </p:sp>
      <p:sp>
        <p:nvSpPr>
          <p:cNvPr id="20" name="Text 18"/>
          <p:cNvSpPr/>
          <p:nvPr/>
        </p:nvSpPr>
        <p:spPr>
          <a:xfrm>
            <a:off x="6400800" y="4251960"/>
            <a:ext cx="5074920" cy="169164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Write the bridge in plain speech. How does this passage name purpose, order, gifts, diligence, or truth-telling in the work on the other slides? Do not force a verse onto a topic it does not address.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N  ·  Lesson Title</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12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A Mistake to Watch For</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71600"/>
            <a:ext cx="11247120" cy="1234440"/>
          </a:xfrm>
          <a:prstGeom prst="roundRect">
            <a:avLst>
              <a:gd name="adj" fmla="val 5926"/>
            </a:avLst>
          </a:prstGeom>
          <a:solidFill>
            <a:srgbClr val="F8EBE7"/>
          </a:solidFill>
          <a:ln w="12700">
            <a:solidFill>
              <a:srgbClr val="E8C8BF"/>
            </a:solidFill>
            <a:prstDash val="solid"/>
          </a:ln>
        </p:spPr>
      </p:sp>
      <p:sp>
        <p:nvSpPr>
          <p:cNvPr id="13" name="Shape 11"/>
          <p:cNvSpPr/>
          <p:nvPr/>
        </p:nvSpPr>
        <p:spPr>
          <a:xfrm>
            <a:off x="457200" y="1371600"/>
            <a:ext cx="109728" cy="1234440"/>
          </a:xfrm>
          <a:prstGeom prst="rect">
            <a:avLst/>
          </a:prstGeom>
          <a:solidFill>
            <a:srgbClr val="A64936"/>
          </a:solidFill>
          <a:ln w="12700">
            <a:solidFill>
              <a:srgbClr val="A64936"/>
            </a:solidFill>
            <a:prstDash val="solid"/>
          </a:ln>
        </p:spPr>
      </p:sp>
      <p:sp>
        <p:nvSpPr>
          <p:cNvPr id="14" name="Text 12"/>
          <p:cNvSpPr/>
          <p:nvPr/>
        </p:nvSpPr>
        <p:spPr>
          <a:xfrm>
            <a:off x="749808" y="1517904"/>
            <a:ext cx="10698480" cy="347472"/>
          </a:xfrm>
          <a:prstGeom prst="rect">
            <a:avLst/>
          </a:prstGeom>
          <a:noFill/>
          <a:ln/>
        </p:spPr>
        <p:txBody>
          <a:bodyPr wrap="square" lIns="0" tIns="0" rIns="0" bIns="0" rtlCol="0" anchor="ctr"/>
          <a:lstStyle/>
          <a:p>
            <a:pPr indent="0" marL="0">
              <a:buNone/>
            </a:pPr>
            <a:r>
              <a:rPr lang="en-US" sz="2000" b="1" dirty="0">
                <a:solidFill>
                  <a:srgbClr val="A64936"/>
                </a:solidFill>
                <a:latin typeface="Calibri" pitchFamily="34" charset="0"/>
                <a:ea typeface="Calibri" pitchFamily="34" charset="-122"/>
                <a:cs typeface="Calibri" pitchFamily="34" charset="-120"/>
              </a:rPr>
              <a:t>Name the mistake in one line.</a:t>
            </a:r>
            <a:endParaRPr lang="en-US" sz="2000" dirty="0"/>
          </a:p>
        </p:txBody>
      </p:sp>
      <p:sp>
        <p:nvSpPr>
          <p:cNvPr id="15" name="Text 13"/>
          <p:cNvSpPr/>
          <p:nvPr/>
        </p:nvSpPr>
        <p:spPr>
          <a:xfrm>
            <a:off x="749808" y="1920240"/>
            <a:ext cx="10698480" cy="475488"/>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One sentence on why beginners make it. Keep the tone firm and kind. This is a warning-box, not a scold.</a:t>
            </a:r>
            <a:endParaRPr lang="en-US" sz="1600" dirty="0"/>
          </a:p>
        </p:txBody>
      </p:sp>
      <p:sp>
        <p:nvSpPr>
          <p:cNvPr id="16" name="Shape 14"/>
          <p:cNvSpPr/>
          <p:nvPr/>
        </p:nvSpPr>
        <p:spPr>
          <a:xfrm>
            <a:off x="457200" y="2816352"/>
            <a:ext cx="5532120" cy="3383280"/>
          </a:xfrm>
          <a:prstGeom prst="roundRect">
            <a:avLst>
              <a:gd name="adj" fmla="val 2162"/>
            </a:avLst>
          </a:prstGeom>
          <a:solidFill>
            <a:srgbClr val="FFFFFF"/>
          </a:solidFill>
          <a:ln w="12700">
            <a:solidFill>
              <a:srgbClr val="E2E8EE"/>
            </a:solidFill>
            <a:prstDash val="solid"/>
          </a:ln>
        </p:spPr>
      </p:sp>
      <p:sp>
        <p:nvSpPr>
          <p:cNvPr id="17" name="Text 15"/>
          <p:cNvSpPr/>
          <p:nvPr/>
        </p:nvSpPr>
        <p:spPr>
          <a:xfrm>
            <a:off x="685800" y="2980944"/>
            <a:ext cx="5074920" cy="274320"/>
          </a:xfrm>
          <a:prstGeom prst="rect">
            <a:avLst/>
          </a:prstGeom>
          <a:noFill/>
          <a:ln/>
        </p:spPr>
        <p:txBody>
          <a:bodyPr wrap="square" lIns="0" tIns="0" rIns="0" bIns="0" rtlCol="0" anchor="ctr"/>
          <a:lstStyle/>
          <a:p>
            <a:pPr indent="0" marL="0">
              <a:buNone/>
            </a:pPr>
            <a:r>
              <a:rPr lang="en-US" sz="1300" b="1" dirty="0">
                <a:solidFill>
                  <a:srgbClr val="A64936"/>
                </a:solidFill>
                <a:latin typeface="Calibri" pitchFamily="34" charset="0"/>
                <a:ea typeface="Calibri" pitchFamily="34" charset="-122"/>
                <a:cs typeface="Calibri" pitchFamily="34" charset="-120"/>
              </a:rPr>
              <a:t>WHAT IT LOOKS LIKE</a:t>
            </a:r>
            <a:endParaRPr lang="en-US" sz="1300" dirty="0"/>
          </a:p>
        </p:txBody>
      </p:sp>
      <p:sp>
        <p:nvSpPr>
          <p:cNvPr id="18" name="Shape 16"/>
          <p:cNvSpPr/>
          <p:nvPr/>
        </p:nvSpPr>
        <p:spPr>
          <a:xfrm>
            <a:off x="658368" y="3364992"/>
            <a:ext cx="5120640" cy="2560320"/>
          </a:xfrm>
          <a:prstGeom prst="roundRect">
            <a:avLst>
              <a:gd name="adj" fmla="val 2143"/>
            </a:avLst>
          </a:prstGeom>
          <a:solidFill>
            <a:srgbClr val="E7F2FD"/>
          </a:solidFill>
          <a:ln w="12700">
            <a:solidFill>
              <a:srgbClr val="D3E4F6"/>
            </a:solidFill>
            <a:prstDash val="solid"/>
          </a:ln>
        </p:spPr>
      </p:sp>
      <p:sp>
        <p:nvSpPr>
          <p:cNvPr id="19" name="Text 17"/>
          <p:cNvSpPr/>
          <p:nvPr/>
        </p:nvSpPr>
        <p:spPr>
          <a:xfrm>
            <a:off x="822960" y="3474720"/>
            <a:ext cx="4791456" cy="2340864"/>
          </a:xfrm>
          <a:prstGeom prst="rect">
            <a:avLst/>
          </a:prstGeom>
          <a:noFill/>
          <a:ln/>
        </p:spPr>
        <p:txBody>
          <a:bodyPr wrap="square" lIns="0" tIns="0" rIns="0" bIns="0" rtlCol="0" anchor="t"/>
          <a:lstStyle/>
          <a:p>
            <a:pPr indent="0" marL="0">
              <a:buNone/>
            </a:pPr>
            <a:r>
              <a:rPr lang="en-US" sz="1400" dirty="0">
                <a:solidFill>
                  <a:srgbClr val="1A2B3C"/>
                </a:solidFill>
                <a:latin typeface="Consolas" pitchFamily="34" charset="0"/>
                <a:ea typeface="Consolas" pitchFamily="34" charset="-122"/>
                <a:cs typeface="Consolas" pitchFamily="34" charset="-120"/>
              </a:rPr>
              <a:t># broken or confusing sample</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wrong_pattern()</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another_wrong_line()</a:t>
            </a:r>
            <a:endParaRPr lang="en-US" sz="1400" dirty="0"/>
          </a:p>
          <a:p>
            <a:pPr indent="0" marL="0">
              <a:buNone/>
            </a:pP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 the symptom the student sees</a:t>
            </a:r>
            <a:endParaRPr lang="en-US" sz="1400" dirty="0"/>
          </a:p>
        </p:txBody>
      </p:sp>
      <p:sp>
        <p:nvSpPr>
          <p:cNvPr id="20" name="Shape 18"/>
          <p:cNvSpPr/>
          <p:nvPr/>
        </p:nvSpPr>
        <p:spPr>
          <a:xfrm>
            <a:off x="6172200" y="2816352"/>
            <a:ext cx="5532120" cy="3383280"/>
          </a:xfrm>
          <a:prstGeom prst="roundRect">
            <a:avLst>
              <a:gd name="adj" fmla="val 2162"/>
            </a:avLst>
          </a:prstGeom>
          <a:solidFill>
            <a:srgbClr val="FFFFFF"/>
          </a:solidFill>
          <a:ln w="12700">
            <a:solidFill>
              <a:srgbClr val="E2E8EE"/>
            </a:solidFill>
            <a:prstDash val="solid"/>
          </a:ln>
        </p:spPr>
      </p:sp>
      <p:sp>
        <p:nvSpPr>
          <p:cNvPr id="21" name="Text 19"/>
          <p:cNvSpPr/>
          <p:nvPr/>
        </p:nvSpPr>
        <p:spPr>
          <a:xfrm>
            <a:off x="6400800" y="2980944"/>
            <a:ext cx="5074920" cy="274320"/>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HOW TO REPAIR IT</a:t>
            </a:r>
            <a:endParaRPr lang="en-US" sz="1300" dirty="0"/>
          </a:p>
        </p:txBody>
      </p:sp>
      <p:sp>
        <p:nvSpPr>
          <p:cNvPr id="22" name="Shape 20"/>
          <p:cNvSpPr/>
          <p:nvPr/>
        </p:nvSpPr>
        <p:spPr>
          <a:xfrm>
            <a:off x="6373368" y="3364992"/>
            <a:ext cx="5120640" cy="2560320"/>
          </a:xfrm>
          <a:prstGeom prst="roundRect">
            <a:avLst>
              <a:gd name="adj" fmla="val 2143"/>
            </a:avLst>
          </a:prstGeom>
          <a:solidFill>
            <a:srgbClr val="E7F2FD"/>
          </a:solidFill>
          <a:ln w="12700">
            <a:solidFill>
              <a:srgbClr val="D3E4F6"/>
            </a:solidFill>
            <a:prstDash val="solid"/>
          </a:ln>
        </p:spPr>
      </p:sp>
      <p:sp>
        <p:nvSpPr>
          <p:cNvPr id="23" name="Text 21"/>
          <p:cNvSpPr/>
          <p:nvPr/>
        </p:nvSpPr>
        <p:spPr>
          <a:xfrm>
            <a:off x="6537960" y="3474720"/>
            <a:ext cx="4791456" cy="2340864"/>
          </a:xfrm>
          <a:prstGeom prst="rect">
            <a:avLst/>
          </a:prstGeom>
          <a:noFill/>
          <a:ln/>
        </p:spPr>
        <p:txBody>
          <a:bodyPr wrap="square" lIns="0" tIns="0" rIns="0" bIns="0" rtlCol="0" anchor="t"/>
          <a:lstStyle/>
          <a:p>
            <a:pPr indent="0" marL="0">
              <a:buNone/>
            </a:pPr>
            <a:r>
              <a:rPr lang="en-US" sz="1400" dirty="0">
                <a:solidFill>
                  <a:srgbClr val="1A2B3C"/>
                </a:solidFill>
                <a:latin typeface="Consolas" pitchFamily="34" charset="0"/>
                <a:ea typeface="Consolas" pitchFamily="34" charset="-122"/>
                <a:cs typeface="Consolas" pitchFamily="34" charset="-120"/>
              </a:rPr>
              <a:t># repaired sample</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right_pattern()</a:t>
            </a: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another_right_line()</a:t>
            </a:r>
            <a:endParaRPr lang="en-US" sz="1400" dirty="0"/>
          </a:p>
          <a:p>
            <a:pPr indent="0" marL="0">
              <a:buNone/>
            </a:pPr>
            <a:endParaRPr lang="en-US" sz="1400" dirty="0"/>
          </a:p>
          <a:p>
            <a:pPr indent="0" marL="0">
              <a:buNone/>
            </a:pPr>
            <a:r>
              <a:rPr lang="en-US" sz="1400" dirty="0">
                <a:solidFill>
                  <a:srgbClr val="1A2B3C"/>
                </a:solidFill>
                <a:latin typeface="Consolas" pitchFamily="34" charset="0"/>
                <a:ea typeface="Consolas" pitchFamily="34" charset="-122"/>
                <a:cs typeface="Consolas" pitchFamily="34" charset="-120"/>
              </a:rPr>
              <a:t># the result the student should see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N  ·  Lesson Title</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13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Working Canvas</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Text 10"/>
          <p:cNvSpPr/>
          <p:nvPr/>
        </p:nvSpPr>
        <p:spPr>
          <a:xfrm>
            <a:off x="457200" y="1298448"/>
            <a:ext cx="11247120" cy="64008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Use this slide when the lesson needs one more teaching page. Duplicate it. Keep the header, gold rule, title size, and footer. Fill the cards below or delete them and drop in another pattern from this file.</a:t>
            </a:r>
            <a:endParaRPr lang="en-US" sz="1600" dirty="0"/>
          </a:p>
        </p:txBody>
      </p:sp>
      <p:sp>
        <p:nvSpPr>
          <p:cNvPr id="13" name="Shape 11"/>
          <p:cNvSpPr/>
          <p:nvPr/>
        </p:nvSpPr>
        <p:spPr>
          <a:xfrm>
            <a:off x="457200" y="2084832"/>
            <a:ext cx="3675888" cy="4114800"/>
          </a:xfrm>
          <a:prstGeom prst="roundRect">
            <a:avLst>
              <a:gd name="adj" fmla="val 1990"/>
            </a:avLst>
          </a:prstGeom>
          <a:solidFill>
            <a:srgbClr val="FFFFFF"/>
          </a:solidFill>
          <a:ln w="12700">
            <a:solidFill>
              <a:srgbClr val="E2E8EE"/>
            </a:solidFill>
            <a:prstDash val="solid"/>
          </a:ln>
        </p:spPr>
      </p:sp>
      <p:sp>
        <p:nvSpPr>
          <p:cNvPr id="14" name="Shape 12"/>
          <p:cNvSpPr/>
          <p:nvPr/>
        </p:nvSpPr>
        <p:spPr>
          <a:xfrm>
            <a:off x="457200" y="2084832"/>
            <a:ext cx="109728" cy="4114800"/>
          </a:xfrm>
          <a:prstGeom prst="rect">
            <a:avLst/>
          </a:prstGeom>
          <a:solidFill>
            <a:srgbClr val="1A7070"/>
          </a:solidFill>
          <a:ln w="12700">
            <a:solidFill>
              <a:srgbClr val="1A7070"/>
            </a:solidFill>
            <a:prstDash val="solid"/>
          </a:ln>
        </p:spPr>
      </p:sp>
      <p:sp>
        <p:nvSpPr>
          <p:cNvPr id="15" name="Text 13"/>
          <p:cNvSpPr/>
          <p:nvPr/>
        </p:nvSpPr>
        <p:spPr>
          <a:xfrm>
            <a:off x="713232" y="2267712"/>
            <a:ext cx="3246120" cy="292608"/>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TEACHING POINT</a:t>
            </a:r>
            <a:endParaRPr lang="en-US" sz="1300" dirty="0"/>
          </a:p>
        </p:txBody>
      </p:sp>
      <p:sp>
        <p:nvSpPr>
          <p:cNvPr id="16" name="Text 14"/>
          <p:cNvSpPr/>
          <p:nvPr/>
        </p:nvSpPr>
        <p:spPr>
          <a:xfrm>
            <a:off x="713232" y="2651760"/>
            <a:ext cx="3246120" cy="324612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Write the claim the student should remember.</a:t>
            </a:r>
            <a:endParaRPr lang="en-US" sz="1600" dirty="0"/>
          </a:p>
        </p:txBody>
      </p:sp>
      <p:sp>
        <p:nvSpPr>
          <p:cNvPr id="17" name="Shape 15"/>
          <p:cNvSpPr/>
          <p:nvPr/>
        </p:nvSpPr>
        <p:spPr>
          <a:xfrm>
            <a:off x="4297680" y="2084832"/>
            <a:ext cx="3675888" cy="4114800"/>
          </a:xfrm>
          <a:prstGeom prst="roundRect">
            <a:avLst>
              <a:gd name="adj" fmla="val 1990"/>
            </a:avLst>
          </a:prstGeom>
          <a:solidFill>
            <a:srgbClr val="FFFFFF"/>
          </a:solidFill>
          <a:ln w="12700">
            <a:solidFill>
              <a:srgbClr val="E2E8EE"/>
            </a:solidFill>
            <a:prstDash val="solid"/>
          </a:ln>
        </p:spPr>
      </p:sp>
      <p:sp>
        <p:nvSpPr>
          <p:cNvPr id="18" name="Shape 16"/>
          <p:cNvSpPr/>
          <p:nvPr/>
        </p:nvSpPr>
        <p:spPr>
          <a:xfrm>
            <a:off x="4297680" y="2084832"/>
            <a:ext cx="109728" cy="4114800"/>
          </a:xfrm>
          <a:prstGeom prst="rect">
            <a:avLst/>
          </a:prstGeom>
          <a:solidFill>
            <a:srgbClr val="1A7070"/>
          </a:solidFill>
          <a:ln w="12700">
            <a:solidFill>
              <a:srgbClr val="1A7070"/>
            </a:solidFill>
            <a:prstDash val="solid"/>
          </a:ln>
        </p:spPr>
      </p:sp>
      <p:sp>
        <p:nvSpPr>
          <p:cNvPr id="19" name="Text 17"/>
          <p:cNvSpPr/>
          <p:nvPr/>
        </p:nvSpPr>
        <p:spPr>
          <a:xfrm>
            <a:off x="4553712" y="2267712"/>
            <a:ext cx="3246120" cy="292608"/>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EXAMPLE</a:t>
            </a:r>
            <a:endParaRPr lang="en-US" sz="1300" dirty="0"/>
          </a:p>
        </p:txBody>
      </p:sp>
      <p:sp>
        <p:nvSpPr>
          <p:cNvPr id="20" name="Text 18"/>
          <p:cNvSpPr/>
          <p:nvPr/>
        </p:nvSpPr>
        <p:spPr>
          <a:xfrm>
            <a:off x="4553712" y="2651760"/>
            <a:ext cx="3246120" cy="324612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Write the example, the trace, or the short demo.</a:t>
            </a:r>
            <a:endParaRPr lang="en-US" sz="1600" dirty="0"/>
          </a:p>
        </p:txBody>
      </p:sp>
      <p:sp>
        <p:nvSpPr>
          <p:cNvPr id="21" name="Shape 19"/>
          <p:cNvSpPr/>
          <p:nvPr/>
        </p:nvSpPr>
        <p:spPr>
          <a:xfrm>
            <a:off x="8138160" y="2084832"/>
            <a:ext cx="3675888" cy="4114800"/>
          </a:xfrm>
          <a:prstGeom prst="roundRect">
            <a:avLst>
              <a:gd name="adj" fmla="val 1990"/>
            </a:avLst>
          </a:prstGeom>
          <a:solidFill>
            <a:srgbClr val="FFFFFF"/>
          </a:solidFill>
          <a:ln w="12700">
            <a:solidFill>
              <a:srgbClr val="E2E8EE"/>
            </a:solidFill>
            <a:prstDash val="solid"/>
          </a:ln>
        </p:spPr>
      </p:sp>
      <p:sp>
        <p:nvSpPr>
          <p:cNvPr id="22" name="Shape 20"/>
          <p:cNvSpPr/>
          <p:nvPr/>
        </p:nvSpPr>
        <p:spPr>
          <a:xfrm>
            <a:off x="8138160" y="2084832"/>
            <a:ext cx="109728" cy="4114800"/>
          </a:xfrm>
          <a:prstGeom prst="rect">
            <a:avLst/>
          </a:prstGeom>
          <a:solidFill>
            <a:srgbClr val="D08F3C"/>
          </a:solidFill>
          <a:ln w="12700">
            <a:solidFill>
              <a:srgbClr val="D08F3C"/>
            </a:solidFill>
            <a:prstDash val="solid"/>
          </a:ln>
        </p:spPr>
      </p:sp>
      <p:sp>
        <p:nvSpPr>
          <p:cNvPr id="23" name="Text 21"/>
          <p:cNvSpPr/>
          <p:nvPr/>
        </p:nvSpPr>
        <p:spPr>
          <a:xfrm>
            <a:off x="8394192" y="2267712"/>
            <a:ext cx="3246120" cy="292608"/>
          </a:xfrm>
          <a:prstGeom prst="rect">
            <a:avLst/>
          </a:prstGeom>
          <a:noFill/>
          <a:ln/>
        </p:spPr>
        <p:txBody>
          <a:bodyPr wrap="square" lIns="0" tIns="0" rIns="0" bIns="0" rtlCol="0" anchor="ctr"/>
          <a:lstStyle/>
          <a:p>
            <a:pPr indent="0" marL="0">
              <a:buNone/>
            </a:pPr>
            <a:r>
              <a:rPr lang="en-US" sz="1300" b="1" dirty="0">
                <a:solidFill>
                  <a:srgbClr val="D08F3C"/>
                </a:solidFill>
                <a:latin typeface="Calibri" pitchFamily="34" charset="0"/>
                <a:ea typeface="Calibri" pitchFamily="34" charset="-122"/>
                <a:cs typeface="Calibri" pitchFamily="34" charset="-120"/>
              </a:rPr>
              <a:t>CHECK</a:t>
            </a:r>
            <a:endParaRPr lang="en-US" sz="1300" dirty="0"/>
          </a:p>
        </p:txBody>
      </p:sp>
      <p:sp>
        <p:nvSpPr>
          <p:cNvPr id="24" name="Text 22"/>
          <p:cNvSpPr/>
          <p:nvPr/>
        </p:nvSpPr>
        <p:spPr>
          <a:xfrm>
            <a:off x="8394192" y="2651760"/>
            <a:ext cx="3246120" cy="324612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Write the question you will ask before you advance.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N  ·  Lesson Title</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14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Summary</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25880"/>
            <a:ext cx="5669280" cy="1298448"/>
          </a:xfrm>
          <a:prstGeom prst="roundRect">
            <a:avLst>
              <a:gd name="adj" fmla="val 5634"/>
            </a:avLst>
          </a:prstGeom>
          <a:solidFill>
            <a:srgbClr val="FFFFFF"/>
          </a:solidFill>
          <a:ln w="12700">
            <a:solidFill>
              <a:srgbClr val="E2E8EE"/>
            </a:solidFill>
            <a:prstDash val="solid"/>
          </a:ln>
        </p:spPr>
      </p:sp>
      <p:sp>
        <p:nvSpPr>
          <p:cNvPr id="13" name="Shape 11"/>
          <p:cNvSpPr/>
          <p:nvPr/>
        </p:nvSpPr>
        <p:spPr>
          <a:xfrm>
            <a:off x="457200" y="1325880"/>
            <a:ext cx="109728" cy="1298448"/>
          </a:xfrm>
          <a:prstGeom prst="rect">
            <a:avLst/>
          </a:prstGeom>
          <a:solidFill>
            <a:srgbClr val="1A7070"/>
          </a:solidFill>
          <a:ln w="12700">
            <a:solidFill>
              <a:srgbClr val="1A7070"/>
            </a:solidFill>
            <a:prstDash val="solid"/>
          </a:ln>
        </p:spPr>
      </p:sp>
      <p:sp>
        <p:nvSpPr>
          <p:cNvPr id="14" name="Text 12"/>
          <p:cNvSpPr/>
          <p:nvPr/>
        </p:nvSpPr>
        <p:spPr>
          <a:xfrm>
            <a:off x="749808" y="145389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First takeaway title.</a:t>
            </a:r>
            <a:endParaRPr lang="en-US" sz="1600" dirty="0"/>
          </a:p>
        </p:txBody>
      </p:sp>
      <p:sp>
        <p:nvSpPr>
          <p:cNvPr id="15" name="Text 13"/>
          <p:cNvSpPr/>
          <p:nvPr/>
        </p:nvSpPr>
        <p:spPr>
          <a:xfrm>
            <a:off x="749808" y="183794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One sentence that restates the first idea in student language.</a:t>
            </a:r>
            <a:endParaRPr lang="en-US" sz="1400" dirty="0"/>
          </a:p>
        </p:txBody>
      </p:sp>
      <p:sp>
        <p:nvSpPr>
          <p:cNvPr id="16" name="Shape 14"/>
          <p:cNvSpPr/>
          <p:nvPr/>
        </p:nvSpPr>
        <p:spPr>
          <a:xfrm>
            <a:off x="6309360" y="1325880"/>
            <a:ext cx="5669280" cy="1298448"/>
          </a:xfrm>
          <a:prstGeom prst="roundRect">
            <a:avLst>
              <a:gd name="adj" fmla="val 5634"/>
            </a:avLst>
          </a:prstGeom>
          <a:solidFill>
            <a:srgbClr val="FFFFFF"/>
          </a:solidFill>
          <a:ln w="12700">
            <a:solidFill>
              <a:srgbClr val="E2E8EE"/>
            </a:solidFill>
            <a:prstDash val="solid"/>
          </a:ln>
        </p:spPr>
      </p:sp>
      <p:sp>
        <p:nvSpPr>
          <p:cNvPr id="17" name="Shape 15"/>
          <p:cNvSpPr/>
          <p:nvPr/>
        </p:nvSpPr>
        <p:spPr>
          <a:xfrm>
            <a:off x="6309360" y="1325880"/>
            <a:ext cx="109728" cy="1298448"/>
          </a:xfrm>
          <a:prstGeom prst="rect">
            <a:avLst/>
          </a:prstGeom>
          <a:solidFill>
            <a:srgbClr val="1A7070"/>
          </a:solidFill>
          <a:ln w="12700">
            <a:solidFill>
              <a:srgbClr val="1A7070"/>
            </a:solidFill>
            <a:prstDash val="solid"/>
          </a:ln>
        </p:spPr>
      </p:sp>
      <p:sp>
        <p:nvSpPr>
          <p:cNvPr id="18" name="Text 16"/>
          <p:cNvSpPr/>
          <p:nvPr/>
        </p:nvSpPr>
        <p:spPr>
          <a:xfrm>
            <a:off x="6601968" y="145389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Second takeaway title.</a:t>
            </a:r>
            <a:endParaRPr lang="en-US" sz="1600" dirty="0"/>
          </a:p>
        </p:txBody>
      </p:sp>
      <p:sp>
        <p:nvSpPr>
          <p:cNvPr id="19" name="Text 17"/>
          <p:cNvSpPr/>
          <p:nvPr/>
        </p:nvSpPr>
        <p:spPr>
          <a:xfrm>
            <a:off x="6601968" y="183794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One sentence. Prefer a distinction the student can use on the next practice file.</a:t>
            </a:r>
            <a:endParaRPr lang="en-US" sz="1400" dirty="0"/>
          </a:p>
        </p:txBody>
      </p:sp>
      <p:sp>
        <p:nvSpPr>
          <p:cNvPr id="20" name="Shape 18"/>
          <p:cNvSpPr/>
          <p:nvPr/>
        </p:nvSpPr>
        <p:spPr>
          <a:xfrm>
            <a:off x="457200" y="2743200"/>
            <a:ext cx="5669280" cy="1298448"/>
          </a:xfrm>
          <a:prstGeom prst="roundRect">
            <a:avLst>
              <a:gd name="adj" fmla="val 5634"/>
            </a:avLst>
          </a:prstGeom>
          <a:solidFill>
            <a:srgbClr val="FFFFFF"/>
          </a:solidFill>
          <a:ln w="12700">
            <a:solidFill>
              <a:srgbClr val="E2E8EE"/>
            </a:solidFill>
            <a:prstDash val="solid"/>
          </a:ln>
        </p:spPr>
      </p:sp>
      <p:sp>
        <p:nvSpPr>
          <p:cNvPr id="21" name="Shape 19"/>
          <p:cNvSpPr/>
          <p:nvPr/>
        </p:nvSpPr>
        <p:spPr>
          <a:xfrm>
            <a:off x="457200" y="2743200"/>
            <a:ext cx="109728" cy="1298448"/>
          </a:xfrm>
          <a:prstGeom prst="rect">
            <a:avLst/>
          </a:prstGeom>
          <a:solidFill>
            <a:srgbClr val="1A7070"/>
          </a:solidFill>
          <a:ln w="12700">
            <a:solidFill>
              <a:srgbClr val="1A7070"/>
            </a:solidFill>
            <a:prstDash val="solid"/>
          </a:ln>
        </p:spPr>
      </p:sp>
      <p:sp>
        <p:nvSpPr>
          <p:cNvPr id="22" name="Text 20"/>
          <p:cNvSpPr/>
          <p:nvPr/>
        </p:nvSpPr>
        <p:spPr>
          <a:xfrm>
            <a:off x="749808" y="287121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Third takeaway title.</a:t>
            </a:r>
            <a:endParaRPr lang="en-US" sz="1600" dirty="0"/>
          </a:p>
        </p:txBody>
      </p:sp>
      <p:sp>
        <p:nvSpPr>
          <p:cNvPr id="23" name="Text 21"/>
          <p:cNvSpPr/>
          <p:nvPr/>
        </p:nvSpPr>
        <p:spPr>
          <a:xfrm>
            <a:off x="749808" y="325526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One sentence. Name the habit, not only the term.</a:t>
            </a:r>
            <a:endParaRPr lang="en-US" sz="1400" dirty="0"/>
          </a:p>
        </p:txBody>
      </p:sp>
      <p:sp>
        <p:nvSpPr>
          <p:cNvPr id="24" name="Shape 22"/>
          <p:cNvSpPr/>
          <p:nvPr/>
        </p:nvSpPr>
        <p:spPr>
          <a:xfrm>
            <a:off x="6309360" y="2743200"/>
            <a:ext cx="5669280" cy="1298448"/>
          </a:xfrm>
          <a:prstGeom prst="roundRect">
            <a:avLst>
              <a:gd name="adj" fmla="val 5634"/>
            </a:avLst>
          </a:prstGeom>
          <a:solidFill>
            <a:srgbClr val="FFFFFF"/>
          </a:solidFill>
          <a:ln w="12700">
            <a:solidFill>
              <a:srgbClr val="E2E8EE"/>
            </a:solidFill>
            <a:prstDash val="solid"/>
          </a:ln>
        </p:spPr>
      </p:sp>
      <p:sp>
        <p:nvSpPr>
          <p:cNvPr id="25" name="Shape 23"/>
          <p:cNvSpPr/>
          <p:nvPr/>
        </p:nvSpPr>
        <p:spPr>
          <a:xfrm>
            <a:off x="6309360" y="2743200"/>
            <a:ext cx="109728" cy="1298448"/>
          </a:xfrm>
          <a:prstGeom prst="rect">
            <a:avLst/>
          </a:prstGeom>
          <a:solidFill>
            <a:srgbClr val="1A7070"/>
          </a:solidFill>
          <a:ln w="12700">
            <a:solidFill>
              <a:srgbClr val="1A7070"/>
            </a:solidFill>
            <a:prstDash val="solid"/>
          </a:ln>
        </p:spPr>
      </p:sp>
      <p:sp>
        <p:nvSpPr>
          <p:cNvPr id="26" name="Text 24"/>
          <p:cNvSpPr/>
          <p:nvPr/>
        </p:nvSpPr>
        <p:spPr>
          <a:xfrm>
            <a:off x="6601968" y="287121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Fourth takeaway title.</a:t>
            </a:r>
            <a:endParaRPr lang="en-US" sz="1600" dirty="0"/>
          </a:p>
        </p:txBody>
      </p:sp>
      <p:sp>
        <p:nvSpPr>
          <p:cNvPr id="27" name="Text 25"/>
          <p:cNvSpPr/>
          <p:nvPr/>
        </p:nvSpPr>
        <p:spPr>
          <a:xfrm>
            <a:off x="6601968" y="325526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One sentence. Keep this card parallel to the others.</a:t>
            </a:r>
            <a:endParaRPr lang="en-US" sz="1400" dirty="0"/>
          </a:p>
        </p:txBody>
      </p:sp>
      <p:sp>
        <p:nvSpPr>
          <p:cNvPr id="28" name="Shape 26"/>
          <p:cNvSpPr/>
          <p:nvPr/>
        </p:nvSpPr>
        <p:spPr>
          <a:xfrm>
            <a:off x="457200" y="4160520"/>
            <a:ext cx="5669280" cy="1298448"/>
          </a:xfrm>
          <a:prstGeom prst="roundRect">
            <a:avLst>
              <a:gd name="adj" fmla="val 5634"/>
            </a:avLst>
          </a:prstGeom>
          <a:solidFill>
            <a:srgbClr val="FFFFFF"/>
          </a:solidFill>
          <a:ln w="12700">
            <a:solidFill>
              <a:srgbClr val="E2E8EE"/>
            </a:solidFill>
            <a:prstDash val="solid"/>
          </a:ln>
        </p:spPr>
      </p:sp>
      <p:sp>
        <p:nvSpPr>
          <p:cNvPr id="29" name="Shape 27"/>
          <p:cNvSpPr/>
          <p:nvPr/>
        </p:nvSpPr>
        <p:spPr>
          <a:xfrm>
            <a:off x="457200" y="4160520"/>
            <a:ext cx="109728" cy="1298448"/>
          </a:xfrm>
          <a:prstGeom prst="rect">
            <a:avLst/>
          </a:prstGeom>
          <a:solidFill>
            <a:srgbClr val="1A7070"/>
          </a:solidFill>
          <a:ln w="12700">
            <a:solidFill>
              <a:srgbClr val="1A7070"/>
            </a:solidFill>
            <a:prstDash val="solid"/>
          </a:ln>
        </p:spPr>
      </p:sp>
      <p:sp>
        <p:nvSpPr>
          <p:cNvPr id="30" name="Text 28"/>
          <p:cNvSpPr/>
          <p:nvPr/>
        </p:nvSpPr>
        <p:spPr>
          <a:xfrm>
            <a:off x="749808" y="428853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Fifth takeaway title.</a:t>
            </a:r>
            <a:endParaRPr lang="en-US" sz="1600" dirty="0"/>
          </a:p>
        </p:txBody>
      </p:sp>
      <p:sp>
        <p:nvSpPr>
          <p:cNvPr id="31" name="Text 29"/>
          <p:cNvSpPr/>
          <p:nvPr/>
        </p:nvSpPr>
        <p:spPr>
          <a:xfrm>
            <a:off x="749808" y="467258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One sentence. Point forward only if the next lesson depends on it.</a:t>
            </a:r>
            <a:endParaRPr lang="en-US" sz="1400" dirty="0"/>
          </a:p>
        </p:txBody>
      </p:sp>
      <p:sp>
        <p:nvSpPr>
          <p:cNvPr id="32" name="Shape 30"/>
          <p:cNvSpPr/>
          <p:nvPr/>
        </p:nvSpPr>
        <p:spPr>
          <a:xfrm>
            <a:off x="6309360" y="4160520"/>
            <a:ext cx="5669280" cy="1298448"/>
          </a:xfrm>
          <a:prstGeom prst="roundRect">
            <a:avLst>
              <a:gd name="adj" fmla="val 5634"/>
            </a:avLst>
          </a:prstGeom>
          <a:solidFill>
            <a:srgbClr val="FFFFFF"/>
          </a:solidFill>
          <a:ln w="12700">
            <a:solidFill>
              <a:srgbClr val="E2E8EE"/>
            </a:solidFill>
            <a:prstDash val="solid"/>
          </a:ln>
        </p:spPr>
      </p:sp>
      <p:sp>
        <p:nvSpPr>
          <p:cNvPr id="33" name="Shape 31"/>
          <p:cNvSpPr/>
          <p:nvPr/>
        </p:nvSpPr>
        <p:spPr>
          <a:xfrm>
            <a:off x="6309360" y="4160520"/>
            <a:ext cx="109728" cy="1298448"/>
          </a:xfrm>
          <a:prstGeom prst="rect">
            <a:avLst/>
          </a:prstGeom>
          <a:solidFill>
            <a:srgbClr val="1A7070"/>
          </a:solidFill>
          <a:ln w="12700">
            <a:solidFill>
              <a:srgbClr val="1A7070"/>
            </a:solidFill>
            <a:prstDash val="solid"/>
          </a:ln>
        </p:spPr>
      </p:sp>
      <p:sp>
        <p:nvSpPr>
          <p:cNvPr id="34" name="Text 32"/>
          <p:cNvSpPr/>
          <p:nvPr/>
        </p:nvSpPr>
        <p:spPr>
          <a:xfrm>
            <a:off x="6601968" y="428853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Sixth takeaway title.</a:t>
            </a:r>
            <a:endParaRPr lang="en-US" sz="1600" dirty="0"/>
          </a:p>
        </p:txBody>
      </p:sp>
      <p:sp>
        <p:nvSpPr>
          <p:cNvPr id="35" name="Text 33"/>
          <p:cNvSpPr/>
          <p:nvPr/>
        </p:nvSpPr>
        <p:spPr>
          <a:xfrm>
            <a:off x="6601968" y="467258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One sentence, or delete this card and leave a 2-by-2 grid.</a:t>
            </a:r>
            <a:endParaRPr lang="en-US" sz="1400" dirty="0"/>
          </a:p>
        </p:txBody>
      </p:sp>
      <p:sp>
        <p:nvSpPr>
          <p:cNvPr id="36" name="Shape 34"/>
          <p:cNvSpPr/>
          <p:nvPr/>
        </p:nvSpPr>
        <p:spPr>
          <a:xfrm>
            <a:off x="457200" y="5623560"/>
            <a:ext cx="11247120" cy="685800"/>
          </a:xfrm>
          <a:prstGeom prst="roundRect">
            <a:avLst>
              <a:gd name="adj" fmla="val 10667"/>
            </a:avLst>
          </a:prstGeom>
          <a:solidFill>
            <a:srgbClr val="FBF3E2"/>
          </a:solidFill>
          <a:ln w="12700">
            <a:solidFill>
              <a:srgbClr val="E8D9B8"/>
            </a:solidFill>
            <a:prstDash val="solid"/>
          </a:ln>
        </p:spPr>
      </p:sp>
      <p:sp>
        <p:nvSpPr>
          <p:cNvPr id="37" name="Text 35"/>
          <p:cNvSpPr/>
          <p:nvPr/>
        </p:nvSpPr>
        <p:spPr>
          <a:xfrm>
            <a:off x="640080" y="5687568"/>
            <a:ext cx="10881360" cy="548640"/>
          </a:xfrm>
          <a:prstGeom prst="rect">
            <a:avLst/>
          </a:prstGeom>
          <a:noFill/>
          <a:ln/>
        </p:spPr>
        <p:txBody>
          <a:bodyPr wrap="square" lIns="0" tIns="0" rIns="0" bIns="0" rtlCol="0" anchor="ctr"/>
          <a:lstStyle/>
          <a:p>
            <a:pPr indent="0" marL="0">
              <a:buNone/>
            </a:pPr>
            <a:r>
              <a:rPr lang="en-US" sz="1500" dirty="0">
                <a:solidFill>
                  <a:srgbClr val="0D3358"/>
                </a:solidFill>
                <a:latin typeface="Calibri" pitchFamily="34" charset="0"/>
                <a:ea typeface="Calibri" pitchFamily="34" charset="-122"/>
                <a:cs typeface="Calibri" pitchFamily="34" charset="-120"/>
              </a:rPr>
              <a:t>Next lesson  ·  Title of the next lesson  ·  one-line preview of what that lesson will teach.</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LogosTeach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LogosTeach CS1 Lesson Template</dc:title>
  <dc:subject>Computer Science 1 house-style PowerPoint template</dc:subject>
  <dc:creator>LogosTeach</dc:creator>
  <cp:lastModifiedBy>LogosTeach</cp:lastModifiedBy>
  <cp:revision>1</cp:revision>
  <dcterms:created xsi:type="dcterms:W3CDTF">2026-08-31T17:26:11Z</dcterms:created>
  <dcterms:modified xsi:type="dcterms:W3CDTF">2026-08-31T17:26:11Z</dcterms:modified>
</cp:coreProperties>
</file>