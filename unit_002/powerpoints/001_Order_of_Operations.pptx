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A64936"/>
          </a:solidFill>
          <a:ln w="12700">
            <a:solidFill>
              <a:srgbClr val="A64936"/>
            </a:solidFill>
            <a:prstDash val="solid"/>
          </a:ln>
        </p:spPr>
      </p:sp>
      <p:sp>
        <p:nvSpPr>
          <p:cNvPr id="3" name="Shape 1"/>
          <p:cNvSpPr/>
          <p:nvPr/>
        </p:nvSpPr>
        <p:spPr>
          <a:xfrm>
            <a:off x="0" y="164592"/>
            <a:ext cx="12191695" cy="73152"/>
          </a:xfrm>
          <a:prstGeom prst="rect">
            <a:avLst/>
          </a:prstGeom>
          <a:solidFill>
            <a:srgbClr val="E1A244"/>
          </a:solidFill>
          <a:ln w="12700">
            <a:solidFill>
              <a:srgbClr val="E1A244"/>
            </a:solidFill>
            <a:prstDash val="solid"/>
          </a:ln>
        </p:spPr>
      </p:sp>
      <p:sp>
        <p:nvSpPr>
          <p:cNvPr id="4" name="Shape 2"/>
          <p:cNvSpPr/>
          <p:nvPr/>
        </p:nvSpPr>
        <p:spPr>
          <a:xfrm>
            <a:off x="0" y="5989320"/>
            <a:ext cx="12191695" cy="868680"/>
          </a:xfrm>
          <a:prstGeom prst="rect">
            <a:avLst/>
          </a:prstGeom>
          <a:solidFill>
            <a:srgbClr val="0D3358"/>
          </a:solidFill>
          <a:ln w="12700">
            <a:solidFill>
              <a:srgbClr val="0D3358"/>
            </a:solidFill>
            <a:prstDash val="solid"/>
          </a:ln>
        </p:spPr>
      </p:sp>
      <p:sp>
        <p:nvSpPr>
          <p:cNvPr id="5" name="Shape 3"/>
          <p:cNvSpPr/>
          <p:nvPr/>
        </p:nvSpPr>
        <p:spPr>
          <a:xfrm>
            <a:off x="0" y="5989320"/>
            <a:ext cx="12191695" cy="41148"/>
          </a:xfrm>
          <a:prstGeom prst="rect">
            <a:avLst/>
          </a:prstGeom>
          <a:solidFill>
            <a:srgbClr val="E1A244"/>
          </a:solidFill>
          <a:ln w="12700">
            <a:solidFill>
              <a:srgbClr val="E1A244"/>
            </a:solidFill>
            <a:prstDash val="solid"/>
          </a:ln>
        </p:spPr>
      </p:sp>
      <p:sp>
        <p:nvSpPr>
          <p:cNvPr id="6" name="Text 4"/>
          <p:cNvSpPr/>
          <p:nvPr/>
        </p:nvSpPr>
        <p:spPr>
          <a:xfrm>
            <a:off x="640080" y="1051560"/>
            <a:ext cx="10972800" cy="329184"/>
          </a:xfrm>
          <a:prstGeom prst="rect">
            <a:avLst/>
          </a:prstGeom>
          <a:noFill/>
          <a:ln/>
        </p:spPr>
        <p:txBody>
          <a:bodyPr wrap="square" lIns="0" tIns="0" rIns="0" bIns="0" rtlCol="0" anchor="ctr"/>
          <a:lstStyle/>
          <a:p>
            <a:pPr indent="0" marL="0">
              <a:buNone/>
            </a:pPr>
            <a:r>
              <a:rPr lang="en-US" sz="1600" b="1" dirty="0">
                <a:solidFill>
                  <a:srgbClr val="E1A244"/>
                </a:solidFill>
                <a:latin typeface="Calibri" pitchFamily="34" charset="0"/>
                <a:ea typeface="Calibri" pitchFamily="34" charset="-122"/>
                <a:cs typeface="Calibri" pitchFamily="34" charset="-120"/>
              </a:rPr>
              <a:t>UNIT 2   ·   FOUNDATIONAL ELEMENTS   ·   LESSON 1</a:t>
            </a:r>
            <a:endParaRPr lang="en-US" sz="1600" dirty="0"/>
          </a:p>
        </p:txBody>
      </p:sp>
      <p:sp>
        <p:nvSpPr>
          <p:cNvPr id="7" name="Text 5"/>
          <p:cNvSpPr/>
          <p:nvPr/>
        </p:nvSpPr>
        <p:spPr>
          <a:xfrm>
            <a:off x="640080" y="1554480"/>
            <a:ext cx="10972800" cy="96012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Order of Operations</a:t>
            </a:r>
            <a:endParaRPr lang="en-US" sz="4400" dirty="0"/>
          </a:p>
        </p:txBody>
      </p:sp>
      <p:sp>
        <p:nvSpPr>
          <p:cNvPr id="8" name="Text 6"/>
          <p:cNvSpPr/>
          <p:nvPr/>
        </p:nvSpPr>
        <p:spPr>
          <a:xfrm>
            <a:off x="640080" y="2606040"/>
            <a:ext cx="10972800" cy="365760"/>
          </a:xfrm>
          <a:prstGeom prst="rect">
            <a:avLst/>
          </a:prstGeom>
          <a:noFill/>
          <a:ln/>
        </p:spPr>
        <p:txBody>
          <a:bodyPr wrap="square" lIns="0" tIns="0" rIns="0" bIns="0" rtlCol="0" anchor="ctr"/>
          <a:lstStyle/>
          <a:p>
            <a:pPr indent="0" marL="0">
              <a:buNone/>
            </a:pPr>
            <a:r>
              <a:rPr lang="en-US" sz="2000" i="1" dirty="0">
                <a:solidFill>
                  <a:srgbClr val="C5D0D8"/>
                </a:solidFill>
                <a:latin typeface="Calibri" pitchFamily="34" charset="0"/>
                <a:ea typeface="Calibri" pitchFamily="34" charset="-122"/>
                <a:cs typeface="Calibri" pitchFamily="34" charset="-120"/>
              </a:rPr>
              <a:t>Python with a Worldview  ·  Computer Science 1</a:t>
            </a:r>
            <a:endParaRPr lang="en-US" sz="2000" dirty="0"/>
          </a:p>
        </p:txBody>
      </p:sp>
      <p:sp>
        <p:nvSpPr>
          <p:cNvPr id="9" name="Shape 7"/>
          <p:cNvSpPr/>
          <p:nvPr/>
        </p:nvSpPr>
        <p:spPr>
          <a:xfrm>
            <a:off x="640080" y="3200400"/>
            <a:ext cx="2011680" cy="64008"/>
          </a:xfrm>
          <a:prstGeom prst="rect">
            <a:avLst/>
          </a:prstGeom>
          <a:solidFill>
            <a:srgbClr val="E1A244"/>
          </a:solidFill>
          <a:ln w="12700">
            <a:solidFill>
              <a:srgbClr val="E1A244"/>
            </a:solidFill>
            <a:prstDash val="solid"/>
          </a:ln>
        </p:spPr>
      </p:sp>
      <p:sp>
        <p:nvSpPr>
          <p:cNvPr id="10" name="Text 8"/>
          <p:cNvSpPr/>
          <p:nvPr/>
        </p:nvSpPr>
        <p:spPr>
          <a:xfrm>
            <a:off x="640080" y="3474720"/>
            <a:ext cx="10607040" cy="1097280"/>
          </a:xfrm>
          <a:prstGeom prst="rect">
            <a:avLst/>
          </a:prstGeom>
          <a:noFill/>
          <a:ln/>
        </p:spPr>
        <p:txBody>
          <a:bodyPr wrap="square" lIns="0" tIns="0" rIns="0" bIns="0" rtlCol="0" anchor="ctr"/>
          <a:lstStyle/>
          <a:p>
            <a:pPr indent="0" marL="0">
              <a:buNone/>
            </a:pPr>
            <a:r>
              <a:rPr lang="en-US" sz="1800" dirty="0">
                <a:solidFill>
                  <a:srgbClr val="F6F6F5"/>
                </a:solidFill>
                <a:latin typeface="Calibri" pitchFamily="34" charset="0"/>
                <a:ea typeface="Calibri" pitchFamily="34" charset="-122"/>
                <a:cs typeface="Calibri" pitchFamily="34" charset="-120"/>
              </a:rPr>
              <a:t>Python does not always read an expression left to right.</a:t>
            </a:r>
            <a:endParaRPr lang="en-US" sz="1800" dirty="0"/>
          </a:p>
          <a:p>
            <a:pPr indent="0" marL="0">
              <a:buNone/>
            </a:pPr>
            <a:r>
              <a:rPr lang="en-US" sz="1800" dirty="0">
                <a:solidFill>
                  <a:srgbClr val="F6F6F5"/>
                </a:solidFill>
                <a:latin typeface="Calibri" pitchFamily="34" charset="0"/>
                <a:ea typeface="Calibri" pitchFamily="34" charset="-122"/>
                <a:cs typeface="Calibri" pitchFamily="34" charset="-120"/>
              </a:rPr>
              <a:t>Learn the rank of +, −, *, /, //, %, and **, then write parentheses that make your intent unmistakable.</a:t>
            </a:r>
            <a:endParaRPr lang="en-US" sz="1800" dirty="0"/>
          </a:p>
        </p:txBody>
      </p:sp>
      <p:sp>
        <p:nvSpPr>
          <p:cNvPr id="11" name="Text 9"/>
          <p:cNvSpPr/>
          <p:nvPr/>
        </p:nvSpPr>
        <p:spPr>
          <a:xfrm>
            <a:off x="640080" y="6108192"/>
            <a:ext cx="5303520" cy="256032"/>
          </a:xfrm>
          <a:prstGeom prst="rect">
            <a:avLst/>
          </a:prstGeom>
          <a:noFill/>
          <a:ln/>
        </p:spPr>
        <p:txBody>
          <a:bodyPr wrap="square" lIns="0" tIns="0" rIns="0" bIns="0" rtlCol="0" anchor="ctr"/>
          <a:lstStyle/>
          <a:p>
            <a:pPr indent="0" marL="0">
              <a:buNone/>
            </a:pPr>
            <a:r>
              <a:rPr lang="en-US" sz="1300" dirty="0">
                <a:solidFill>
                  <a:srgbClr val="F6F6F5"/>
                </a:solidFill>
                <a:latin typeface="Calibri" pitchFamily="34" charset="0"/>
                <a:ea typeface="Calibri" pitchFamily="34" charset="-122"/>
                <a:cs typeface="Calibri" pitchFamily="34" charset="-120"/>
              </a:rPr>
              <a:t>LogosTeach  ·  John C. Partridge</a:t>
            </a:r>
            <a:endParaRPr lang="en-US" sz="1300" dirty="0"/>
          </a:p>
        </p:txBody>
      </p:sp>
      <p:sp>
        <p:nvSpPr>
          <p:cNvPr id="12" name="Text 10"/>
          <p:cNvSpPr/>
          <p:nvPr/>
        </p:nvSpPr>
        <p:spPr>
          <a:xfrm>
            <a:off x="6309360" y="6108192"/>
            <a:ext cx="5303520" cy="256032"/>
          </a:xfrm>
          <a:prstGeom prst="rect">
            <a:avLst/>
          </a:prstGeom>
          <a:noFill/>
          <a:ln/>
        </p:spPr>
        <p:txBody>
          <a:bodyPr wrap="square" lIns="0" tIns="0" rIns="0" bIns="0" rtlCol="0" anchor="ctr"/>
          <a:lstStyle/>
          <a:p>
            <a:pPr algn="r" indent="0" marL="0">
              <a:buNone/>
            </a:pPr>
            <a:r>
              <a:rPr lang="en-US" sz="1300" dirty="0">
                <a:solidFill>
                  <a:srgbClr val="E1A244"/>
                </a:solidFill>
                <a:latin typeface="Calibri" pitchFamily="34" charset="0"/>
                <a:ea typeface="Calibri" pitchFamily="34" charset="-122"/>
                <a:cs typeface="Calibri" pitchFamily="34" charset="-120"/>
              </a:rPr>
              <a:t>Copyright 2026 LogosTeach  ·  All Rights Reserved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6F5"/>
        </a:solidFill>
      </p:bgPr>
    </p:bg>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0D3358"/>
          </a:solidFill>
          <a:ln w="12700">
            <a:solidFill>
              <a:srgbClr val="0D3358"/>
            </a:solidFill>
            <a:prstDash val="solid"/>
          </a:ln>
        </p:spPr>
      </p:sp>
      <p:sp>
        <p:nvSpPr>
          <p:cNvPr id="3" name="Shape 1"/>
          <p:cNvSpPr/>
          <p:nvPr/>
        </p:nvSpPr>
        <p:spPr>
          <a:xfrm>
            <a:off x="0" y="475488"/>
            <a:ext cx="12191695" cy="54864"/>
          </a:xfrm>
          <a:prstGeom prst="rect">
            <a:avLst/>
          </a:prstGeom>
          <a:solidFill>
            <a:srgbClr val="E1A244"/>
          </a:solidFill>
          <a:ln w="12700">
            <a:solidFill>
              <a:srgbClr val="E1A244"/>
            </a:solidFill>
            <a:prstDash val="solid"/>
          </a:ln>
        </p:spPr>
      </p:sp>
      <p:sp>
        <p:nvSpPr>
          <p:cNvPr id="4" name="Text 2"/>
          <p:cNvSpPr/>
          <p:nvPr/>
        </p:nvSpPr>
        <p:spPr>
          <a:xfrm>
            <a:off x="411480" y="73152"/>
            <a:ext cx="6583680" cy="32918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LogosTeach  ·  Computer Science 1</a:t>
            </a:r>
            <a:endParaRPr lang="en-US" sz="1300" dirty="0"/>
          </a:p>
        </p:txBody>
      </p:sp>
      <p:sp>
        <p:nvSpPr>
          <p:cNvPr id="5" name="Text 3"/>
          <p:cNvSpPr/>
          <p:nvPr/>
        </p:nvSpPr>
        <p:spPr>
          <a:xfrm>
            <a:off x="6949440" y="73152"/>
            <a:ext cx="4846320" cy="329184"/>
          </a:xfrm>
          <a:prstGeom prst="rect">
            <a:avLst/>
          </a:prstGeom>
          <a:noFill/>
          <a:ln/>
        </p:spPr>
        <p:txBody>
          <a:bodyPr wrap="square" lIns="0" tIns="0" rIns="0" bIns="0" rtlCol="0" anchor="ctr"/>
          <a:lstStyle/>
          <a:p>
            <a:pPr algn="r" indent="0" marL="0">
              <a:buNone/>
            </a:pPr>
            <a:r>
              <a:rPr lang="en-US" sz="1300" dirty="0">
                <a:solidFill>
                  <a:srgbClr val="E1A244"/>
                </a:solidFill>
                <a:latin typeface="Calibri" pitchFamily="34" charset="0"/>
                <a:ea typeface="Calibri" pitchFamily="34" charset="-122"/>
                <a:cs typeface="Calibri" pitchFamily="34" charset="-120"/>
              </a:rPr>
              <a:t>Unit 2  ·  Order of Operations</a:t>
            </a:r>
            <a:endParaRPr lang="en-US" sz="1300" dirty="0"/>
          </a:p>
        </p:txBody>
      </p:sp>
      <p:sp>
        <p:nvSpPr>
          <p:cNvPr id="6" name="Shape 4"/>
          <p:cNvSpPr/>
          <p:nvPr/>
        </p:nvSpPr>
        <p:spPr>
          <a:xfrm>
            <a:off x="0" y="6473952"/>
            <a:ext cx="12191695" cy="384048"/>
          </a:xfrm>
          <a:prstGeom prst="rect">
            <a:avLst/>
          </a:prstGeom>
          <a:solidFill>
            <a:srgbClr val="E8EEF3"/>
          </a:solidFill>
          <a:ln w="12700">
            <a:solidFill>
              <a:srgbClr val="E8EEF3"/>
            </a:solidFill>
            <a:prstDash val="solid"/>
          </a:ln>
        </p:spPr>
      </p:sp>
      <p:sp>
        <p:nvSpPr>
          <p:cNvPr id="7" name="Shape 5"/>
          <p:cNvSpPr/>
          <p:nvPr/>
        </p:nvSpPr>
        <p:spPr>
          <a:xfrm>
            <a:off x="0" y="6473952"/>
            <a:ext cx="12191695" cy="32004"/>
          </a:xfrm>
          <a:prstGeom prst="rect">
            <a:avLst/>
          </a:prstGeom>
          <a:solidFill>
            <a:srgbClr val="E1A244"/>
          </a:solidFill>
          <a:ln w="12700">
            <a:solidFill>
              <a:srgbClr val="E1A244"/>
            </a:solidFill>
            <a:prstDash val="solid"/>
          </a:ln>
        </p:spPr>
      </p:sp>
      <p:sp>
        <p:nvSpPr>
          <p:cNvPr id="8" name="Text 6"/>
          <p:cNvSpPr/>
          <p:nvPr/>
        </p:nvSpPr>
        <p:spPr>
          <a:xfrm>
            <a:off x="411480" y="6528816"/>
            <a:ext cx="8595360" cy="274320"/>
          </a:xfrm>
          <a:prstGeom prst="rect">
            <a:avLst/>
          </a:prstGeom>
          <a:noFill/>
          <a:ln/>
        </p:spPr>
        <p:txBody>
          <a:bodyPr wrap="square" lIns="0" tIns="0" rIns="0" bIns="0" rtlCol="0" anchor="ctr"/>
          <a:lstStyle/>
          <a:p>
            <a:pPr indent="0" marL="0">
              <a:buNone/>
            </a:pPr>
            <a:r>
              <a:rPr lang="en-US" sz="1100" dirty="0">
                <a:solidFill>
                  <a:srgbClr val="5A6A7A"/>
                </a:solidFill>
                <a:latin typeface="Calibri" pitchFamily="34" charset="0"/>
                <a:ea typeface="Calibri" pitchFamily="34" charset="-122"/>
                <a:cs typeface="Calibri" pitchFamily="34" charset="-120"/>
              </a:rPr>
              <a:t>Copyright 2026 LogosTeach  ·  All Rights Reserved</a:t>
            </a:r>
            <a:endParaRPr lang="en-US" sz="1100" dirty="0"/>
          </a:p>
        </p:txBody>
      </p:sp>
      <p:sp>
        <p:nvSpPr>
          <p:cNvPr id="9" name="Text 7"/>
          <p:cNvSpPr/>
          <p:nvPr/>
        </p:nvSpPr>
        <p:spPr>
          <a:xfrm>
            <a:off x="9509760" y="6528816"/>
            <a:ext cx="2286000" cy="274320"/>
          </a:xfrm>
          <a:prstGeom prst="rect">
            <a:avLst/>
          </a:prstGeom>
          <a:noFill/>
          <a:ln/>
        </p:spPr>
        <p:txBody>
          <a:bodyPr wrap="square" lIns="0" tIns="0" rIns="0" bIns="0" rtlCol="0" anchor="ctr"/>
          <a:lstStyle/>
          <a:p>
            <a:pPr algn="r" indent="0" marL="0">
              <a:buNone/>
            </a:pPr>
            <a:r>
              <a:rPr lang="en-US" sz="1100" dirty="0">
                <a:solidFill>
                  <a:srgbClr val="0D3358"/>
                </a:solidFill>
                <a:latin typeface="Calibri" pitchFamily="34" charset="0"/>
                <a:ea typeface="Calibri" pitchFamily="34" charset="-122"/>
                <a:cs typeface="Calibri" pitchFamily="34" charset="-120"/>
              </a:rPr>
              <a:t>2  /  14</a:t>
            </a:r>
            <a:endParaRPr lang="en-US" sz="1100" dirty="0"/>
          </a:p>
        </p:txBody>
      </p:sp>
      <p:sp>
        <p:nvSpPr>
          <p:cNvPr id="10" name="Text 8"/>
          <p:cNvSpPr/>
          <p:nvPr/>
        </p:nvSpPr>
        <p:spPr>
          <a:xfrm>
            <a:off x="457200" y="658368"/>
            <a:ext cx="11247120" cy="384048"/>
          </a:xfrm>
          <a:prstGeom prst="rect">
            <a:avLst/>
          </a:prstGeom>
          <a:noFill/>
          <a:ln/>
        </p:spPr>
        <p:txBody>
          <a:bodyPr wrap="square" lIns="0" tIns="0" rIns="0" bIns="0" rtlCol="0" anchor="ctr"/>
          <a:lstStyle/>
          <a:p>
            <a:pPr indent="0" marL="0">
              <a:buNone/>
            </a:pPr>
            <a:r>
              <a:rPr lang="en-US" sz="2800" b="1" dirty="0">
                <a:solidFill>
                  <a:srgbClr val="0D3358"/>
                </a:solidFill>
                <a:latin typeface="Calibri" pitchFamily="34" charset="0"/>
                <a:ea typeface="Calibri" pitchFamily="34" charset="-122"/>
                <a:cs typeface="Calibri" pitchFamily="34" charset="-120"/>
              </a:rPr>
              <a:t>In This Lesson</a:t>
            </a:r>
            <a:endParaRPr lang="en-US" sz="2800" dirty="0"/>
          </a:p>
        </p:txBody>
      </p:sp>
      <p:sp>
        <p:nvSpPr>
          <p:cNvPr id="11" name="Shape 9"/>
          <p:cNvSpPr/>
          <p:nvPr/>
        </p:nvSpPr>
        <p:spPr>
          <a:xfrm>
            <a:off x="457200" y="1060704"/>
            <a:ext cx="1234440" cy="50292"/>
          </a:xfrm>
          <a:prstGeom prst="rect">
            <a:avLst/>
          </a:prstGeom>
          <a:solidFill>
            <a:srgbClr val="E1A244"/>
          </a:solidFill>
          <a:ln w="12700">
            <a:solidFill>
              <a:srgbClr val="E1A244"/>
            </a:solidFill>
            <a:prstDash val="solid"/>
          </a:ln>
        </p:spPr>
      </p:sp>
      <p:sp>
        <p:nvSpPr>
          <p:cNvPr id="12" name="Shape 10"/>
          <p:cNvSpPr/>
          <p:nvPr/>
        </p:nvSpPr>
        <p:spPr>
          <a:xfrm>
            <a:off x="457200" y="1353312"/>
            <a:ext cx="11247120" cy="841248"/>
          </a:xfrm>
          <a:prstGeom prst="roundRect">
            <a:avLst>
              <a:gd name="adj" fmla="val 8696"/>
            </a:avLst>
          </a:prstGeom>
          <a:solidFill>
            <a:srgbClr val="FFFFFF"/>
          </a:solidFill>
          <a:ln w="12700">
            <a:solidFill>
              <a:srgbClr val="E2E8EE"/>
            </a:solidFill>
            <a:prstDash val="solid"/>
          </a:ln>
        </p:spPr>
      </p:sp>
      <p:sp>
        <p:nvSpPr>
          <p:cNvPr id="13" name="Shape 11"/>
          <p:cNvSpPr/>
          <p:nvPr/>
        </p:nvSpPr>
        <p:spPr>
          <a:xfrm>
            <a:off x="621792" y="1536192"/>
            <a:ext cx="658368" cy="475488"/>
          </a:xfrm>
          <a:prstGeom prst="roundRect">
            <a:avLst>
              <a:gd name="adj" fmla="val 11538"/>
            </a:avLst>
          </a:prstGeom>
          <a:solidFill>
            <a:srgbClr val="1A7070"/>
          </a:solidFill>
          <a:ln w="12700">
            <a:solidFill>
              <a:srgbClr val="1A7070"/>
            </a:solidFill>
            <a:prstDash val="solid"/>
          </a:ln>
        </p:spPr>
      </p:sp>
      <p:sp>
        <p:nvSpPr>
          <p:cNvPr id="14" name="Text 12"/>
          <p:cNvSpPr/>
          <p:nvPr/>
        </p:nvSpPr>
        <p:spPr>
          <a:xfrm>
            <a:off x="621792" y="1536192"/>
            <a:ext cx="65836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15" name="Text 13"/>
          <p:cNvSpPr/>
          <p:nvPr/>
        </p:nvSpPr>
        <p:spPr>
          <a:xfrm>
            <a:off x="1463040" y="1517904"/>
            <a:ext cx="9966960" cy="512064"/>
          </a:xfrm>
          <a:prstGeom prst="rect">
            <a:avLst/>
          </a:prstGeom>
          <a:noFill/>
          <a:ln/>
        </p:spPr>
        <p:txBody>
          <a:bodyPr wrap="square" lIns="0" tIns="0" rIns="0" bIns="0" rtlCol="0" anchor="ctr"/>
          <a:lstStyle/>
          <a:p>
            <a:pPr indent="0" marL="0">
              <a:buNone/>
            </a:pPr>
            <a:r>
              <a:rPr lang="en-US" sz="1800" dirty="0">
                <a:solidFill>
                  <a:srgbClr val="2A2A2A"/>
                </a:solidFill>
                <a:latin typeface="Calibri" pitchFamily="34" charset="0"/>
                <a:ea typeface="Calibri" pitchFamily="34" charset="-122"/>
                <a:cs typeface="Calibri" pitchFamily="34" charset="-120"/>
              </a:rPr>
              <a:t>Explain PEMDAS and how Python ranks +, −, *, /, //, %, and **.</a:t>
            </a:r>
            <a:endParaRPr lang="en-US" sz="1800" dirty="0"/>
          </a:p>
        </p:txBody>
      </p:sp>
      <p:sp>
        <p:nvSpPr>
          <p:cNvPr id="16" name="Shape 14"/>
          <p:cNvSpPr/>
          <p:nvPr/>
        </p:nvSpPr>
        <p:spPr>
          <a:xfrm>
            <a:off x="457200" y="2304288"/>
            <a:ext cx="11247120" cy="841248"/>
          </a:xfrm>
          <a:prstGeom prst="roundRect">
            <a:avLst>
              <a:gd name="adj" fmla="val 8696"/>
            </a:avLst>
          </a:prstGeom>
          <a:solidFill>
            <a:srgbClr val="F0F7FF"/>
          </a:solidFill>
          <a:ln w="12700">
            <a:solidFill>
              <a:srgbClr val="E2E8EE"/>
            </a:solidFill>
            <a:prstDash val="solid"/>
          </a:ln>
        </p:spPr>
      </p:sp>
      <p:sp>
        <p:nvSpPr>
          <p:cNvPr id="17" name="Shape 15"/>
          <p:cNvSpPr/>
          <p:nvPr/>
        </p:nvSpPr>
        <p:spPr>
          <a:xfrm>
            <a:off x="621792" y="2487168"/>
            <a:ext cx="658368" cy="475488"/>
          </a:xfrm>
          <a:prstGeom prst="roundRect">
            <a:avLst>
              <a:gd name="adj" fmla="val 11538"/>
            </a:avLst>
          </a:prstGeom>
          <a:solidFill>
            <a:srgbClr val="1A7070"/>
          </a:solidFill>
          <a:ln w="12700">
            <a:solidFill>
              <a:srgbClr val="1A7070"/>
            </a:solidFill>
            <a:prstDash val="solid"/>
          </a:ln>
        </p:spPr>
      </p:sp>
      <p:sp>
        <p:nvSpPr>
          <p:cNvPr id="18" name="Text 16"/>
          <p:cNvSpPr/>
          <p:nvPr/>
        </p:nvSpPr>
        <p:spPr>
          <a:xfrm>
            <a:off x="621792" y="2487168"/>
            <a:ext cx="65836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19" name="Text 17"/>
          <p:cNvSpPr/>
          <p:nvPr/>
        </p:nvSpPr>
        <p:spPr>
          <a:xfrm>
            <a:off x="1463040" y="2468880"/>
            <a:ext cx="9966960" cy="512064"/>
          </a:xfrm>
          <a:prstGeom prst="rect">
            <a:avLst/>
          </a:prstGeom>
          <a:noFill/>
          <a:ln/>
        </p:spPr>
        <p:txBody>
          <a:bodyPr wrap="square" lIns="0" tIns="0" rIns="0" bIns="0" rtlCol="0" anchor="ctr"/>
          <a:lstStyle/>
          <a:p>
            <a:pPr indent="0" marL="0">
              <a:buNone/>
            </a:pPr>
            <a:r>
              <a:rPr lang="en-US" sz="1800" dirty="0">
                <a:solidFill>
                  <a:srgbClr val="2A2A2A"/>
                </a:solidFill>
                <a:latin typeface="Calibri" pitchFamily="34" charset="0"/>
                <a:ea typeface="Calibri" pitchFamily="34" charset="-122"/>
                <a:cs typeface="Calibri" pitchFamily="34" charset="-120"/>
              </a:rPr>
              <a:t>Use parentheses to force the order you actually mean.</a:t>
            </a:r>
            <a:endParaRPr lang="en-US" sz="1800" dirty="0"/>
          </a:p>
        </p:txBody>
      </p:sp>
      <p:sp>
        <p:nvSpPr>
          <p:cNvPr id="20" name="Shape 18"/>
          <p:cNvSpPr/>
          <p:nvPr/>
        </p:nvSpPr>
        <p:spPr>
          <a:xfrm>
            <a:off x="457200" y="3255264"/>
            <a:ext cx="11247120" cy="841248"/>
          </a:xfrm>
          <a:prstGeom prst="roundRect">
            <a:avLst>
              <a:gd name="adj" fmla="val 8696"/>
            </a:avLst>
          </a:prstGeom>
          <a:solidFill>
            <a:srgbClr val="FFFFFF"/>
          </a:solidFill>
          <a:ln w="12700">
            <a:solidFill>
              <a:srgbClr val="E2E8EE"/>
            </a:solidFill>
            <a:prstDash val="solid"/>
          </a:ln>
        </p:spPr>
      </p:sp>
      <p:sp>
        <p:nvSpPr>
          <p:cNvPr id="21" name="Shape 19"/>
          <p:cNvSpPr/>
          <p:nvPr/>
        </p:nvSpPr>
        <p:spPr>
          <a:xfrm>
            <a:off x="621792" y="3438144"/>
            <a:ext cx="658368" cy="475488"/>
          </a:xfrm>
          <a:prstGeom prst="roundRect">
            <a:avLst>
              <a:gd name="adj" fmla="val 11538"/>
            </a:avLst>
          </a:prstGeom>
          <a:solidFill>
            <a:srgbClr val="1A7070"/>
          </a:solidFill>
          <a:ln w="12700">
            <a:solidFill>
              <a:srgbClr val="1A7070"/>
            </a:solidFill>
            <a:prstDash val="solid"/>
          </a:ln>
        </p:spPr>
      </p:sp>
      <p:sp>
        <p:nvSpPr>
          <p:cNvPr id="22" name="Text 20"/>
          <p:cNvSpPr/>
          <p:nvPr/>
        </p:nvSpPr>
        <p:spPr>
          <a:xfrm>
            <a:off x="621792" y="3438144"/>
            <a:ext cx="65836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23" name="Text 21"/>
          <p:cNvSpPr/>
          <p:nvPr/>
        </p:nvSpPr>
        <p:spPr>
          <a:xfrm>
            <a:off x="1463040" y="3419856"/>
            <a:ext cx="9966960" cy="512064"/>
          </a:xfrm>
          <a:prstGeom prst="rect">
            <a:avLst/>
          </a:prstGeom>
          <a:noFill/>
          <a:ln/>
        </p:spPr>
        <p:txBody>
          <a:bodyPr wrap="square" lIns="0" tIns="0" rIns="0" bIns="0" rtlCol="0" anchor="ctr"/>
          <a:lstStyle/>
          <a:p>
            <a:pPr indent="0" marL="0">
              <a:buNone/>
            </a:pPr>
            <a:r>
              <a:rPr lang="en-US" sz="1800" dirty="0">
                <a:solidFill>
                  <a:srgbClr val="2A2A2A"/>
                </a:solidFill>
                <a:latin typeface="Calibri" pitchFamily="34" charset="0"/>
                <a:ea typeface="Calibri" pitchFamily="34" charset="-122"/>
                <a:cs typeface="Calibri" pitchFamily="34" charset="-120"/>
              </a:rPr>
              <a:t>Evaluate a multi-operator expression by hand, then confirm with print().</a:t>
            </a:r>
            <a:endParaRPr lang="en-US" sz="1800" dirty="0"/>
          </a:p>
        </p:txBody>
      </p:sp>
      <p:sp>
        <p:nvSpPr>
          <p:cNvPr id="24" name="Shape 22"/>
          <p:cNvSpPr/>
          <p:nvPr/>
        </p:nvSpPr>
        <p:spPr>
          <a:xfrm>
            <a:off x="457200" y="4206240"/>
            <a:ext cx="11247120" cy="841248"/>
          </a:xfrm>
          <a:prstGeom prst="roundRect">
            <a:avLst>
              <a:gd name="adj" fmla="val 8696"/>
            </a:avLst>
          </a:prstGeom>
          <a:solidFill>
            <a:srgbClr val="F0F7FF"/>
          </a:solidFill>
          <a:ln w="12700">
            <a:solidFill>
              <a:srgbClr val="E2E8EE"/>
            </a:solidFill>
            <a:prstDash val="solid"/>
          </a:ln>
        </p:spPr>
      </p:sp>
      <p:sp>
        <p:nvSpPr>
          <p:cNvPr id="25" name="Shape 23"/>
          <p:cNvSpPr/>
          <p:nvPr/>
        </p:nvSpPr>
        <p:spPr>
          <a:xfrm>
            <a:off x="621792" y="4389120"/>
            <a:ext cx="658368" cy="475488"/>
          </a:xfrm>
          <a:prstGeom prst="roundRect">
            <a:avLst>
              <a:gd name="adj" fmla="val 11538"/>
            </a:avLst>
          </a:prstGeom>
          <a:solidFill>
            <a:srgbClr val="1A7070"/>
          </a:solidFill>
          <a:ln w="12700">
            <a:solidFill>
              <a:srgbClr val="1A7070"/>
            </a:solidFill>
            <a:prstDash val="solid"/>
          </a:ln>
        </p:spPr>
      </p:sp>
      <p:sp>
        <p:nvSpPr>
          <p:cNvPr id="26" name="Text 24"/>
          <p:cNvSpPr/>
          <p:nvPr/>
        </p:nvSpPr>
        <p:spPr>
          <a:xfrm>
            <a:off x="621792" y="4389120"/>
            <a:ext cx="65836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04</a:t>
            </a:r>
            <a:endParaRPr lang="en-US" sz="1600" dirty="0"/>
          </a:p>
        </p:txBody>
      </p:sp>
      <p:sp>
        <p:nvSpPr>
          <p:cNvPr id="27" name="Text 25"/>
          <p:cNvSpPr/>
          <p:nvPr/>
        </p:nvSpPr>
        <p:spPr>
          <a:xfrm>
            <a:off x="1463040" y="4370832"/>
            <a:ext cx="9966960" cy="512064"/>
          </a:xfrm>
          <a:prstGeom prst="rect">
            <a:avLst/>
          </a:prstGeom>
          <a:noFill/>
          <a:ln/>
        </p:spPr>
        <p:txBody>
          <a:bodyPr wrap="square" lIns="0" tIns="0" rIns="0" bIns="0" rtlCol="0" anchor="ctr"/>
          <a:lstStyle/>
          <a:p>
            <a:pPr indent="0" marL="0">
              <a:buNone/>
            </a:pPr>
            <a:r>
              <a:rPr lang="en-US" sz="1800" dirty="0">
                <a:solidFill>
                  <a:srgbClr val="2A2A2A"/>
                </a:solidFill>
                <a:latin typeface="Calibri" pitchFamily="34" charset="0"/>
                <a:ea typeface="Calibri" pitchFamily="34" charset="-122"/>
                <a:cs typeface="Calibri" pitchFamily="34" charset="-120"/>
              </a:rPr>
              <a:t>Spot the classic precedence bugs: missing parentheses and equal-rank mix-ups.</a:t>
            </a:r>
            <a:endParaRPr lang="en-US" sz="1800" dirty="0"/>
          </a:p>
        </p:txBody>
      </p:sp>
      <p:sp>
        <p:nvSpPr>
          <p:cNvPr id="28" name="Shape 26"/>
          <p:cNvSpPr/>
          <p:nvPr/>
        </p:nvSpPr>
        <p:spPr>
          <a:xfrm>
            <a:off x="457200" y="5157216"/>
            <a:ext cx="11247120" cy="841248"/>
          </a:xfrm>
          <a:prstGeom prst="roundRect">
            <a:avLst>
              <a:gd name="adj" fmla="val 8696"/>
            </a:avLst>
          </a:prstGeom>
          <a:solidFill>
            <a:srgbClr val="FFFFFF"/>
          </a:solidFill>
          <a:ln w="12700">
            <a:solidFill>
              <a:srgbClr val="E2E8EE"/>
            </a:solidFill>
            <a:prstDash val="solid"/>
          </a:ln>
        </p:spPr>
      </p:sp>
      <p:sp>
        <p:nvSpPr>
          <p:cNvPr id="29" name="Shape 27"/>
          <p:cNvSpPr/>
          <p:nvPr/>
        </p:nvSpPr>
        <p:spPr>
          <a:xfrm>
            <a:off x="621792" y="5340096"/>
            <a:ext cx="658368" cy="475488"/>
          </a:xfrm>
          <a:prstGeom prst="roundRect">
            <a:avLst>
              <a:gd name="adj" fmla="val 11538"/>
            </a:avLst>
          </a:prstGeom>
          <a:solidFill>
            <a:srgbClr val="1A7070"/>
          </a:solidFill>
          <a:ln w="12700">
            <a:solidFill>
              <a:srgbClr val="1A7070"/>
            </a:solidFill>
            <a:prstDash val="solid"/>
          </a:ln>
        </p:spPr>
      </p:sp>
      <p:sp>
        <p:nvSpPr>
          <p:cNvPr id="30" name="Text 28"/>
          <p:cNvSpPr/>
          <p:nvPr/>
        </p:nvSpPr>
        <p:spPr>
          <a:xfrm>
            <a:off x="621792" y="5340096"/>
            <a:ext cx="65836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05</a:t>
            </a:r>
            <a:endParaRPr lang="en-US" sz="1600" dirty="0"/>
          </a:p>
        </p:txBody>
      </p:sp>
      <p:sp>
        <p:nvSpPr>
          <p:cNvPr id="31" name="Text 29"/>
          <p:cNvSpPr/>
          <p:nvPr/>
        </p:nvSpPr>
        <p:spPr>
          <a:xfrm>
            <a:off x="1463040" y="5321808"/>
            <a:ext cx="9966960" cy="512064"/>
          </a:xfrm>
          <a:prstGeom prst="rect">
            <a:avLst/>
          </a:prstGeom>
          <a:noFill/>
          <a:ln/>
        </p:spPr>
        <p:txBody>
          <a:bodyPr wrap="square" lIns="0" tIns="0" rIns="0" bIns="0" rtlCol="0" anchor="ctr"/>
          <a:lstStyle/>
          <a:p>
            <a:pPr indent="0" marL="0">
              <a:buNone/>
            </a:pPr>
            <a:r>
              <a:rPr lang="en-US" sz="1800" dirty="0">
                <a:solidFill>
                  <a:srgbClr val="2A2A2A"/>
                </a:solidFill>
                <a:latin typeface="Calibri" pitchFamily="34" charset="0"/>
                <a:ea typeface="Calibri" pitchFamily="34" charset="-122"/>
                <a:cs typeface="Calibri" pitchFamily="34" charset="-120"/>
              </a:rPr>
              <a:t>See how waiting for the right step in an expression speaks to waiting on the Lord’s timing.</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6F5"/>
        </a:solidFill>
      </p:bgPr>
    </p:bg>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0D3358"/>
          </a:solidFill>
          <a:ln w="12700">
            <a:solidFill>
              <a:srgbClr val="0D3358"/>
            </a:solidFill>
            <a:prstDash val="solid"/>
          </a:ln>
        </p:spPr>
      </p:sp>
      <p:sp>
        <p:nvSpPr>
          <p:cNvPr id="3" name="Shape 1"/>
          <p:cNvSpPr/>
          <p:nvPr/>
        </p:nvSpPr>
        <p:spPr>
          <a:xfrm>
            <a:off x="0" y="475488"/>
            <a:ext cx="12191695" cy="54864"/>
          </a:xfrm>
          <a:prstGeom prst="rect">
            <a:avLst/>
          </a:prstGeom>
          <a:solidFill>
            <a:srgbClr val="E1A244"/>
          </a:solidFill>
          <a:ln w="12700">
            <a:solidFill>
              <a:srgbClr val="E1A244"/>
            </a:solidFill>
            <a:prstDash val="solid"/>
          </a:ln>
        </p:spPr>
      </p:sp>
      <p:sp>
        <p:nvSpPr>
          <p:cNvPr id="4" name="Text 2"/>
          <p:cNvSpPr/>
          <p:nvPr/>
        </p:nvSpPr>
        <p:spPr>
          <a:xfrm>
            <a:off x="411480" y="73152"/>
            <a:ext cx="6583680" cy="32918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LogosTeach  ·  Computer Science 1</a:t>
            </a:r>
            <a:endParaRPr lang="en-US" sz="1300" dirty="0"/>
          </a:p>
        </p:txBody>
      </p:sp>
      <p:sp>
        <p:nvSpPr>
          <p:cNvPr id="5" name="Text 3"/>
          <p:cNvSpPr/>
          <p:nvPr/>
        </p:nvSpPr>
        <p:spPr>
          <a:xfrm>
            <a:off x="6949440" y="73152"/>
            <a:ext cx="4846320" cy="329184"/>
          </a:xfrm>
          <a:prstGeom prst="rect">
            <a:avLst/>
          </a:prstGeom>
          <a:noFill/>
          <a:ln/>
        </p:spPr>
        <p:txBody>
          <a:bodyPr wrap="square" lIns="0" tIns="0" rIns="0" bIns="0" rtlCol="0" anchor="ctr"/>
          <a:lstStyle/>
          <a:p>
            <a:pPr algn="r" indent="0" marL="0">
              <a:buNone/>
            </a:pPr>
            <a:r>
              <a:rPr lang="en-US" sz="1300" dirty="0">
                <a:solidFill>
                  <a:srgbClr val="E1A244"/>
                </a:solidFill>
                <a:latin typeface="Calibri" pitchFamily="34" charset="0"/>
                <a:ea typeface="Calibri" pitchFamily="34" charset="-122"/>
                <a:cs typeface="Calibri" pitchFamily="34" charset="-120"/>
              </a:rPr>
              <a:t>Unit 2  ·  Order of Operations</a:t>
            </a:r>
            <a:endParaRPr lang="en-US" sz="1300" dirty="0"/>
          </a:p>
        </p:txBody>
      </p:sp>
      <p:sp>
        <p:nvSpPr>
          <p:cNvPr id="6" name="Shape 4"/>
          <p:cNvSpPr/>
          <p:nvPr/>
        </p:nvSpPr>
        <p:spPr>
          <a:xfrm>
            <a:off x="0" y="6473952"/>
            <a:ext cx="12191695" cy="384048"/>
          </a:xfrm>
          <a:prstGeom prst="rect">
            <a:avLst/>
          </a:prstGeom>
          <a:solidFill>
            <a:srgbClr val="E8EEF3"/>
          </a:solidFill>
          <a:ln w="12700">
            <a:solidFill>
              <a:srgbClr val="E8EEF3"/>
            </a:solidFill>
            <a:prstDash val="solid"/>
          </a:ln>
        </p:spPr>
      </p:sp>
      <p:sp>
        <p:nvSpPr>
          <p:cNvPr id="7" name="Shape 5"/>
          <p:cNvSpPr/>
          <p:nvPr/>
        </p:nvSpPr>
        <p:spPr>
          <a:xfrm>
            <a:off x="0" y="6473952"/>
            <a:ext cx="12191695" cy="32004"/>
          </a:xfrm>
          <a:prstGeom prst="rect">
            <a:avLst/>
          </a:prstGeom>
          <a:solidFill>
            <a:srgbClr val="E1A244"/>
          </a:solidFill>
          <a:ln w="12700">
            <a:solidFill>
              <a:srgbClr val="E1A244"/>
            </a:solidFill>
            <a:prstDash val="solid"/>
          </a:ln>
        </p:spPr>
      </p:sp>
      <p:sp>
        <p:nvSpPr>
          <p:cNvPr id="8" name="Text 6"/>
          <p:cNvSpPr/>
          <p:nvPr/>
        </p:nvSpPr>
        <p:spPr>
          <a:xfrm>
            <a:off x="411480" y="6528816"/>
            <a:ext cx="8595360" cy="274320"/>
          </a:xfrm>
          <a:prstGeom prst="rect">
            <a:avLst/>
          </a:prstGeom>
          <a:noFill/>
          <a:ln/>
        </p:spPr>
        <p:txBody>
          <a:bodyPr wrap="square" lIns="0" tIns="0" rIns="0" bIns="0" rtlCol="0" anchor="ctr"/>
          <a:lstStyle/>
          <a:p>
            <a:pPr indent="0" marL="0">
              <a:buNone/>
            </a:pPr>
            <a:r>
              <a:rPr lang="en-US" sz="1100" dirty="0">
                <a:solidFill>
                  <a:srgbClr val="5A6A7A"/>
                </a:solidFill>
                <a:latin typeface="Calibri" pitchFamily="34" charset="0"/>
                <a:ea typeface="Calibri" pitchFamily="34" charset="-122"/>
                <a:cs typeface="Calibri" pitchFamily="34" charset="-120"/>
              </a:rPr>
              <a:t>Copyright 2026 LogosTeach  ·  All Rights Reserved</a:t>
            </a:r>
            <a:endParaRPr lang="en-US" sz="1100" dirty="0"/>
          </a:p>
        </p:txBody>
      </p:sp>
      <p:sp>
        <p:nvSpPr>
          <p:cNvPr id="9" name="Text 7"/>
          <p:cNvSpPr/>
          <p:nvPr/>
        </p:nvSpPr>
        <p:spPr>
          <a:xfrm>
            <a:off x="9509760" y="6528816"/>
            <a:ext cx="2286000" cy="274320"/>
          </a:xfrm>
          <a:prstGeom prst="rect">
            <a:avLst/>
          </a:prstGeom>
          <a:noFill/>
          <a:ln/>
        </p:spPr>
        <p:txBody>
          <a:bodyPr wrap="square" lIns="0" tIns="0" rIns="0" bIns="0" rtlCol="0" anchor="ctr"/>
          <a:lstStyle/>
          <a:p>
            <a:pPr algn="r" indent="0" marL="0">
              <a:buNone/>
            </a:pPr>
            <a:r>
              <a:rPr lang="en-US" sz="1100" dirty="0">
                <a:solidFill>
                  <a:srgbClr val="0D3358"/>
                </a:solidFill>
                <a:latin typeface="Calibri" pitchFamily="34" charset="0"/>
                <a:ea typeface="Calibri" pitchFamily="34" charset="-122"/>
                <a:cs typeface="Calibri" pitchFamily="34" charset="-120"/>
              </a:rPr>
              <a:t>3  /  14</a:t>
            </a:r>
            <a:endParaRPr lang="en-US" sz="1100" dirty="0"/>
          </a:p>
        </p:txBody>
      </p:sp>
      <p:sp>
        <p:nvSpPr>
          <p:cNvPr id="10" name="Text 8"/>
          <p:cNvSpPr/>
          <p:nvPr/>
        </p:nvSpPr>
        <p:spPr>
          <a:xfrm>
            <a:off x="457200" y="658368"/>
            <a:ext cx="11247120" cy="384048"/>
          </a:xfrm>
          <a:prstGeom prst="rect">
            <a:avLst/>
          </a:prstGeom>
          <a:noFill/>
          <a:ln/>
        </p:spPr>
        <p:txBody>
          <a:bodyPr wrap="square" lIns="0" tIns="0" rIns="0" bIns="0" rtlCol="0" anchor="ctr"/>
          <a:lstStyle/>
          <a:p>
            <a:pPr indent="0" marL="0">
              <a:buNone/>
            </a:pPr>
            <a:r>
              <a:rPr lang="en-US" sz="2800" b="1" dirty="0">
                <a:solidFill>
                  <a:srgbClr val="0D3358"/>
                </a:solidFill>
                <a:latin typeface="Calibri" pitchFamily="34" charset="0"/>
                <a:ea typeface="Calibri" pitchFamily="34" charset="-122"/>
                <a:cs typeface="Calibri" pitchFamily="34" charset="-120"/>
              </a:rPr>
              <a:t>Vocabulary</a:t>
            </a:r>
            <a:endParaRPr lang="en-US" sz="2800" dirty="0"/>
          </a:p>
        </p:txBody>
      </p:sp>
      <p:sp>
        <p:nvSpPr>
          <p:cNvPr id="11" name="Shape 9"/>
          <p:cNvSpPr/>
          <p:nvPr/>
        </p:nvSpPr>
        <p:spPr>
          <a:xfrm>
            <a:off x="457200" y="1060704"/>
            <a:ext cx="1234440" cy="50292"/>
          </a:xfrm>
          <a:prstGeom prst="rect">
            <a:avLst/>
          </a:prstGeom>
          <a:solidFill>
            <a:srgbClr val="E1A244"/>
          </a:solidFill>
          <a:ln w="12700">
            <a:solidFill>
              <a:srgbClr val="E1A244"/>
            </a:solidFill>
            <a:prstDash val="solid"/>
          </a:ln>
        </p:spPr>
      </p:sp>
      <p:sp>
        <p:nvSpPr>
          <p:cNvPr id="12" name="Shape 10"/>
          <p:cNvSpPr/>
          <p:nvPr/>
        </p:nvSpPr>
        <p:spPr>
          <a:xfrm>
            <a:off x="457200" y="1353312"/>
            <a:ext cx="3675888" cy="2304288"/>
          </a:xfrm>
          <a:prstGeom prst="roundRect">
            <a:avLst>
              <a:gd name="adj" fmla="val 3175"/>
            </a:avLst>
          </a:prstGeom>
          <a:solidFill>
            <a:srgbClr val="FFFFFF"/>
          </a:solidFill>
          <a:ln w="12700">
            <a:solidFill>
              <a:srgbClr val="E2E8EE"/>
            </a:solidFill>
            <a:prstDash val="solid"/>
          </a:ln>
        </p:spPr>
      </p:sp>
      <p:sp>
        <p:nvSpPr>
          <p:cNvPr id="13" name="Shape 11"/>
          <p:cNvSpPr/>
          <p:nvPr/>
        </p:nvSpPr>
        <p:spPr>
          <a:xfrm>
            <a:off x="457200" y="1353312"/>
            <a:ext cx="3675888" cy="91440"/>
          </a:xfrm>
          <a:prstGeom prst="rect">
            <a:avLst/>
          </a:prstGeom>
          <a:solidFill>
            <a:srgbClr val="1A7070"/>
          </a:solidFill>
          <a:ln w="12700">
            <a:solidFill>
              <a:srgbClr val="1A7070"/>
            </a:solidFill>
            <a:prstDash val="solid"/>
          </a:ln>
        </p:spPr>
      </p:sp>
      <p:sp>
        <p:nvSpPr>
          <p:cNvPr id="14" name="Text 12"/>
          <p:cNvSpPr/>
          <p:nvPr/>
        </p:nvSpPr>
        <p:spPr>
          <a:xfrm>
            <a:off x="640080" y="1554480"/>
            <a:ext cx="3310128" cy="329184"/>
          </a:xfrm>
          <a:prstGeom prst="rect">
            <a:avLst/>
          </a:prstGeom>
          <a:noFill/>
          <a:ln/>
        </p:spPr>
        <p:txBody>
          <a:bodyPr wrap="square" lIns="0" tIns="0" rIns="0" bIns="0" rtlCol="0" anchor="ctr"/>
          <a:lstStyle/>
          <a:p>
            <a:pPr indent="0" marL="0">
              <a:buNone/>
            </a:pPr>
            <a:r>
              <a:rPr lang="en-US" sz="1500" b="1" dirty="0">
                <a:solidFill>
                  <a:srgbClr val="0D3358"/>
                </a:solidFill>
                <a:latin typeface="Calibri" pitchFamily="34" charset="0"/>
                <a:ea typeface="Calibri" pitchFamily="34" charset="-122"/>
                <a:cs typeface="Calibri" pitchFamily="34" charset="-120"/>
              </a:rPr>
              <a:t>OPERATOR</a:t>
            </a:r>
            <a:endParaRPr lang="en-US" sz="1500" dirty="0"/>
          </a:p>
        </p:txBody>
      </p:sp>
      <p:sp>
        <p:nvSpPr>
          <p:cNvPr id="15" name="Text 13"/>
          <p:cNvSpPr/>
          <p:nvPr/>
        </p:nvSpPr>
        <p:spPr>
          <a:xfrm>
            <a:off x="640080" y="1901952"/>
            <a:ext cx="3310128"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A symbol that tells Python to compute.</a:t>
            </a:r>
            <a:endParaRPr lang="en-US" sz="1400" dirty="0"/>
          </a:p>
        </p:txBody>
      </p:sp>
      <p:sp>
        <p:nvSpPr>
          <p:cNvPr id="16" name="Shape 14"/>
          <p:cNvSpPr/>
          <p:nvPr/>
        </p:nvSpPr>
        <p:spPr>
          <a:xfrm>
            <a:off x="640080" y="2615184"/>
            <a:ext cx="3310128" cy="841248"/>
          </a:xfrm>
          <a:prstGeom prst="roundRect">
            <a:avLst>
              <a:gd name="adj" fmla="val 6522"/>
            </a:avLst>
          </a:prstGeom>
          <a:solidFill>
            <a:srgbClr val="E7F2FD"/>
          </a:solidFill>
          <a:ln w="12700">
            <a:solidFill>
              <a:srgbClr val="D3E4F6"/>
            </a:solidFill>
            <a:prstDash val="solid"/>
          </a:ln>
        </p:spPr>
      </p:sp>
      <p:sp>
        <p:nvSpPr>
          <p:cNvPr id="17" name="Text 15"/>
          <p:cNvSpPr/>
          <p:nvPr/>
        </p:nvSpPr>
        <p:spPr>
          <a:xfrm>
            <a:off x="768096" y="2688336"/>
            <a:ext cx="3054096" cy="694944"/>
          </a:xfrm>
          <a:prstGeom prst="rect">
            <a:avLst/>
          </a:prstGeom>
          <a:noFill/>
          <a:ln/>
        </p:spPr>
        <p:txBody>
          <a:bodyPr wrap="square" lIns="0" tIns="0" rIns="0" bIns="0" rtlCol="0" anchor="ctr"/>
          <a:lstStyle/>
          <a:p>
            <a:pPr indent="0" marL="0">
              <a:buNone/>
            </a:pPr>
            <a:r>
              <a:rPr lang="en-US" sz="1300" dirty="0">
                <a:solidFill>
                  <a:srgbClr val="1A2B3C"/>
                </a:solidFill>
                <a:latin typeface="Consolas" pitchFamily="34" charset="0"/>
                <a:ea typeface="Consolas" pitchFamily="34" charset="-122"/>
                <a:cs typeface="Consolas" pitchFamily="34" charset="-120"/>
              </a:rPr>
              <a:t>+  −  *  /  //  %  **</a:t>
            </a:r>
            <a:endParaRPr lang="en-US" sz="1300" dirty="0"/>
          </a:p>
        </p:txBody>
      </p:sp>
      <p:sp>
        <p:nvSpPr>
          <p:cNvPr id="18" name="Shape 16"/>
          <p:cNvSpPr/>
          <p:nvPr/>
        </p:nvSpPr>
        <p:spPr>
          <a:xfrm>
            <a:off x="4297680" y="1353312"/>
            <a:ext cx="3675888" cy="2304288"/>
          </a:xfrm>
          <a:prstGeom prst="roundRect">
            <a:avLst>
              <a:gd name="adj" fmla="val 3175"/>
            </a:avLst>
          </a:prstGeom>
          <a:solidFill>
            <a:srgbClr val="FFFFFF"/>
          </a:solidFill>
          <a:ln w="12700">
            <a:solidFill>
              <a:srgbClr val="E2E8EE"/>
            </a:solidFill>
            <a:prstDash val="solid"/>
          </a:ln>
        </p:spPr>
      </p:sp>
      <p:sp>
        <p:nvSpPr>
          <p:cNvPr id="19" name="Shape 17"/>
          <p:cNvSpPr/>
          <p:nvPr/>
        </p:nvSpPr>
        <p:spPr>
          <a:xfrm>
            <a:off x="4297680" y="1353312"/>
            <a:ext cx="3675888" cy="91440"/>
          </a:xfrm>
          <a:prstGeom prst="rect">
            <a:avLst/>
          </a:prstGeom>
          <a:solidFill>
            <a:srgbClr val="1A7070"/>
          </a:solidFill>
          <a:ln w="12700">
            <a:solidFill>
              <a:srgbClr val="1A7070"/>
            </a:solidFill>
            <a:prstDash val="solid"/>
          </a:ln>
        </p:spPr>
      </p:sp>
      <p:sp>
        <p:nvSpPr>
          <p:cNvPr id="20" name="Text 18"/>
          <p:cNvSpPr/>
          <p:nvPr/>
        </p:nvSpPr>
        <p:spPr>
          <a:xfrm>
            <a:off x="4480560" y="1554480"/>
            <a:ext cx="3310128" cy="329184"/>
          </a:xfrm>
          <a:prstGeom prst="rect">
            <a:avLst/>
          </a:prstGeom>
          <a:noFill/>
          <a:ln/>
        </p:spPr>
        <p:txBody>
          <a:bodyPr wrap="square" lIns="0" tIns="0" rIns="0" bIns="0" rtlCol="0" anchor="ctr"/>
          <a:lstStyle/>
          <a:p>
            <a:pPr indent="0" marL="0">
              <a:buNone/>
            </a:pPr>
            <a:r>
              <a:rPr lang="en-US" sz="1500" b="1" dirty="0">
                <a:solidFill>
                  <a:srgbClr val="0D3358"/>
                </a:solidFill>
                <a:latin typeface="Calibri" pitchFamily="34" charset="0"/>
                <a:ea typeface="Calibri" pitchFamily="34" charset="-122"/>
                <a:cs typeface="Calibri" pitchFamily="34" charset="-120"/>
              </a:rPr>
              <a:t>PRECEDENCE</a:t>
            </a:r>
            <a:endParaRPr lang="en-US" sz="1500" dirty="0"/>
          </a:p>
        </p:txBody>
      </p:sp>
      <p:sp>
        <p:nvSpPr>
          <p:cNvPr id="21" name="Text 19"/>
          <p:cNvSpPr/>
          <p:nvPr/>
        </p:nvSpPr>
        <p:spPr>
          <a:xfrm>
            <a:off x="4480560" y="1901952"/>
            <a:ext cx="3310128"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The rank that decides which operator runs first.</a:t>
            </a:r>
            <a:endParaRPr lang="en-US" sz="1400" dirty="0"/>
          </a:p>
        </p:txBody>
      </p:sp>
      <p:sp>
        <p:nvSpPr>
          <p:cNvPr id="22" name="Shape 20"/>
          <p:cNvSpPr/>
          <p:nvPr/>
        </p:nvSpPr>
        <p:spPr>
          <a:xfrm>
            <a:off x="4480560" y="2615184"/>
            <a:ext cx="3310128" cy="841248"/>
          </a:xfrm>
          <a:prstGeom prst="roundRect">
            <a:avLst>
              <a:gd name="adj" fmla="val 6522"/>
            </a:avLst>
          </a:prstGeom>
          <a:solidFill>
            <a:srgbClr val="E7F2FD"/>
          </a:solidFill>
          <a:ln w="12700">
            <a:solidFill>
              <a:srgbClr val="D3E4F6"/>
            </a:solidFill>
            <a:prstDash val="solid"/>
          </a:ln>
        </p:spPr>
      </p:sp>
      <p:sp>
        <p:nvSpPr>
          <p:cNvPr id="23" name="Text 21"/>
          <p:cNvSpPr/>
          <p:nvPr/>
        </p:nvSpPr>
        <p:spPr>
          <a:xfrm>
            <a:off x="4608576" y="2688336"/>
            <a:ext cx="3054096" cy="694944"/>
          </a:xfrm>
          <a:prstGeom prst="rect">
            <a:avLst/>
          </a:prstGeom>
          <a:noFill/>
          <a:ln/>
        </p:spPr>
        <p:txBody>
          <a:bodyPr wrap="square" lIns="0" tIns="0" rIns="0" bIns="0" rtlCol="0" anchor="ctr"/>
          <a:lstStyle/>
          <a:p>
            <a:pPr indent="0" marL="0">
              <a:buNone/>
            </a:pPr>
            <a:r>
              <a:rPr lang="en-US" sz="1300" dirty="0">
                <a:solidFill>
                  <a:srgbClr val="1A2B3C"/>
                </a:solidFill>
                <a:latin typeface="Consolas" pitchFamily="34" charset="0"/>
                <a:ea typeface="Consolas" pitchFamily="34" charset="-122"/>
                <a:cs typeface="Consolas" pitchFamily="34" charset="-120"/>
              </a:rPr>
              <a:t>2 + 3 * 4  →  14</a:t>
            </a:r>
            <a:endParaRPr lang="en-US" sz="1300" dirty="0"/>
          </a:p>
        </p:txBody>
      </p:sp>
      <p:sp>
        <p:nvSpPr>
          <p:cNvPr id="24" name="Shape 22"/>
          <p:cNvSpPr/>
          <p:nvPr/>
        </p:nvSpPr>
        <p:spPr>
          <a:xfrm>
            <a:off x="8138160" y="1353312"/>
            <a:ext cx="3675888" cy="2304288"/>
          </a:xfrm>
          <a:prstGeom prst="roundRect">
            <a:avLst>
              <a:gd name="adj" fmla="val 3175"/>
            </a:avLst>
          </a:prstGeom>
          <a:solidFill>
            <a:srgbClr val="FFFFFF"/>
          </a:solidFill>
          <a:ln w="12700">
            <a:solidFill>
              <a:srgbClr val="E2E8EE"/>
            </a:solidFill>
            <a:prstDash val="solid"/>
          </a:ln>
        </p:spPr>
      </p:sp>
      <p:sp>
        <p:nvSpPr>
          <p:cNvPr id="25" name="Shape 23"/>
          <p:cNvSpPr/>
          <p:nvPr/>
        </p:nvSpPr>
        <p:spPr>
          <a:xfrm>
            <a:off x="8138160" y="1353312"/>
            <a:ext cx="3675888" cy="91440"/>
          </a:xfrm>
          <a:prstGeom prst="rect">
            <a:avLst/>
          </a:prstGeom>
          <a:solidFill>
            <a:srgbClr val="1A7070"/>
          </a:solidFill>
          <a:ln w="12700">
            <a:solidFill>
              <a:srgbClr val="1A7070"/>
            </a:solidFill>
            <a:prstDash val="solid"/>
          </a:ln>
        </p:spPr>
      </p:sp>
      <p:sp>
        <p:nvSpPr>
          <p:cNvPr id="26" name="Text 24"/>
          <p:cNvSpPr/>
          <p:nvPr/>
        </p:nvSpPr>
        <p:spPr>
          <a:xfrm>
            <a:off x="8321040" y="1554480"/>
            <a:ext cx="3310128" cy="329184"/>
          </a:xfrm>
          <a:prstGeom prst="rect">
            <a:avLst/>
          </a:prstGeom>
          <a:noFill/>
          <a:ln/>
        </p:spPr>
        <p:txBody>
          <a:bodyPr wrap="square" lIns="0" tIns="0" rIns="0" bIns="0" rtlCol="0" anchor="ctr"/>
          <a:lstStyle/>
          <a:p>
            <a:pPr indent="0" marL="0">
              <a:buNone/>
            </a:pPr>
            <a:r>
              <a:rPr lang="en-US" sz="1500" b="1" dirty="0">
                <a:solidFill>
                  <a:srgbClr val="0D3358"/>
                </a:solidFill>
                <a:latin typeface="Calibri" pitchFamily="34" charset="0"/>
                <a:ea typeface="Calibri" pitchFamily="34" charset="-122"/>
                <a:cs typeface="Calibri" pitchFamily="34" charset="-120"/>
              </a:rPr>
              <a:t>ASSOCIATIVITY</a:t>
            </a:r>
            <a:endParaRPr lang="en-US" sz="1500" dirty="0"/>
          </a:p>
        </p:txBody>
      </p:sp>
      <p:sp>
        <p:nvSpPr>
          <p:cNvPr id="27" name="Text 25"/>
          <p:cNvSpPr/>
          <p:nvPr/>
        </p:nvSpPr>
        <p:spPr>
          <a:xfrm>
            <a:off x="8321040" y="1901952"/>
            <a:ext cx="3310128"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The direction same-rank operators take.</a:t>
            </a:r>
            <a:endParaRPr lang="en-US" sz="1400" dirty="0"/>
          </a:p>
        </p:txBody>
      </p:sp>
      <p:sp>
        <p:nvSpPr>
          <p:cNvPr id="28" name="Shape 26"/>
          <p:cNvSpPr/>
          <p:nvPr/>
        </p:nvSpPr>
        <p:spPr>
          <a:xfrm>
            <a:off x="8321040" y="2615184"/>
            <a:ext cx="3310128" cy="841248"/>
          </a:xfrm>
          <a:prstGeom prst="roundRect">
            <a:avLst>
              <a:gd name="adj" fmla="val 6522"/>
            </a:avLst>
          </a:prstGeom>
          <a:solidFill>
            <a:srgbClr val="E7F2FD"/>
          </a:solidFill>
          <a:ln w="12700">
            <a:solidFill>
              <a:srgbClr val="D3E4F6"/>
            </a:solidFill>
            <a:prstDash val="solid"/>
          </a:ln>
        </p:spPr>
      </p:sp>
      <p:sp>
        <p:nvSpPr>
          <p:cNvPr id="29" name="Text 27"/>
          <p:cNvSpPr/>
          <p:nvPr/>
        </p:nvSpPr>
        <p:spPr>
          <a:xfrm>
            <a:off x="8449056" y="2688336"/>
            <a:ext cx="3054096" cy="694944"/>
          </a:xfrm>
          <a:prstGeom prst="rect">
            <a:avLst/>
          </a:prstGeom>
          <a:noFill/>
          <a:ln/>
        </p:spPr>
        <p:txBody>
          <a:bodyPr wrap="square" lIns="0" tIns="0" rIns="0" bIns="0" rtlCol="0" anchor="ctr"/>
          <a:lstStyle/>
          <a:p>
            <a:pPr indent="0" marL="0">
              <a:buNone/>
            </a:pPr>
            <a:r>
              <a:rPr lang="en-US" sz="1300" dirty="0">
                <a:solidFill>
                  <a:srgbClr val="1A2B3C"/>
                </a:solidFill>
                <a:latin typeface="Consolas" pitchFamily="34" charset="0"/>
                <a:ea typeface="Consolas" pitchFamily="34" charset="-122"/>
                <a:cs typeface="Consolas" pitchFamily="34" charset="-120"/>
              </a:rPr>
              <a:t>* / // %  left → right</a:t>
            </a:r>
            <a:endParaRPr lang="en-US" sz="1300" dirty="0"/>
          </a:p>
          <a:p>
            <a:pPr indent="0" marL="0">
              <a:buNone/>
            </a:pPr>
            <a:r>
              <a:rPr lang="en-US" sz="1300" dirty="0">
                <a:solidFill>
                  <a:srgbClr val="1A2B3C"/>
                </a:solidFill>
                <a:latin typeface="Consolas" pitchFamily="34" charset="0"/>
                <a:ea typeface="Consolas" pitchFamily="34" charset="-122"/>
                <a:cs typeface="Consolas" pitchFamily="34" charset="-120"/>
              </a:rPr>
              <a:t>**  right → left</a:t>
            </a:r>
            <a:endParaRPr lang="en-US" sz="1300" dirty="0"/>
          </a:p>
        </p:txBody>
      </p:sp>
      <p:sp>
        <p:nvSpPr>
          <p:cNvPr id="30" name="Shape 28"/>
          <p:cNvSpPr/>
          <p:nvPr/>
        </p:nvSpPr>
        <p:spPr>
          <a:xfrm>
            <a:off x="457200" y="3822192"/>
            <a:ext cx="3675888" cy="2304288"/>
          </a:xfrm>
          <a:prstGeom prst="roundRect">
            <a:avLst>
              <a:gd name="adj" fmla="val 3175"/>
            </a:avLst>
          </a:prstGeom>
          <a:solidFill>
            <a:srgbClr val="FFFFFF"/>
          </a:solidFill>
          <a:ln w="12700">
            <a:solidFill>
              <a:srgbClr val="E2E8EE"/>
            </a:solidFill>
            <a:prstDash val="solid"/>
          </a:ln>
        </p:spPr>
      </p:sp>
      <p:sp>
        <p:nvSpPr>
          <p:cNvPr id="31" name="Shape 29"/>
          <p:cNvSpPr/>
          <p:nvPr/>
        </p:nvSpPr>
        <p:spPr>
          <a:xfrm>
            <a:off x="457200" y="3822192"/>
            <a:ext cx="3675888" cy="91440"/>
          </a:xfrm>
          <a:prstGeom prst="rect">
            <a:avLst/>
          </a:prstGeom>
          <a:solidFill>
            <a:srgbClr val="1A7070"/>
          </a:solidFill>
          <a:ln w="12700">
            <a:solidFill>
              <a:srgbClr val="1A7070"/>
            </a:solidFill>
            <a:prstDash val="solid"/>
          </a:ln>
        </p:spPr>
      </p:sp>
      <p:sp>
        <p:nvSpPr>
          <p:cNvPr id="32" name="Text 30"/>
          <p:cNvSpPr/>
          <p:nvPr/>
        </p:nvSpPr>
        <p:spPr>
          <a:xfrm>
            <a:off x="640080" y="4023360"/>
            <a:ext cx="3310128" cy="329184"/>
          </a:xfrm>
          <a:prstGeom prst="rect">
            <a:avLst/>
          </a:prstGeom>
          <a:noFill/>
          <a:ln/>
        </p:spPr>
        <p:txBody>
          <a:bodyPr wrap="square" lIns="0" tIns="0" rIns="0" bIns="0" rtlCol="0" anchor="ctr"/>
          <a:lstStyle/>
          <a:p>
            <a:pPr indent="0" marL="0">
              <a:buNone/>
            </a:pPr>
            <a:r>
              <a:rPr lang="en-US" sz="1500" b="1" dirty="0">
                <a:solidFill>
                  <a:srgbClr val="0D3358"/>
                </a:solidFill>
                <a:latin typeface="Calibri" pitchFamily="34" charset="0"/>
                <a:ea typeface="Calibri" pitchFamily="34" charset="-122"/>
                <a:cs typeface="Calibri" pitchFamily="34" charset="-120"/>
              </a:rPr>
              <a:t>PARENTHESES</a:t>
            </a:r>
            <a:endParaRPr lang="en-US" sz="1500" dirty="0"/>
          </a:p>
        </p:txBody>
      </p:sp>
      <p:sp>
        <p:nvSpPr>
          <p:cNvPr id="33" name="Text 31"/>
          <p:cNvSpPr/>
          <p:nvPr/>
        </p:nvSpPr>
        <p:spPr>
          <a:xfrm>
            <a:off x="640080" y="4370832"/>
            <a:ext cx="3310128"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Force a specific order and document intent.</a:t>
            </a:r>
            <a:endParaRPr lang="en-US" sz="1400" dirty="0"/>
          </a:p>
        </p:txBody>
      </p:sp>
      <p:sp>
        <p:nvSpPr>
          <p:cNvPr id="34" name="Shape 32"/>
          <p:cNvSpPr/>
          <p:nvPr/>
        </p:nvSpPr>
        <p:spPr>
          <a:xfrm>
            <a:off x="640080" y="5084064"/>
            <a:ext cx="3310128" cy="841248"/>
          </a:xfrm>
          <a:prstGeom prst="roundRect">
            <a:avLst>
              <a:gd name="adj" fmla="val 6522"/>
            </a:avLst>
          </a:prstGeom>
          <a:solidFill>
            <a:srgbClr val="E7F2FD"/>
          </a:solidFill>
          <a:ln w="12700">
            <a:solidFill>
              <a:srgbClr val="D3E4F6"/>
            </a:solidFill>
            <a:prstDash val="solid"/>
          </a:ln>
        </p:spPr>
      </p:sp>
      <p:sp>
        <p:nvSpPr>
          <p:cNvPr id="35" name="Text 33"/>
          <p:cNvSpPr/>
          <p:nvPr/>
        </p:nvSpPr>
        <p:spPr>
          <a:xfrm>
            <a:off x="768096" y="5157216"/>
            <a:ext cx="3054096" cy="694944"/>
          </a:xfrm>
          <a:prstGeom prst="rect">
            <a:avLst/>
          </a:prstGeom>
          <a:noFill/>
          <a:ln/>
        </p:spPr>
        <p:txBody>
          <a:bodyPr wrap="square" lIns="0" tIns="0" rIns="0" bIns="0" rtlCol="0" anchor="ctr"/>
          <a:lstStyle/>
          <a:p>
            <a:pPr indent="0" marL="0">
              <a:buNone/>
            </a:pPr>
            <a:r>
              <a:rPr lang="en-US" sz="1300" dirty="0">
                <a:solidFill>
                  <a:srgbClr val="1A2B3C"/>
                </a:solidFill>
                <a:latin typeface="Consolas" pitchFamily="34" charset="0"/>
                <a:ea typeface="Consolas" pitchFamily="34" charset="-122"/>
                <a:cs typeface="Consolas" pitchFamily="34" charset="-120"/>
              </a:rPr>
              <a:t>(2 + 3) * 4  →  20</a:t>
            </a:r>
            <a:endParaRPr lang="en-US" sz="1300" dirty="0"/>
          </a:p>
        </p:txBody>
      </p:sp>
      <p:sp>
        <p:nvSpPr>
          <p:cNvPr id="36" name="Shape 34"/>
          <p:cNvSpPr/>
          <p:nvPr/>
        </p:nvSpPr>
        <p:spPr>
          <a:xfrm>
            <a:off x="4297680" y="3822192"/>
            <a:ext cx="3675888" cy="2304288"/>
          </a:xfrm>
          <a:prstGeom prst="roundRect">
            <a:avLst>
              <a:gd name="adj" fmla="val 3175"/>
            </a:avLst>
          </a:prstGeom>
          <a:solidFill>
            <a:srgbClr val="FFFFFF"/>
          </a:solidFill>
          <a:ln w="12700">
            <a:solidFill>
              <a:srgbClr val="E2E8EE"/>
            </a:solidFill>
            <a:prstDash val="solid"/>
          </a:ln>
        </p:spPr>
      </p:sp>
      <p:sp>
        <p:nvSpPr>
          <p:cNvPr id="37" name="Shape 35"/>
          <p:cNvSpPr/>
          <p:nvPr/>
        </p:nvSpPr>
        <p:spPr>
          <a:xfrm>
            <a:off x="4297680" y="3822192"/>
            <a:ext cx="3675888" cy="91440"/>
          </a:xfrm>
          <a:prstGeom prst="rect">
            <a:avLst/>
          </a:prstGeom>
          <a:solidFill>
            <a:srgbClr val="1A7070"/>
          </a:solidFill>
          <a:ln w="12700">
            <a:solidFill>
              <a:srgbClr val="1A7070"/>
            </a:solidFill>
            <a:prstDash val="solid"/>
          </a:ln>
        </p:spPr>
      </p:sp>
      <p:sp>
        <p:nvSpPr>
          <p:cNvPr id="38" name="Text 36"/>
          <p:cNvSpPr/>
          <p:nvPr/>
        </p:nvSpPr>
        <p:spPr>
          <a:xfrm>
            <a:off x="4480560" y="4023360"/>
            <a:ext cx="3310128" cy="329184"/>
          </a:xfrm>
          <a:prstGeom prst="rect">
            <a:avLst/>
          </a:prstGeom>
          <a:noFill/>
          <a:ln/>
        </p:spPr>
        <p:txBody>
          <a:bodyPr wrap="square" lIns="0" tIns="0" rIns="0" bIns="0" rtlCol="0" anchor="ctr"/>
          <a:lstStyle/>
          <a:p>
            <a:pPr indent="0" marL="0">
              <a:buNone/>
            </a:pPr>
            <a:r>
              <a:rPr lang="en-US" sz="1500" b="1" dirty="0">
                <a:solidFill>
                  <a:srgbClr val="0D3358"/>
                </a:solidFill>
                <a:latin typeface="Calibri" pitchFamily="34" charset="0"/>
                <a:ea typeface="Calibri" pitchFamily="34" charset="-122"/>
                <a:cs typeface="Calibri" pitchFamily="34" charset="-120"/>
              </a:rPr>
              <a:t>EXPONENTIATION</a:t>
            </a:r>
            <a:endParaRPr lang="en-US" sz="1500" dirty="0"/>
          </a:p>
        </p:txBody>
      </p:sp>
      <p:sp>
        <p:nvSpPr>
          <p:cNvPr id="39" name="Text 37"/>
          <p:cNvSpPr/>
          <p:nvPr/>
        </p:nvSpPr>
        <p:spPr>
          <a:xfrm>
            <a:off x="4480560" y="4370832"/>
            <a:ext cx="3310128"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Raising a number to a power with **.</a:t>
            </a:r>
            <a:endParaRPr lang="en-US" sz="1400" dirty="0"/>
          </a:p>
        </p:txBody>
      </p:sp>
      <p:sp>
        <p:nvSpPr>
          <p:cNvPr id="40" name="Shape 38"/>
          <p:cNvSpPr/>
          <p:nvPr/>
        </p:nvSpPr>
        <p:spPr>
          <a:xfrm>
            <a:off x="4480560" y="5084064"/>
            <a:ext cx="3310128" cy="841248"/>
          </a:xfrm>
          <a:prstGeom prst="roundRect">
            <a:avLst>
              <a:gd name="adj" fmla="val 6522"/>
            </a:avLst>
          </a:prstGeom>
          <a:solidFill>
            <a:srgbClr val="E7F2FD"/>
          </a:solidFill>
          <a:ln w="12700">
            <a:solidFill>
              <a:srgbClr val="D3E4F6"/>
            </a:solidFill>
            <a:prstDash val="solid"/>
          </a:ln>
        </p:spPr>
      </p:sp>
      <p:sp>
        <p:nvSpPr>
          <p:cNvPr id="41" name="Text 39"/>
          <p:cNvSpPr/>
          <p:nvPr/>
        </p:nvSpPr>
        <p:spPr>
          <a:xfrm>
            <a:off x="4608576" y="5157216"/>
            <a:ext cx="3054096" cy="694944"/>
          </a:xfrm>
          <a:prstGeom prst="rect">
            <a:avLst/>
          </a:prstGeom>
          <a:noFill/>
          <a:ln/>
        </p:spPr>
        <p:txBody>
          <a:bodyPr wrap="square" lIns="0" tIns="0" rIns="0" bIns="0" rtlCol="0" anchor="ctr"/>
          <a:lstStyle/>
          <a:p>
            <a:pPr indent="0" marL="0">
              <a:buNone/>
            </a:pPr>
            <a:r>
              <a:rPr lang="en-US" sz="1300" dirty="0">
                <a:solidFill>
                  <a:srgbClr val="1A2B3C"/>
                </a:solidFill>
                <a:latin typeface="Consolas" pitchFamily="34" charset="0"/>
                <a:ea typeface="Consolas" pitchFamily="34" charset="-122"/>
                <a:cs typeface="Consolas" pitchFamily="34" charset="-120"/>
              </a:rPr>
              <a:t>2 ** 3  →  8</a:t>
            </a:r>
            <a:endParaRPr lang="en-US" sz="1300" dirty="0"/>
          </a:p>
        </p:txBody>
      </p:sp>
      <p:sp>
        <p:nvSpPr>
          <p:cNvPr id="42" name="Shape 40"/>
          <p:cNvSpPr/>
          <p:nvPr/>
        </p:nvSpPr>
        <p:spPr>
          <a:xfrm>
            <a:off x="8138160" y="3822192"/>
            <a:ext cx="3675888" cy="2304288"/>
          </a:xfrm>
          <a:prstGeom prst="roundRect">
            <a:avLst>
              <a:gd name="adj" fmla="val 3175"/>
            </a:avLst>
          </a:prstGeom>
          <a:solidFill>
            <a:srgbClr val="FFFFFF"/>
          </a:solidFill>
          <a:ln w="12700">
            <a:solidFill>
              <a:srgbClr val="E2E8EE"/>
            </a:solidFill>
            <a:prstDash val="solid"/>
          </a:ln>
        </p:spPr>
      </p:sp>
      <p:sp>
        <p:nvSpPr>
          <p:cNvPr id="43" name="Shape 41"/>
          <p:cNvSpPr/>
          <p:nvPr/>
        </p:nvSpPr>
        <p:spPr>
          <a:xfrm>
            <a:off x="8138160" y="3822192"/>
            <a:ext cx="3675888" cy="91440"/>
          </a:xfrm>
          <a:prstGeom prst="rect">
            <a:avLst/>
          </a:prstGeom>
          <a:solidFill>
            <a:srgbClr val="1A7070"/>
          </a:solidFill>
          <a:ln w="12700">
            <a:solidFill>
              <a:srgbClr val="1A7070"/>
            </a:solidFill>
            <a:prstDash val="solid"/>
          </a:ln>
        </p:spPr>
      </p:sp>
      <p:sp>
        <p:nvSpPr>
          <p:cNvPr id="44" name="Text 42"/>
          <p:cNvSpPr/>
          <p:nvPr/>
        </p:nvSpPr>
        <p:spPr>
          <a:xfrm>
            <a:off x="8321040" y="4023360"/>
            <a:ext cx="3310128" cy="329184"/>
          </a:xfrm>
          <a:prstGeom prst="rect">
            <a:avLst/>
          </a:prstGeom>
          <a:noFill/>
          <a:ln/>
        </p:spPr>
        <p:txBody>
          <a:bodyPr wrap="square" lIns="0" tIns="0" rIns="0" bIns="0" rtlCol="0" anchor="ctr"/>
          <a:lstStyle/>
          <a:p>
            <a:pPr indent="0" marL="0">
              <a:buNone/>
            </a:pPr>
            <a:r>
              <a:rPr lang="en-US" sz="1500" b="1" dirty="0">
                <a:solidFill>
                  <a:srgbClr val="0D3358"/>
                </a:solidFill>
                <a:latin typeface="Calibri" pitchFamily="34" charset="0"/>
                <a:ea typeface="Calibri" pitchFamily="34" charset="-122"/>
                <a:cs typeface="Calibri" pitchFamily="34" charset="-120"/>
              </a:rPr>
              <a:t>PEMDAS</a:t>
            </a:r>
            <a:endParaRPr lang="en-US" sz="1500" dirty="0"/>
          </a:p>
        </p:txBody>
      </p:sp>
      <p:sp>
        <p:nvSpPr>
          <p:cNvPr id="45" name="Text 43"/>
          <p:cNvSpPr/>
          <p:nvPr/>
        </p:nvSpPr>
        <p:spPr>
          <a:xfrm>
            <a:off x="8321040" y="4370832"/>
            <a:ext cx="3310128"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Parentheses, Exponents, Multiply/Divide, Add/Subtract.</a:t>
            </a:r>
            <a:endParaRPr lang="en-US" sz="1400" dirty="0"/>
          </a:p>
        </p:txBody>
      </p:sp>
      <p:sp>
        <p:nvSpPr>
          <p:cNvPr id="46" name="Shape 44"/>
          <p:cNvSpPr/>
          <p:nvPr/>
        </p:nvSpPr>
        <p:spPr>
          <a:xfrm>
            <a:off x="8321040" y="5084064"/>
            <a:ext cx="3310128" cy="841248"/>
          </a:xfrm>
          <a:prstGeom prst="roundRect">
            <a:avLst>
              <a:gd name="adj" fmla="val 6522"/>
            </a:avLst>
          </a:prstGeom>
          <a:solidFill>
            <a:srgbClr val="E7F2FD"/>
          </a:solidFill>
          <a:ln w="12700">
            <a:solidFill>
              <a:srgbClr val="D3E4F6"/>
            </a:solidFill>
            <a:prstDash val="solid"/>
          </a:ln>
        </p:spPr>
      </p:sp>
      <p:sp>
        <p:nvSpPr>
          <p:cNvPr id="47" name="Text 45"/>
          <p:cNvSpPr/>
          <p:nvPr/>
        </p:nvSpPr>
        <p:spPr>
          <a:xfrm>
            <a:off x="8449056" y="5157216"/>
            <a:ext cx="3054096" cy="694944"/>
          </a:xfrm>
          <a:prstGeom prst="rect">
            <a:avLst/>
          </a:prstGeom>
          <a:noFill/>
          <a:ln/>
        </p:spPr>
        <p:txBody>
          <a:bodyPr wrap="square" lIns="0" tIns="0" rIns="0" bIns="0" rtlCol="0" anchor="ctr"/>
          <a:lstStyle/>
          <a:p>
            <a:pPr indent="0" marL="0">
              <a:buNone/>
            </a:pPr>
            <a:r>
              <a:rPr lang="en-US" sz="1300" dirty="0">
                <a:solidFill>
                  <a:srgbClr val="1A2B3C"/>
                </a:solidFill>
                <a:latin typeface="Consolas" pitchFamily="34" charset="0"/>
                <a:ea typeface="Consolas" pitchFamily="34" charset="-122"/>
                <a:cs typeface="Consolas" pitchFamily="34" charset="-120"/>
              </a:rPr>
              <a:t>Same idea as BODMAS.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6F5"/>
        </a:solidFill>
      </p:bgPr>
    </p:bg>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0D3358"/>
          </a:solidFill>
          <a:ln w="12700">
            <a:solidFill>
              <a:srgbClr val="0D3358"/>
            </a:solidFill>
            <a:prstDash val="solid"/>
          </a:ln>
        </p:spPr>
      </p:sp>
      <p:sp>
        <p:nvSpPr>
          <p:cNvPr id="3" name="Shape 1"/>
          <p:cNvSpPr/>
          <p:nvPr/>
        </p:nvSpPr>
        <p:spPr>
          <a:xfrm>
            <a:off x="0" y="475488"/>
            <a:ext cx="12191695" cy="54864"/>
          </a:xfrm>
          <a:prstGeom prst="rect">
            <a:avLst/>
          </a:prstGeom>
          <a:solidFill>
            <a:srgbClr val="E1A244"/>
          </a:solidFill>
          <a:ln w="12700">
            <a:solidFill>
              <a:srgbClr val="E1A244"/>
            </a:solidFill>
            <a:prstDash val="solid"/>
          </a:ln>
        </p:spPr>
      </p:sp>
      <p:sp>
        <p:nvSpPr>
          <p:cNvPr id="4" name="Text 2"/>
          <p:cNvSpPr/>
          <p:nvPr/>
        </p:nvSpPr>
        <p:spPr>
          <a:xfrm>
            <a:off x="411480" y="73152"/>
            <a:ext cx="6583680" cy="32918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LogosTeach  ·  Computer Science 1</a:t>
            </a:r>
            <a:endParaRPr lang="en-US" sz="1300" dirty="0"/>
          </a:p>
        </p:txBody>
      </p:sp>
      <p:sp>
        <p:nvSpPr>
          <p:cNvPr id="5" name="Text 3"/>
          <p:cNvSpPr/>
          <p:nvPr/>
        </p:nvSpPr>
        <p:spPr>
          <a:xfrm>
            <a:off x="6949440" y="73152"/>
            <a:ext cx="4846320" cy="329184"/>
          </a:xfrm>
          <a:prstGeom prst="rect">
            <a:avLst/>
          </a:prstGeom>
          <a:noFill/>
          <a:ln/>
        </p:spPr>
        <p:txBody>
          <a:bodyPr wrap="square" lIns="0" tIns="0" rIns="0" bIns="0" rtlCol="0" anchor="ctr"/>
          <a:lstStyle/>
          <a:p>
            <a:pPr algn="r" indent="0" marL="0">
              <a:buNone/>
            </a:pPr>
            <a:r>
              <a:rPr lang="en-US" sz="1300" dirty="0">
                <a:solidFill>
                  <a:srgbClr val="E1A244"/>
                </a:solidFill>
                <a:latin typeface="Calibri" pitchFamily="34" charset="0"/>
                <a:ea typeface="Calibri" pitchFamily="34" charset="-122"/>
                <a:cs typeface="Calibri" pitchFamily="34" charset="-120"/>
              </a:rPr>
              <a:t>Unit 2  ·  Order of Operations</a:t>
            </a:r>
            <a:endParaRPr lang="en-US" sz="1300" dirty="0"/>
          </a:p>
        </p:txBody>
      </p:sp>
      <p:sp>
        <p:nvSpPr>
          <p:cNvPr id="6" name="Shape 4"/>
          <p:cNvSpPr/>
          <p:nvPr/>
        </p:nvSpPr>
        <p:spPr>
          <a:xfrm>
            <a:off x="0" y="6473952"/>
            <a:ext cx="12191695" cy="384048"/>
          </a:xfrm>
          <a:prstGeom prst="rect">
            <a:avLst/>
          </a:prstGeom>
          <a:solidFill>
            <a:srgbClr val="E8EEF3"/>
          </a:solidFill>
          <a:ln w="12700">
            <a:solidFill>
              <a:srgbClr val="E8EEF3"/>
            </a:solidFill>
            <a:prstDash val="solid"/>
          </a:ln>
        </p:spPr>
      </p:sp>
      <p:sp>
        <p:nvSpPr>
          <p:cNvPr id="7" name="Shape 5"/>
          <p:cNvSpPr/>
          <p:nvPr/>
        </p:nvSpPr>
        <p:spPr>
          <a:xfrm>
            <a:off x="0" y="6473952"/>
            <a:ext cx="12191695" cy="32004"/>
          </a:xfrm>
          <a:prstGeom prst="rect">
            <a:avLst/>
          </a:prstGeom>
          <a:solidFill>
            <a:srgbClr val="E1A244"/>
          </a:solidFill>
          <a:ln w="12700">
            <a:solidFill>
              <a:srgbClr val="E1A244"/>
            </a:solidFill>
            <a:prstDash val="solid"/>
          </a:ln>
        </p:spPr>
      </p:sp>
      <p:sp>
        <p:nvSpPr>
          <p:cNvPr id="8" name="Text 6"/>
          <p:cNvSpPr/>
          <p:nvPr/>
        </p:nvSpPr>
        <p:spPr>
          <a:xfrm>
            <a:off x="411480" y="6528816"/>
            <a:ext cx="8595360" cy="274320"/>
          </a:xfrm>
          <a:prstGeom prst="rect">
            <a:avLst/>
          </a:prstGeom>
          <a:noFill/>
          <a:ln/>
        </p:spPr>
        <p:txBody>
          <a:bodyPr wrap="square" lIns="0" tIns="0" rIns="0" bIns="0" rtlCol="0" anchor="ctr"/>
          <a:lstStyle/>
          <a:p>
            <a:pPr indent="0" marL="0">
              <a:buNone/>
            </a:pPr>
            <a:r>
              <a:rPr lang="en-US" sz="1100" dirty="0">
                <a:solidFill>
                  <a:srgbClr val="5A6A7A"/>
                </a:solidFill>
                <a:latin typeface="Calibri" pitchFamily="34" charset="0"/>
                <a:ea typeface="Calibri" pitchFamily="34" charset="-122"/>
                <a:cs typeface="Calibri" pitchFamily="34" charset="-120"/>
              </a:rPr>
              <a:t>Copyright 2026 LogosTeach  ·  All Rights Reserved</a:t>
            </a:r>
            <a:endParaRPr lang="en-US" sz="1100" dirty="0"/>
          </a:p>
        </p:txBody>
      </p:sp>
      <p:sp>
        <p:nvSpPr>
          <p:cNvPr id="9" name="Text 7"/>
          <p:cNvSpPr/>
          <p:nvPr/>
        </p:nvSpPr>
        <p:spPr>
          <a:xfrm>
            <a:off x="9509760" y="6528816"/>
            <a:ext cx="2286000" cy="274320"/>
          </a:xfrm>
          <a:prstGeom prst="rect">
            <a:avLst/>
          </a:prstGeom>
          <a:noFill/>
          <a:ln/>
        </p:spPr>
        <p:txBody>
          <a:bodyPr wrap="square" lIns="0" tIns="0" rIns="0" bIns="0" rtlCol="0" anchor="ctr"/>
          <a:lstStyle/>
          <a:p>
            <a:pPr algn="r" indent="0" marL="0">
              <a:buNone/>
            </a:pPr>
            <a:r>
              <a:rPr lang="en-US" sz="1100" dirty="0">
                <a:solidFill>
                  <a:srgbClr val="0D3358"/>
                </a:solidFill>
                <a:latin typeface="Calibri" pitchFamily="34" charset="0"/>
                <a:ea typeface="Calibri" pitchFamily="34" charset="-122"/>
                <a:cs typeface="Calibri" pitchFamily="34" charset="-120"/>
              </a:rPr>
              <a:t>4  /  14</a:t>
            </a:r>
            <a:endParaRPr lang="en-US" sz="1100" dirty="0"/>
          </a:p>
        </p:txBody>
      </p:sp>
      <p:sp>
        <p:nvSpPr>
          <p:cNvPr id="10" name="Text 8"/>
          <p:cNvSpPr/>
          <p:nvPr/>
        </p:nvSpPr>
        <p:spPr>
          <a:xfrm>
            <a:off x="457200" y="658368"/>
            <a:ext cx="11247120" cy="384048"/>
          </a:xfrm>
          <a:prstGeom prst="rect">
            <a:avLst/>
          </a:prstGeom>
          <a:noFill/>
          <a:ln/>
        </p:spPr>
        <p:txBody>
          <a:bodyPr wrap="square" lIns="0" tIns="0" rIns="0" bIns="0" rtlCol="0" anchor="ctr"/>
          <a:lstStyle/>
          <a:p>
            <a:pPr indent="0" marL="0">
              <a:buNone/>
            </a:pPr>
            <a:r>
              <a:rPr lang="en-US" sz="2800" b="1" dirty="0">
                <a:solidFill>
                  <a:srgbClr val="0D3358"/>
                </a:solidFill>
                <a:latin typeface="Calibri" pitchFamily="34" charset="0"/>
                <a:ea typeface="Calibri" pitchFamily="34" charset="-122"/>
                <a:cs typeface="Calibri" pitchFamily="34" charset="-120"/>
              </a:rPr>
              <a:t>The Seven Operators</a:t>
            </a:r>
            <a:endParaRPr lang="en-US" sz="2800" dirty="0"/>
          </a:p>
        </p:txBody>
      </p:sp>
      <p:sp>
        <p:nvSpPr>
          <p:cNvPr id="11" name="Shape 9"/>
          <p:cNvSpPr/>
          <p:nvPr/>
        </p:nvSpPr>
        <p:spPr>
          <a:xfrm>
            <a:off x="457200" y="1060704"/>
            <a:ext cx="1234440" cy="50292"/>
          </a:xfrm>
          <a:prstGeom prst="rect">
            <a:avLst/>
          </a:prstGeom>
          <a:solidFill>
            <a:srgbClr val="E1A244"/>
          </a:solidFill>
          <a:ln w="12700">
            <a:solidFill>
              <a:srgbClr val="E1A244"/>
            </a:solidFill>
            <a:prstDash val="solid"/>
          </a:ln>
        </p:spPr>
      </p:sp>
      <p:sp>
        <p:nvSpPr>
          <p:cNvPr id="12" name="Shape 10"/>
          <p:cNvSpPr/>
          <p:nvPr/>
        </p:nvSpPr>
        <p:spPr>
          <a:xfrm>
            <a:off x="457200" y="1298448"/>
            <a:ext cx="11247120" cy="640080"/>
          </a:xfrm>
          <a:prstGeom prst="roundRect">
            <a:avLst>
              <a:gd name="adj" fmla="val 8571"/>
            </a:avLst>
          </a:prstGeom>
          <a:solidFill>
            <a:srgbClr val="FFFFFF"/>
          </a:solidFill>
          <a:ln w="12700">
            <a:solidFill>
              <a:srgbClr val="E2E8EE"/>
            </a:solidFill>
            <a:prstDash val="solid"/>
          </a:ln>
        </p:spPr>
      </p:sp>
      <p:sp>
        <p:nvSpPr>
          <p:cNvPr id="13" name="Shape 11"/>
          <p:cNvSpPr/>
          <p:nvPr/>
        </p:nvSpPr>
        <p:spPr>
          <a:xfrm>
            <a:off x="603504" y="1408176"/>
            <a:ext cx="1051560" cy="420624"/>
          </a:xfrm>
          <a:prstGeom prst="roundRect">
            <a:avLst>
              <a:gd name="adj" fmla="val 10870"/>
            </a:avLst>
          </a:prstGeom>
          <a:solidFill>
            <a:srgbClr val="0D3358"/>
          </a:solidFill>
          <a:ln w="12700">
            <a:solidFill>
              <a:srgbClr val="0D3358"/>
            </a:solidFill>
            <a:prstDash val="solid"/>
          </a:ln>
        </p:spPr>
      </p:sp>
      <p:sp>
        <p:nvSpPr>
          <p:cNvPr id="14" name="Text 12"/>
          <p:cNvSpPr/>
          <p:nvPr/>
        </p:nvSpPr>
        <p:spPr>
          <a:xfrm>
            <a:off x="603504" y="1408176"/>
            <a:ext cx="1051560" cy="420624"/>
          </a:xfrm>
          <a:prstGeom prst="rect">
            <a:avLst/>
          </a:prstGeom>
          <a:noFill/>
          <a:ln/>
        </p:spPr>
        <p:txBody>
          <a:bodyPr wrap="square" lIns="0" tIns="0" rIns="0" bIns="0" rtlCol="0" anchor="ctr"/>
          <a:lstStyle/>
          <a:p>
            <a:pPr algn="ctr" indent="0" marL="0">
              <a:buNone/>
            </a:pPr>
            <a:r>
              <a:rPr lang="en-US" sz="1800" b="1" dirty="0">
                <a:solidFill>
                  <a:srgbClr val="E1A244"/>
                </a:solidFill>
                <a:latin typeface="Consolas" pitchFamily="34" charset="0"/>
                <a:ea typeface="Consolas" pitchFamily="34" charset="-122"/>
                <a:cs typeface="Consolas" pitchFamily="34" charset="-120"/>
              </a:rPr>
              <a:t>+</a:t>
            </a:r>
            <a:endParaRPr lang="en-US" sz="1800" dirty="0"/>
          </a:p>
        </p:txBody>
      </p:sp>
      <p:sp>
        <p:nvSpPr>
          <p:cNvPr id="15" name="Text 13"/>
          <p:cNvSpPr/>
          <p:nvPr/>
        </p:nvSpPr>
        <p:spPr>
          <a:xfrm>
            <a:off x="1828800" y="1408176"/>
            <a:ext cx="3108960" cy="420624"/>
          </a:xfrm>
          <a:prstGeom prst="rect">
            <a:avLst/>
          </a:prstGeom>
          <a:noFill/>
          <a:ln/>
        </p:spPr>
        <p:txBody>
          <a:bodyPr wrap="square" lIns="0" tIns="0" rIns="0" bIns="0" rtlCol="0" anchor="ctr"/>
          <a:lstStyle/>
          <a:p>
            <a:pPr indent="0" marL="0">
              <a:buNone/>
            </a:pPr>
            <a:r>
              <a:rPr lang="en-US" sz="1800" b="1" dirty="0">
                <a:solidFill>
                  <a:srgbClr val="0D3358"/>
                </a:solidFill>
                <a:latin typeface="Calibri" pitchFamily="34" charset="0"/>
                <a:ea typeface="Calibri" pitchFamily="34" charset="-122"/>
                <a:cs typeface="Calibri" pitchFamily="34" charset="-120"/>
              </a:rPr>
              <a:t>Addition</a:t>
            </a:r>
            <a:endParaRPr lang="en-US" sz="1800" dirty="0"/>
          </a:p>
        </p:txBody>
      </p:sp>
      <p:sp>
        <p:nvSpPr>
          <p:cNvPr id="16" name="Text 14"/>
          <p:cNvSpPr/>
          <p:nvPr/>
        </p:nvSpPr>
        <p:spPr>
          <a:xfrm>
            <a:off x="5029200" y="1408176"/>
            <a:ext cx="3291840" cy="420624"/>
          </a:xfrm>
          <a:prstGeom prst="rect">
            <a:avLst/>
          </a:prstGeom>
          <a:noFill/>
          <a:ln/>
        </p:spPr>
        <p:txBody>
          <a:bodyPr wrap="square" lIns="0" tIns="0" rIns="0" bIns="0" rtlCol="0" anchor="ctr"/>
          <a:lstStyle/>
          <a:p>
            <a:pPr indent="0" marL="0">
              <a:buNone/>
            </a:pPr>
            <a:r>
              <a:rPr lang="en-US" sz="1600" dirty="0">
                <a:solidFill>
                  <a:srgbClr val="1A2B3C"/>
                </a:solidFill>
                <a:latin typeface="Consolas" pitchFamily="34" charset="0"/>
                <a:ea typeface="Consolas" pitchFamily="34" charset="-122"/>
                <a:cs typeface="Consolas" pitchFamily="34" charset="-120"/>
              </a:rPr>
              <a:t>7 + 3</a:t>
            </a:r>
            <a:endParaRPr lang="en-US" sz="1600" dirty="0"/>
          </a:p>
        </p:txBody>
      </p:sp>
      <p:sp>
        <p:nvSpPr>
          <p:cNvPr id="17" name="Text 15"/>
          <p:cNvSpPr/>
          <p:nvPr/>
        </p:nvSpPr>
        <p:spPr>
          <a:xfrm>
            <a:off x="8412480" y="1408176"/>
            <a:ext cx="3017520" cy="420624"/>
          </a:xfrm>
          <a:prstGeom prst="rect">
            <a:avLst/>
          </a:prstGeom>
          <a:noFill/>
          <a:ln/>
        </p:spPr>
        <p:txBody>
          <a:bodyPr wrap="square" lIns="0" tIns="0" rIns="0" bIns="0" rtlCol="0" anchor="ctr"/>
          <a:lstStyle/>
          <a:p>
            <a:pPr indent="0" marL="0">
              <a:buNone/>
            </a:pPr>
            <a:r>
              <a:rPr lang="en-US" sz="1600" dirty="0">
                <a:solidFill>
                  <a:srgbClr val="1A7070"/>
                </a:solidFill>
                <a:latin typeface="Consolas" pitchFamily="34" charset="0"/>
                <a:ea typeface="Consolas" pitchFamily="34" charset="-122"/>
                <a:cs typeface="Consolas" pitchFamily="34" charset="-120"/>
              </a:rPr>
              <a:t>→  10</a:t>
            </a:r>
            <a:endParaRPr lang="en-US" sz="1600" dirty="0"/>
          </a:p>
        </p:txBody>
      </p:sp>
      <p:sp>
        <p:nvSpPr>
          <p:cNvPr id="18" name="Shape 16"/>
          <p:cNvSpPr/>
          <p:nvPr/>
        </p:nvSpPr>
        <p:spPr>
          <a:xfrm>
            <a:off x="457200" y="1993392"/>
            <a:ext cx="11247120" cy="640080"/>
          </a:xfrm>
          <a:prstGeom prst="roundRect">
            <a:avLst>
              <a:gd name="adj" fmla="val 8571"/>
            </a:avLst>
          </a:prstGeom>
          <a:solidFill>
            <a:srgbClr val="F0F7FF"/>
          </a:solidFill>
          <a:ln w="12700">
            <a:solidFill>
              <a:srgbClr val="E2E8EE"/>
            </a:solidFill>
            <a:prstDash val="solid"/>
          </a:ln>
        </p:spPr>
      </p:sp>
      <p:sp>
        <p:nvSpPr>
          <p:cNvPr id="19" name="Shape 17"/>
          <p:cNvSpPr/>
          <p:nvPr/>
        </p:nvSpPr>
        <p:spPr>
          <a:xfrm>
            <a:off x="603504" y="2103120"/>
            <a:ext cx="1051560" cy="420624"/>
          </a:xfrm>
          <a:prstGeom prst="roundRect">
            <a:avLst>
              <a:gd name="adj" fmla="val 10870"/>
            </a:avLst>
          </a:prstGeom>
          <a:solidFill>
            <a:srgbClr val="0D3358"/>
          </a:solidFill>
          <a:ln w="12700">
            <a:solidFill>
              <a:srgbClr val="0D3358"/>
            </a:solidFill>
            <a:prstDash val="solid"/>
          </a:ln>
        </p:spPr>
      </p:sp>
      <p:sp>
        <p:nvSpPr>
          <p:cNvPr id="20" name="Text 18"/>
          <p:cNvSpPr/>
          <p:nvPr/>
        </p:nvSpPr>
        <p:spPr>
          <a:xfrm>
            <a:off x="603504" y="2103120"/>
            <a:ext cx="1051560" cy="420624"/>
          </a:xfrm>
          <a:prstGeom prst="rect">
            <a:avLst/>
          </a:prstGeom>
          <a:noFill/>
          <a:ln/>
        </p:spPr>
        <p:txBody>
          <a:bodyPr wrap="square" lIns="0" tIns="0" rIns="0" bIns="0" rtlCol="0" anchor="ctr"/>
          <a:lstStyle/>
          <a:p>
            <a:pPr algn="ctr" indent="0" marL="0">
              <a:buNone/>
            </a:pPr>
            <a:r>
              <a:rPr lang="en-US" sz="1800" b="1" dirty="0">
                <a:solidFill>
                  <a:srgbClr val="E1A244"/>
                </a:solidFill>
                <a:latin typeface="Consolas" pitchFamily="34" charset="0"/>
                <a:ea typeface="Consolas" pitchFamily="34" charset="-122"/>
                <a:cs typeface="Consolas" pitchFamily="34" charset="-120"/>
              </a:rPr>
              <a:t>−</a:t>
            </a:r>
            <a:endParaRPr lang="en-US" sz="1800" dirty="0"/>
          </a:p>
        </p:txBody>
      </p:sp>
      <p:sp>
        <p:nvSpPr>
          <p:cNvPr id="21" name="Text 19"/>
          <p:cNvSpPr/>
          <p:nvPr/>
        </p:nvSpPr>
        <p:spPr>
          <a:xfrm>
            <a:off x="1828800" y="2103120"/>
            <a:ext cx="3108960" cy="420624"/>
          </a:xfrm>
          <a:prstGeom prst="rect">
            <a:avLst/>
          </a:prstGeom>
          <a:noFill/>
          <a:ln/>
        </p:spPr>
        <p:txBody>
          <a:bodyPr wrap="square" lIns="0" tIns="0" rIns="0" bIns="0" rtlCol="0" anchor="ctr"/>
          <a:lstStyle/>
          <a:p>
            <a:pPr indent="0" marL="0">
              <a:buNone/>
            </a:pPr>
            <a:r>
              <a:rPr lang="en-US" sz="1800" b="1" dirty="0">
                <a:solidFill>
                  <a:srgbClr val="0D3358"/>
                </a:solidFill>
                <a:latin typeface="Calibri" pitchFamily="34" charset="0"/>
                <a:ea typeface="Calibri" pitchFamily="34" charset="-122"/>
                <a:cs typeface="Calibri" pitchFamily="34" charset="-120"/>
              </a:rPr>
              <a:t>Subtraction</a:t>
            </a:r>
            <a:endParaRPr lang="en-US" sz="1800" dirty="0"/>
          </a:p>
        </p:txBody>
      </p:sp>
      <p:sp>
        <p:nvSpPr>
          <p:cNvPr id="22" name="Text 20"/>
          <p:cNvSpPr/>
          <p:nvPr/>
        </p:nvSpPr>
        <p:spPr>
          <a:xfrm>
            <a:off x="5029200" y="2103120"/>
            <a:ext cx="3291840" cy="420624"/>
          </a:xfrm>
          <a:prstGeom prst="rect">
            <a:avLst/>
          </a:prstGeom>
          <a:noFill/>
          <a:ln/>
        </p:spPr>
        <p:txBody>
          <a:bodyPr wrap="square" lIns="0" tIns="0" rIns="0" bIns="0" rtlCol="0" anchor="ctr"/>
          <a:lstStyle/>
          <a:p>
            <a:pPr indent="0" marL="0">
              <a:buNone/>
            </a:pPr>
            <a:r>
              <a:rPr lang="en-US" sz="1600" dirty="0">
                <a:solidFill>
                  <a:srgbClr val="1A2B3C"/>
                </a:solidFill>
                <a:latin typeface="Consolas" pitchFamily="34" charset="0"/>
                <a:ea typeface="Consolas" pitchFamily="34" charset="-122"/>
                <a:cs typeface="Consolas" pitchFamily="34" charset="-120"/>
              </a:rPr>
              <a:t>7 - 3</a:t>
            </a:r>
            <a:endParaRPr lang="en-US" sz="1600" dirty="0"/>
          </a:p>
        </p:txBody>
      </p:sp>
      <p:sp>
        <p:nvSpPr>
          <p:cNvPr id="23" name="Text 21"/>
          <p:cNvSpPr/>
          <p:nvPr/>
        </p:nvSpPr>
        <p:spPr>
          <a:xfrm>
            <a:off x="8412480" y="2103120"/>
            <a:ext cx="3017520" cy="420624"/>
          </a:xfrm>
          <a:prstGeom prst="rect">
            <a:avLst/>
          </a:prstGeom>
          <a:noFill/>
          <a:ln/>
        </p:spPr>
        <p:txBody>
          <a:bodyPr wrap="square" lIns="0" tIns="0" rIns="0" bIns="0" rtlCol="0" anchor="ctr"/>
          <a:lstStyle/>
          <a:p>
            <a:pPr indent="0" marL="0">
              <a:buNone/>
            </a:pPr>
            <a:r>
              <a:rPr lang="en-US" sz="1600" dirty="0">
                <a:solidFill>
                  <a:srgbClr val="1A7070"/>
                </a:solidFill>
                <a:latin typeface="Consolas" pitchFamily="34" charset="0"/>
                <a:ea typeface="Consolas" pitchFamily="34" charset="-122"/>
                <a:cs typeface="Consolas" pitchFamily="34" charset="-120"/>
              </a:rPr>
              <a:t>→  4</a:t>
            </a:r>
            <a:endParaRPr lang="en-US" sz="1600" dirty="0"/>
          </a:p>
        </p:txBody>
      </p:sp>
      <p:sp>
        <p:nvSpPr>
          <p:cNvPr id="24" name="Shape 22"/>
          <p:cNvSpPr/>
          <p:nvPr/>
        </p:nvSpPr>
        <p:spPr>
          <a:xfrm>
            <a:off x="457200" y="2688336"/>
            <a:ext cx="11247120" cy="640080"/>
          </a:xfrm>
          <a:prstGeom prst="roundRect">
            <a:avLst>
              <a:gd name="adj" fmla="val 8571"/>
            </a:avLst>
          </a:prstGeom>
          <a:solidFill>
            <a:srgbClr val="FFFFFF"/>
          </a:solidFill>
          <a:ln w="12700">
            <a:solidFill>
              <a:srgbClr val="E2E8EE"/>
            </a:solidFill>
            <a:prstDash val="solid"/>
          </a:ln>
        </p:spPr>
      </p:sp>
      <p:sp>
        <p:nvSpPr>
          <p:cNvPr id="25" name="Shape 23"/>
          <p:cNvSpPr/>
          <p:nvPr/>
        </p:nvSpPr>
        <p:spPr>
          <a:xfrm>
            <a:off x="603504" y="2798064"/>
            <a:ext cx="1051560" cy="420624"/>
          </a:xfrm>
          <a:prstGeom prst="roundRect">
            <a:avLst>
              <a:gd name="adj" fmla="val 10870"/>
            </a:avLst>
          </a:prstGeom>
          <a:solidFill>
            <a:srgbClr val="0D3358"/>
          </a:solidFill>
          <a:ln w="12700">
            <a:solidFill>
              <a:srgbClr val="0D3358"/>
            </a:solidFill>
            <a:prstDash val="solid"/>
          </a:ln>
        </p:spPr>
      </p:sp>
      <p:sp>
        <p:nvSpPr>
          <p:cNvPr id="26" name="Text 24"/>
          <p:cNvSpPr/>
          <p:nvPr/>
        </p:nvSpPr>
        <p:spPr>
          <a:xfrm>
            <a:off x="603504" y="2798064"/>
            <a:ext cx="1051560" cy="420624"/>
          </a:xfrm>
          <a:prstGeom prst="rect">
            <a:avLst/>
          </a:prstGeom>
          <a:noFill/>
          <a:ln/>
        </p:spPr>
        <p:txBody>
          <a:bodyPr wrap="square" lIns="0" tIns="0" rIns="0" bIns="0" rtlCol="0" anchor="ctr"/>
          <a:lstStyle/>
          <a:p>
            <a:pPr algn="ctr" indent="0" marL="0">
              <a:buNone/>
            </a:pPr>
            <a:r>
              <a:rPr lang="en-US" sz="1800" b="1" dirty="0">
                <a:solidFill>
                  <a:srgbClr val="E1A244"/>
                </a:solidFill>
                <a:latin typeface="Consolas" pitchFamily="34" charset="0"/>
                <a:ea typeface="Consolas" pitchFamily="34" charset="-122"/>
                <a:cs typeface="Consolas" pitchFamily="34" charset="-120"/>
              </a:rPr>
              <a:t>*</a:t>
            </a:r>
            <a:endParaRPr lang="en-US" sz="1800" dirty="0"/>
          </a:p>
        </p:txBody>
      </p:sp>
      <p:sp>
        <p:nvSpPr>
          <p:cNvPr id="27" name="Text 25"/>
          <p:cNvSpPr/>
          <p:nvPr/>
        </p:nvSpPr>
        <p:spPr>
          <a:xfrm>
            <a:off x="1828800" y="2798064"/>
            <a:ext cx="3108960" cy="420624"/>
          </a:xfrm>
          <a:prstGeom prst="rect">
            <a:avLst/>
          </a:prstGeom>
          <a:noFill/>
          <a:ln/>
        </p:spPr>
        <p:txBody>
          <a:bodyPr wrap="square" lIns="0" tIns="0" rIns="0" bIns="0" rtlCol="0" anchor="ctr"/>
          <a:lstStyle/>
          <a:p>
            <a:pPr indent="0" marL="0">
              <a:buNone/>
            </a:pPr>
            <a:r>
              <a:rPr lang="en-US" sz="1800" b="1" dirty="0">
                <a:solidFill>
                  <a:srgbClr val="0D3358"/>
                </a:solidFill>
                <a:latin typeface="Calibri" pitchFamily="34" charset="0"/>
                <a:ea typeface="Calibri" pitchFamily="34" charset="-122"/>
                <a:cs typeface="Calibri" pitchFamily="34" charset="-120"/>
              </a:rPr>
              <a:t>Multiplication</a:t>
            </a:r>
            <a:endParaRPr lang="en-US" sz="1800" dirty="0"/>
          </a:p>
        </p:txBody>
      </p:sp>
      <p:sp>
        <p:nvSpPr>
          <p:cNvPr id="28" name="Text 26"/>
          <p:cNvSpPr/>
          <p:nvPr/>
        </p:nvSpPr>
        <p:spPr>
          <a:xfrm>
            <a:off x="5029200" y="2798064"/>
            <a:ext cx="3291840" cy="420624"/>
          </a:xfrm>
          <a:prstGeom prst="rect">
            <a:avLst/>
          </a:prstGeom>
          <a:noFill/>
          <a:ln/>
        </p:spPr>
        <p:txBody>
          <a:bodyPr wrap="square" lIns="0" tIns="0" rIns="0" bIns="0" rtlCol="0" anchor="ctr"/>
          <a:lstStyle/>
          <a:p>
            <a:pPr indent="0" marL="0">
              <a:buNone/>
            </a:pPr>
            <a:r>
              <a:rPr lang="en-US" sz="1600" dirty="0">
                <a:solidFill>
                  <a:srgbClr val="1A2B3C"/>
                </a:solidFill>
                <a:latin typeface="Consolas" pitchFamily="34" charset="0"/>
                <a:ea typeface="Consolas" pitchFamily="34" charset="-122"/>
                <a:cs typeface="Consolas" pitchFamily="34" charset="-120"/>
              </a:rPr>
              <a:t>7 * 3</a:t>
            </a:r>
            <a:endParaRPr lang="en-US" sz="1600" dirty="0"/>
          </a:p>
        </p:txBody>
      </p:sp>
      <p:sp>
        <p:nvSpPr>
          <p:cNvPr id="29" name="Text 27"/>
          <p:cNvSpPr/>
          <p:nvPr/>
        </p:nvSpPr>
        <p:spPr>
          <a:xfrm>
            <a:off x="8412480" y="2798064"/>
            <a:ext cx="3017520" cy="420624"/>
          </a:xfrm>
          <a:prstGeom prst="rect">
            <a:avLst/>
          </a:prstGeom>
          <a:noFill/>
          <a:ln/>
        </p:spPr>
        <p:txBody>
          <a:bodyPr wrap="square" lIns="0" tIns="0" rIns="0" bIns="0" rtlCol="0" anchor="ctr"/>
          <a:lstStyle/>
          <a:p>
            <a:pPr indent="0" marL="0">
              <a:buNone/>
            </a:pPr>
            <a:r>
              <a:rPr lang="en-US" sz="1600" dirty="0">
                <a:solidFill>
                  <a:srgbClr val="1A7070"/>
                </a:solidFill>
                <a:latin typeface="Consolas" pitchFamily="34" charset="0"/>
                <a:ea typeface="Consolas" pitchFamily="34" charset="-122"/>
                <a:cs typeface="Consolas" pitchFamily="34" charset="-120"/>
              </a:rPr>
              <a:t>→  21</a:t>
            </a:r>
            <a:endParaRPr lang="en-US" sz="1600" dirty="0"/>
          </a:p>
        </p:txBody>
      </p:sp>
      <p:sp>
        <p:nvSpPr>
          <p:cNvPr id="30" name="Shape 28"/>
          <p:cNvSpPr/>
          <p:nvPr/>
        </p:nvSpPr>
        <p:spPr>
          <a:xfrm>
            <a:off x="457200" y="3383280"/>
            <a:ext cx="11247120" cy="640080"/>
          </a:xfrm>
          <a:prstGeom prst="roundRect">
            <a:avLst>
              <a:gd name="adj" fmla="val 8571"/>
            </a:avLst>
          </a:prstGeom>
          <a:solidFill>
            <a:srgbClr val="F0F7FF"/>
          </a:solidFill>
          <a:ln w="12700">
            <a:solidFill>
              <a:srgbClr val="E2E8EE"/>
            </a:solidFill>
            <a:prstDash val="solid"/>
          </a:ln>
        </p:spPr>
      </p:sp>
      <p:sp>
        <p:nvSpPr>
          <p:cNvPr id="31" name="Shape 29"/>
          <p:cNvSpPr/>
          <p:nvPr/>
        </p:nvSpPr>
        <p:spPr>
          <a:xfrm>
            <a:off x="603504" y="3493008"/>
            <a:ext cx="1051560" cy="420624"/>
          </a:xfrm>
          <a:prstGeom prst="roundRect">
            <a:avLst>
              <a:gd name="adj" fmla="val 10870"/>
            </a:avLst>
          </a:prstGeom>
          <a:solidFill>
            <a:srgbClr val="0D3358"/>
          </a:solidFill>
          <a:ln w="12700">
            <a:solidFill>
              <a:srgbClr val="0D3358"/>
            </a:solidFill>
            <a:prstDash val="solid"/>
          </a:ln>
        </p:spPr>
      </p:sp>
      <p:sp>
        <p:nvSpPr>
          <p:cNvPr id="32" name="Text 30"/>
          <p:cNvSpPr/>
          <p:nvPr/>
        </p:nvSpPr>
        <p:spPr>
          <a:xfrm>
            <a:off x="603504" y="3493008"/>
            <a:ext cx="1051560" cy="420624"/>
          </a:xfrm>
          <a:prstGeom prst="rect">
            <a:avLst/>
          </a:prstGeom>
          <a:noFill/>
          <a:ln/>
        </p:spPr>
        <p:txBody>
          <a:bodyPr wrap="square" lIns="0" tIns="0" rIns="0" bIns="0" rtlCol="0" anchor="ctr"/>
          <a:lstStyle/>
          <a:p>
            <a:pPr algn="ctr" indent="0" marL="0">
              <a:buNone/>
            </a:pPr>
            <a:r>
              <a:rPr lang="en-US" sz="1800" b="1" dirty="0">
                <a:solidFill>
                  <a:srgbClr val="E1A244"/>
                </a:solidFill>
                <a:latin typeface="Consolas" pitchFamily="34" charset="0"/>
                <a:ea typeface="Consolas" pitchFamily="34" charset="-122"/>
                <a:cs typeface="Consolas" pitchFamily="34" charset="-120"/>
              </a:rPr>
              <a:t>/</a:t>
            </a:r>
            <a:endParaRPr lang="en-US" sz="1800" dirty="0"/>
          </a:p>
        </p:txBody>
      </p:sp>
      <p:sp>
        <p:nvSpPr>
          <p:cNvPr id="33" name="Text 31"/>
          <p:cNvSpPr/>
          <p:nvPr/>
        </p:nvSpPr>
        <p:spPr>
          <a:xfrm>
            <a:off x="1828800" y="3493008"/>
            <a:ext cx="3108960" cy="420624"/>
          </a:xfrm>
          <a:prstGeom prst="rect">
            <a:avLst/>
          </a:prstGeom>
          <a:noFill/>
          <a:ln/>
        </p:spPr>
        <p:txBody>
          <a:bodyPr wrap="square" lIns="0" tIns="0" rIns="0" bIns="0" rtlCol="0" anchor="ctr"/>
          <a:lstStyle/>
          <a:p>
            <a:pPr indent="0" marL="0">
              <a:buNone/>
            </a:pPr>
            <a:r>
              <a:rPr lang="en-US" sz="1800" b="1" dirty="0">
                <a:solidFill>
                  <a:srgbClr val="0D3358"/>
                </a:solidFill>
                <a:latin typeface="Calibri" pitchFamily="34" charset="0"/>
                <a:ea typeface="Calibri" pitchFamily="34" charset="-122"/>
                <a:cs typeface="Calibri" pitchFamily="34" charset="-120"/>
              </a:rPr>
              <a:t>True division</a:t>
            </a:r>
            <a:endParaRPr lang="en-US" sz="1800" dirty="0"/>
          </a:p>
        </p:txBody>
      </p:sp>
      <p:sp>
        <p:nvSpPr>
          <p:cNvPr id="34" name="Text 32"/>
          <p:cNvSpPr/>
          <p:nvPr/>
        </p:nvSpPr>
        <p:spPr>
          <a:xfrm>
            <a:off x="5029200" y="3493008"/>
            <a:ext cx="3291840" cy="420624"/>
          </a:xfrm>
          <a:prstGeom prst="rect">
            <a:avLst/>
          </a:prstGeom>
          <a:noFill/>
          <a:ln/>
        </p:spPr>
        <p:txBody>
          <a:bodyPr wrap="square" lIns="0" tIns="0" rIns="0" bIns="0" rtlCol="0" anchor="ctr"/>
          <a:lstStyle/>
          <a:p>
            <a:pPr indent="0" marL="0">
              <a:buNone/>
            </a:pPr>
            <a:r>
              <a:rPr lang="en-US" sz="1600" dirty="0">
                <a:solidFill>
                  <a:srgbClr val="1A2B3C"/>
                </a:solidFill>
                <a:latin typeface="Consolas" pitchFamily="34" charset="0"/>
                <a:ea typeface="Consolas" pitchFamily="34" charset="-122"/>
                <a:cs typeface="Consolas" pitchFamily="34" charset="-120"/>
              </a:rPr>
              <a:t>7 / 3</a:t>
            </a:r>
            <a:endParaRPr lang="en-US" sz="1600" dirty="0"/>
          </a:p>
        </p:txBody>
      </p:sp>
      <p:sp>
        <p:nvSpPr>
          <p:cNvPr id="35" name="Text 33"/>
          <p:cNvSpPr/>
          <p:nvPr/>
        </p:nvSpPr>
        <p:spPr>
          <a:xfrm>
            <a:off x="8412480" y="3493008"/>
            <a:ext cx="3017520" cy="420624"/>
          </a:xfrm>
          <a:prstGeom prst="rect">
            <a:avLst/>
          </a:prstGeom>
          <a:noFill/>
          <a:ln/>
        </p:spPr>
        <p:txBody>
          <a:bodyPr wrap="square" lIns="0" tIns="0" rIns="0" bIns="0" rtlCol="0" anchor="ctr"/>
          <a:lstStyle/>
          <a:p>
            <a:pPr indent="0" marL="0">
              <a:buNone/>
            </a:pPr>
            <a:r>
              <a:rPr lang="en-US" sz="1600" dirty="0">
                <a:solidFill>
                  <a:srgbClr val="1A7070"/>
                </a:solidFill>
                <a:latin typeface="Consolas" pitchFamily="34" charset="0"/>
                <a:ea typeface="Consolas" pitchFamily="34" charset="-122"/>
                <a:cs typeface="Consolas" pitchFamily="34" charset="-120"/>
              </a:rPr>
              <a:t>→  2.333...</a:t>
            </a:r>
            <a:endParaRPr lang="en-US" sz="1600" dirty="0"/>
          </a:p>
        </p:txBody>
      </p:sp>
      <p:sp>
        <p:nvSpPr>
          <p:cNvPr id="36" name="Shape 34"/>
          <p:cNvSpPr/>
          <p:nvPr/>
        </p:nvSpPr>
        <p:spPr>
          <a:xfrm>
            <a:off x="457200" y="4078224"/>
            <a:ext cx="11247120" cy="640080"/>
          </a:xfrm>
          <a:prstGeom prst="roundRect">
            <a:avLst>
              <a:gd name="adj" fmla="val 8571"/>
            </a:avLst>
          </a:prstGeom>
          <a:solidFill>
            <a:srgbClr val="FFFFFF"/>
          </a:solidFill>
          <a:ln w="12700">
            <a:solidFill>
              <a:srgbClr val="E2E8EE"/>
            </a:solidFill>
            <a:prstDash val="solid"/>
          </a:ln>
        </p:spPr>
      </p:sp>
      <p:sp>
        <p:nvSpPr>
          <p:cNvPr id="37" name="Shape 35"/>
          <p:cNvSpPr/>
          <p:nvPr/>
        </p:nvSpPr>
        <p:spPr>
          <a:xfrm>
            <a:off x="603504" y="4187952"/>
            <a:ext cx="1051560" cy="420624"/>
          </a:xfrm>
          <a:prstGeom prst="roundRect">
            <a:avLst>
              <a:gd name="adj" fmla="val 10870"/>
            </a:avLst>
          </a:prstGeom>
          <a:solidFill>
            <a:srgbClr val="0D3358"/>
          </a:solidFill>
          <a:ln w="12700">
            <a:solidFill>
              <a:srgbClr val="0D3358"/>
            </a:solidFill>
            <a:prstDash val="solid"/>
          </a:ln>
        </p:spPr>
      </p:sp>
      <p:sp>
        <p:nvSpPr>
          <p:cNvPr id="38" name="Text 36"/>
          <p:cNvSpPr/>
          <p:nvPr/>
        </p:nvSpPr>
        <p:spPr>
          <a:xfrm>
            <a:off x="603504" y="4187952"/>
            <a:ext cx="1051560" cy="420624"/>
          </a:xfrm>
          <a:prstGeom prst="rect">
            <a:avLst/>
          </a:prstGeom>
          <a:noFill/>
          <a:ln/>
        </p:spPr>
        <p:txBody>
          <a:bodyPr wrap="square" lIns="0" tIns="0" rIns="0" bIns="0" rtlCol="0" anchor="ctr"/>
          <a:lstStyle/>
          <a:p>
            <a:pPr algn="ctr" indent="0" marL="0">
              <a:buNone/>
            </a:pPr>
            <a:r>
              <a:rPr lang="en-US" sz="1800" b="1" dirty="0">
                <a:solidFill>
                  <a:srgbClr val="E1A244"/>
                </a:solidFill>
                <a:latin typeface="Consolas" pitchFamily="34" charset="0"/>
                <a:ea typeface="Consolas" pitchFamily="34" charset="-122"/>
                <a:cs typeface="Consolas" pitchFamily="34" charset="-120"/>
              </a:rPr>
              <a:t>//</a:t>
            </a:r>
            <a:endParaRPr lang="en-US" sz="1800" dirty="0"/>
          </a:p>
        </p:txBody>
      </p:sp>
      <p:sp>
        <p:nvSpPr>
          <p:cNvPr id="39" name="Text 37"/>
          <p:cNvSpPr/>
          <p:nvPr/>
        </p:nvSpPr>
        <p:spPr>
          <a:xfrm>
            <a:off x="1828800" y="4187952"/>
            <a:ext cx="3108960" cy="420624"/>
          </a:xfrm>
          <a:prstGeom prst="rect">
            <a:avLst/>
          </a:prstGeom>
          <a:noFill/>
          <a:ln/>
        </p:spPr>
        <p:txBody>
          <a:bodyPr wrap="square" lIns="0" tIns="0" rIns="0" bIns="0" rtlCol="0" anchor="ctr"/>
          <a:lstStyle/>
          <a:p>
            <a:pPr indent="0" marL="0">
              <a:buNone/>
            </a:pPr>
            <a:r>
              <a:rPr lang="en-US" sz="1800" b="1" dirty="0">
                <a:solidFill>
                  <a:srgbClr val="0D3358"/>
                </a:solidFill>
                <a:latin typeface="Calibri" pitchFamily="34" charset="0"/>
                <a:ea typeface="Calibri" pitchFamily="34" charset="-122"/>
                <a:cs typeface="Calibri" pitchFamily="34" charset="-120"/>
              </a:rPr>
              <a:t>Floor division</a:t>
            </a:r>
            <a:endParaRPr lang="en-US" sz="1800" dirty="0"/>
          </a:p>
        </p:txBody>
      </p:sp>
      <p:sp>
        <p:nvSpPr>
          <p:cNvPr id="40" name="Text 38"/>
          <p:cNvSpPr/>
          <p:nvPr/>
        </p:nvSpPr>
        <p:spPr>
          <a:xfrm>
            <a:off x="5029200" y="4187952"/>
            <a:ext cx="3291840" cy="420624"/>
          </a:xfrm>
          <a:prstGeom prst="rect">
            <a:avLst/>
          </a:prstGeom>
          <a:noFill/>
          <a:ln/>
        </p:spPr>
        <p:txBody>
          <a:bodyPr wrap="square" lIns="0" tIns="0" rIns="0" bIns="0" rtlCol="0" anchor="ctr"/>
          <a:lstStyle/>
          <a:p>
            <a:pPr indent="0" marL="0">
              <a:buNone/>
            </a:pPr>
            <a:r>
              <a:rPr lang="en-US" sz="1600" dirty="0">
                <a:solidFill>
                  <a:srgbClr val="1A2B3C"/>
                </a:solidFill>
                <a:latin typeface="Consolas" pitchFamily="34" charset="0"/>
                <a:ea typeface="Consolas" pitchFamily="34" charset="-122"/>
                <a:cs typeface="Consolas" pitchFamily="34" charset="-120"/>
              </a:rPr>
              <a:t>7 // 3</a:t>
            </a:r>
            <a:endParaRPr lang="en-US" sz="1600" dirty="0"/>
          </a:p>
        </p:txBody>
      </p:sp>
      <p:sp>
        <p:nvSpPr>
          <p:cNvPr id="41" name="Text 39"/>
          <p:cNvSpPr/>
          <p:nvPr/>
        </p:nvSpPr>
        <p:spPr>
          <a:xfrm>
            <a:off x="8412480" y="4187952"/>
            <a:ext cx="3017520" cy="420624"/>
          </a:xfrm>
          <a:prstGeom prst="rect">
            <a:avLst/>
          </a:prstGeom>
          <a:noFill/>
          <a:ln/>
        </p:spPr>
        <p:txBody>
          <a:bodyPr wrap="square" lIns="0" tIns="0" rIns="0" bIns="0" rtlCol="0" anchor="ctr"/>
          <a:lstStyle/>
          <a:p>
            <a:pPr indent="0" marL="0">
              <a:buNone/>
            </a:pPr>
            <a:r>
              <a:rPr lang="en-US" sz="1600" dirty="0">
                <a:solidFill>
                  <a:srgbClr val="1A7070"/>
                </a:solidFill>
                <a:latin typeface="Consolas" pitchFamily="34" charset="0"/>
                <a:ea typeface="Consolas" pitchFamily="34" charset="-122"/>
                <a:cs typeface="Consolas" pitchFamily="34" charset="-120"/>
              </a:rPr>
              <a:t>→  3</a:t>
            </a:r>
            <a:endParaRPr lang="en-US" sz="1600" dirty="0"/>
          </a:p>
        </p:txBody>
      </p:sp>
      <p:sp>
        <p:nvSpPr>
          <p:cNvPr id="42" name="Shape 40"/>
          <p:cNvSpPr/>
          <p:nvPr/>
        </p:nvSpPr>
        <p:spPr>
          <a:xfrm>
            <a:off x="457200" y="4773168"/>
            <a:ext cx="11247120" cy="640080"/>
          </a:xfrm>
          <a:prstGeom prst="roundRect">
            <a:avLst>
              <a:gd name="adj" fmla="val 8571"/>
            </a:avLst>
          </a:prstGeom>
          <a:solidFill>
            <a:srgbClr val="F0F7FF"/>
          </a:solidFill>
          <a:ln w="12700">
            <a:solidFill>
              <a:srgbClr val="E2E8EE"/>
            </a:solidFill>
            <a:prstDash val="solid"/>
          </a:ln>
        </p:spPr>
      </p:sp>
      <p:sp>
        <p:nvSpPr>
          <p:cNvPr id="43" name="Shape 41"/>
          <p:cNvSpPr/>
          <p:nvPr/>
        </p:nvSpPr>
        <p:spPr>
          <a:xfrm>
            <a:off x="603504" y="4882896"/>
            <a:ext cx="1051560" cy="420624"/>
          </a:xfrm>
          <a:prstGeom prst="roundRect">
            <a:avLst>
              <a:gd name="adj" fmla="val 10870"/>
            </a:avLst>
          </a:prstGeom>
          <a:solidFill>
            <a:srgbClr val="0D3358"/>
          </a:solidFill>
          <a:ln w="12700">
            <a:solidFill>
              <a:srgbClr val="0D3358"/>
            </a:solidFill>
            <a:prstDash val="solid"/>
          </a:ln>
        </p:spPr>
      </p:sp>
      <p:sp>
        <p:nvSpPr>
          <p:cNvPr id="44" name="Text 42"/>
          <p:cNvSpPr/>
          <p:nvPr/>
        </p:nvSpPr>
        <p:spPr>
          <a:xfrm>
            <a:off x="603504" y="4882896"/>
            <a:ext cx="1051560" cy="420624"/>
          </a:xfrm>
          <a:prstGeom prst="rect">
            <a:avLst/>
          </a:prstGeom>
          <a:noFill/>
          <a:ln/>
        </p:spPr>
        <p:txBody>
          <a:bodyPr wrap="square" lIns="0" tIns="0" rIns="0" bIns="0" rtlCol="0" anchor="ctr"/>
          <a:lstStyle/>
          <a:p>
            <a:pPr algn="ctr" indent="0" marL="0">
              <a:buNone/>
            </a:pPr>
            <a:r>
              <a:rPr lang="en-US" sz="1800" b="1" dirty="0">
                <a:solidFill>
                  <a:srgbClr val="E1A244"/>
                </a:solidFill>
                <a:latin typeface="Consolas" pitchFamily="34" charset="0"/>
                <a:ea typeface="Consolas" pitchFamily="34" charset="-122"/>
                <a:cs typeface="Consolas" pitchFamily="34" charset="-120"/>
              </a:rPr>
              <a:t>%</a:t>
            </a:r>
            <a:endParaRPr lang="en-US" sz="1800" dirty="0"/>
          </a:p>
        </p:txBody>
      </p:sp>
      <p:sp>
        <p:nvSpPr>
          <p:cNvPr id="45" name="Text 43"/>
          <p:cNvSpPr/>
          <p:nvPr/>
        </p:nvSpPr>
        <p:spPr>
          <a:xfrm>
            <a:off x="1828800" y="4882896"/>
            <a:ext cx="3108960" cy="420624"/>
          </a:xfrm>
          <a:prstGeom prst="rect">
            <a:avLst/>
          </a:prstGeom>
          <a:noFill/>
          <a:ln/>
        </p:spPr>
        <p:txBody>
          <a:bodyPr wrap="square" lIns="0" tIns="0" rIns="0" bIns="0" rtlCol="0" anchor="ctr"/>
          <a:lstStyle/>
          <a:p>
            <a:pPr indent="0" marL="0">
              <a:buNone/>
            </a:pPr>
            <a:r>
              <a:rPr lang="en-US" sz="1800" b="1" dirty="0">
                <a:solidFill>
                  <a:srgbClr val="0D3358"/>
                </a:solidFill>
                <a:latin typeface="Calibri" pitchFamily="34" charset="0"/>
                <a:ea typeface="Calibri" pitchFamily="34" charset="-122"/>
                <a:cs typeface="Calibri" pitchFamily="34" charset="-120"/>
              </a:rPr>
              <a:t>Remainder</a:t>
            </a:r>
            <a:endParaRPr lang="en-US" sz="1800" dirty="0"/>
          </a:p>
        </p:txBody>
      </p:sp>
      <p:sp>
        <p:nvSpPr>
          <p:cNvPr id="46" name="Text 44"/>
          <p:cNvSpPr/>
          <p:nvPr/>
        </p:nvSpPr>
        <p:spPr>
          <a:xfrm>
            <a:off x="5029200" y="4882896"/>
            <a:ext cx="3291840" cy="420624"/>
          </a:xfrm>
          <a:prstGeom prst="rect">
            <a:avLst/>
          </a:prstGeom>
          <a:noFill/>
          <a:ln/>
        </p:spPr>
        <p:txBody>
          <a:bodyPr wrap="square" lIns="0" tIns="0" rIns="0" bIns="0" rtlCol="0" anchor="ctr"/>
          <a:lstStyle/>
          <a:p>
            <a:pPr indent="0" marL="0">
              <a:buNone/>
            </a:pPr>
            <a:r>
              <a:rPr lang="en-US" sz="1600" dirty="0">
                <a:solidFill>
                  <a:srgbClr val="1A2B3C"/>
                </a:solidFill>
                <a:latin typeface="Consolas" pitchFamily="34" charset="0"/>
                <a:ea typeface="Consolas" pitchFamily="34" charset="-122"/>
                <a:cs typeface="Consolas" pitchFamily="34" charset="-120"/>
              </a:rPr>
              <a:t>7 % 3</a:t>
            </a:r>
            <a:endParaRPr lang="en-US" sz="1600" dirty="0"/>
          </a:p>
        </p:txBody>
      </p:sp>
      <p:sp>
        <p:nvSpPr>
          <p:cNvPr id="47" name="Text 45"/>
          <p:cNvSpPr/>
          <p:nvPr/>
        </p:nvSpPr>
        <p:spPr>
          <a:xfrm>
            <a:off x="8412480" y="4882896"/>
            <a:ext cx="3017520" cy="420624"/>
          </a:xfrm>
          <a:prstGeom prst="rect">
            <a:avLst/>
          </a:prstGeom>
          <a:noFill/>
          <a:ln/>
        </p:spPr>
        <p:txBody>
          <a:bodyPr wrap="square" lIns="0" tIns="0" rIns="0" bIns="0" rtlCol="0" anchor="ctr"/>
          <a:lstStyle/>
          <a:p>
            <a:pPr indent="0" marL="0">
              <a:buNone/>
            </a:pPr>
            <a:r>
              <a:rPr lang="en-US" sz="1600" dirty="0">
                <a:solidFill>
                  <a:srgbClr val="1A7070"/>
                </a:solidFill>
                <a:latin typeface="Consolas" pitchFamily="34" charset="0"/>
                <a:ea typeface="Consolas" pitchFamily="34" charset="-122"/>
                <a:cs typeface="Consolas" pitchFamily="34" charset="-120"/>
              </a:rPr>
              <a:t>→  1</a:t>
            </a:r>
            <a:endParaRPr lang="en-US" sz="1600" dirty="0"/>
          </a:p>
        </p:txBody>
      </p:sp>
      <p:sp>
        <p:nvSpPr>
          <p:cNvPr id="48" name="Shape 46"/>
          <p:cNvSpPr/>
          <p:nvPr/>
        </p:nvSpPr>
        <p:spPr>
          <a:xfrm>
            <a:off x="457200" y="5468112"/>
            <a:ext cx="11247120" cy="640080"/>
          </a:xfrm>
          <a:prstGeom prst="roundRect">
            <a:avLst>
              <a:gd name="adj" fmla="val 8571"/>
            </a:avLst>
          </a:prstGeom>
          <a:solidFill>
            <a:srgbClr val="FFFFFF"/>
          </a:solidFill>
          <a:ln w="12700">
            <a:solidFill>
              <a:srgbClr val="E2E8EE"/>
            </a:solidFill>
            <a:prstDash val="solid"/>
          </a:ln>
        </p:spPr>
      </p:sp>
      <p:sp>
        <p:nvSpPr>
          <p:cNvPr id="49" name="Shape 47"/>
          <p:cNvSpPr/>
          <p:nvPr/>
        </p:nvSpPr>
        <p:spPr>
          <a:xfrm>
            <a:off x="603504" y="5577840"/>
            <a:ext cx="1051560" cy="420624"/>
          </a:xfrm>
          <a:prstGeom prst="roundRect">
            <a:avLst>
              <a:gd name="adj" fmla="val 10870"/>
            </a:avLst>
          </a:prstGeom>
          <a:solidFill>
            <a:srgbClr val="0D3358"/>
          </a:solidFill>
          <a:ln w="12700">
            <a:solidFill>
              <a:srgbClr val="0D3358"/>
            </a:solidFill>
            <a:prstDash val="solid"/>
          </a:ln>
        </p:spPr>
      </p:sp>
      <p:sp>
        <p:nvSpPr>
          <p:cNvPr id="50" name="Text 48"/>
          <p:cNvSpPr/>
          <p:nvPr/>
        </p:nvSpPr>
        <p:spPr>
          <a:xfrm>
            <a:off x="603504" y="5577840"/>
            <a:ext cx="1051560" cy="420624"/>
          </a:xfrm>
          <a:prstGeom prst="rect">
            <a:avLst/>
          </a:prstGeom>
          <a:noFill/>
          <a:ln/>
        </p:spPr>
        <p:txBody>
          <a:bodyPr wrap="square" lIns="0" tIns="0" rIns="0" bIns="0" rtlCol="0" anchor="ctr"/>
          <a:lstStyle/>
          <a:p>
            <a:pPr algn="ctr" indent="0" marL="0">
              <a:buNone/>
            </a:pPr>
            <a:r>
              <a:rPr lang="en-US" sz="1800" b="1" dirty="0">
                <a:solidFill>
                  <a:srgbClr val="E1A244"/>
                </a:solidFill>
                <a:latin typeface="Consolas" pitchFamily="34" charset="0"/>
                <a:ea typeface="Consolas" pitchFamily="34" charset="-122"/>
                <a:cs typeface="Consolas" pitchFamily="34" charset="-120"/>
              </a:rPr>
              <a:t>**</a:t>
            </a:r>
            <a:endParaRPr lang="en-US" sz="1800" dirty="0"/>
          </a:p>
        </p:txBody>
      </p:sp>
      <p:sp>
        <p:nvSpPr>
          <p:cNvPr id="51" name="Text 49"/>
          <p:cNvSpPr/>
          <p:nvPr/>
        </p:nvSpPr>
        <p:spPr>
          <a:xfrm>
            <a:off x="1828800" y="5577840"/>
            <a:ext cx="3108960" cy="420624"/>
          </a:xfrm>
          <a:prstGeom prst="rect">
            <a:avLst/>
          </a:prstGeom>
          <a:noFill/>
          <a:ln/>
        </p:spPr>
        <p:txBody>
          <a:bodyPr wrap="square" lIns="0" tIns="0" rIns="0" bIns="0" rtlCol="0" anchor="ctr"/>
          <a:lstStyle/>
          <a:p>
            <a:pPr indent="0" marL="0">
              <a:buNone/>
            </a:pPr>
            <a:r>
              <a:rPr lang="en-US" sz="1800" b="1" dirty="0">
                <a:solidFill>
                  <a:srgbClr val="0D3358"/>
                </a:solidFill>
                <a:latin typeface="Calibri" pitchFamily="34" charset="0"/>
                <a:ea typeface="Calibri" pitchFamily="34" charset="-122"/>
                <a:cs typeface="Calibri" pitchFamily="34" charset="-120"/>
              </a:rPr>
              <a:t>Power</a:t>
            </a:r>
            <a:endParaRPr lang="en-US" sz="1800" dirty="0"/>
          </a:p>
        </p:txBody>
      </p:sp>
      <p:sp>
        <p:nvSpPr>
          <p:cNvPr id="52" name="Text 50"/>
          <p:cNvSpPr/>
          <p:nvPr/>
        </p:nvSpPr>
        <p:spPr>
          <a:xfrm>
            <a:off x="5029200" y="5577840"/>
            <a:ext cx="3291840" cy="420624"/>
          </a:xfrm>
          <a:prstGeom prst="rect">
            <a:avLst/>
          </a:prstGeom>
          <a:noFill/>
          <a:ln/>
        </p:spPr>
        <p:txBody>
          <a:bodyPr wrap="square" lIns="0" tIns="0" rIns="0" bIns="0" rtlCol="0" anchor="ctr"/>
          <a:lstStyle/>
          <a:p>
            <a:pPr indent="0" marL="0">
              <a:buNone/>
            </a:pPr>
            <a:r>
              <a:rPr lang="en-US" sz="1600" dirty="0">
                <a:solidFill>
                  <a:srgbClr val="1A2B3C"/>
                </a:solidFill>
                <a:latin typeface="Consolas" pitchFamily="34" charset="0"/>
                <a:ea typeface="Consolas" pitchFamily="34" charset="-122"/>
                <a:cs typeface="Consolas" pitchFamily="34" charset="-120"/>
              </a:rPr>
              <a:t>7 ** 3</a:t>
            </a:r>
            <a:endParaRPr lang="en-US" sz="1600" dirty="0"/>
          </a:p>
        </p:txBody>
      </p:sp>
      <p:sp>
        <p:nvSpPr>
          <p:cNvPr id="53" name="Text 51"/>
          <p:cNvSpPr/>
          <p:nvPr/>
        </p:nvSpPr>
        <p:spPr>
          <a:xfrm>
            <a:off x="8412480" y="5577840"/>
            <a:ext cx="3017520" cy="420624"/>
          </a:xfrm>
          <a:prstGeom prst="rect">
            <a:avLst/>
          </a:prstGeom>
          <a:noFill/>
          <a:ln/>
        </p:spPr>
        <p:txBody>
          <a:bodyPr wrap="square" lIns="0" tIns="0" rIns="0" bIns="0" rtlCol="0" anchor="ctr"/>
          <a:lstStyle/>
          <a:p>
            <a:pPr indent="0" marL="0">
              <a:buNone/>
            </a:pPr>
            <a:r>
              <a:rPr lang="en-US" sz="1600" dirty="0">
                <a:solidFill>
                  <a:srgbClr val="1A7070"/>
                </a:solidFill>
                <a:latin typeface="Consolas" pitchFamily="34" charset="0"/>
                <a:ea typeface="Consolas" pitchFamily="34" charset="-122"/>
                <a:cs typeface="Consolas" pitchFamily="34" charset="-120"/>
              </a:rPr>
              <a:t>→  343</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6F5"/>
        </a:solidFill>
      </p:bgPr>
    </p:bg>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0D3358"/>
          </a:solidFill>
          <a:ln w="12700">
            <a:solidFill>
              <a:srgbClr val="0D3358"/>
            </a:solidFill>
            <a:prstDash val="solid"/>
          </a:ln>
        </p:spPr>
      </p:sp>
      <p:sp>
        <p:nvSpPr>
          <p:cNvPr id="3" name="Shape 1"/>
          <p:cNvSpPr/>
          <p:nvPr/>
        </p:nvSpPr>
        <p:spPr>
          <a:xfrm>
            <a:off x="0" y="475488"/>
            <a:ext cx="12191695" cy="54864"/>
          </a:xfrm>
          <a:prstGeom prst="rect">
            <a:avLst/>
          </a:prstGeom>
          <a:solidFill>
            <a:srgbClr val="E1A244"/>
          </a:solidFill>
          <a:ln w="12700">
            <a:solidFill>
              <a:srgbClr val="E1A244"/>
            </a:solidFill>
            <a:prstDash val="solid"/>
          </a:ln>
        </p:spPr>
      </p:sp>
      <p:sp>
        <p:nvSpPr>
          <p:cNvPr id="4" name="Text 2"/>
          <p:cNvSpPr/>
          <p:nvPr/>
        </p:nvSpPr>
        <p:spPr>
          <a:xfrm>
            <a:off x="411480" y="73152"/>
            <a:ext cx="6583680" cy="32918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LogosTeach  ·  Computer Science 1</a:t>
            </a:r>
            <a:endParaRPr lang="en-US" sz="1300" dirty="0"/>
          </a:p>
        </p:txBody>
      </p:sp>
      <p:sp>
        <p:nvSpPr>
          <p:cNvPr id="5" name="Text 3"/>
          <p:cNvSpPr/>
          <p:nvPr/>
        </p:nvSpPr>
        <p:spPr>
          <a:xfrm>
            <a:off x="6949440" y="73152"/>
            <a:ext cx="4846320" cy="329184"/>
          </a:xfrm>
          <a:prstGeom prst="rect">
            <a:avLst/>
          </a:prstGeom>
          <a:noFill/>
          <a:ln/>
        </p:spPr>
        <p:txBody>
          <a:bodyPr wrap="square" lIns="0" tIns="0" rIns="0" bIns="0" rtlCol="0" anchor="ctr"/>
          <a:lstStyle/>
          <a:p>
            <a:pPr algn="r" indent="0" marL="0">
              <a:buNone/>
            </a:pPr>
            <a:r>
              <a:rPr lang="en-US" sz="1300" dirty="0">
                <a:solidFill>
                  <a:srgbClr val="E1A244"/>
                </a:solidFill>
                <a:latin typeface="Calibri" pitchFamily="34" charset="0"/>
                <a:ea typeface="Calibri" pitchFamily="34" charset="-122"/>
                <a:cs typeface="Calibri" pitchFamily="34" charset="-120"/>
              </a:rPr>
              <a:t>Unit 2  ·  Order of Operations</a:t>
            </a:r>
            <a:endParaRPr lang="en-US" sz="1300" dirty="0"/>
          </a:p>
        </p:txBody>
      </p:sp>
      <p:sp>
        <p:nvSpPr>
          <p:cNvPr id="6" name="Shape 4"/>
          <p:cNvSpPr/>
          <p:nvPr/>
        </p:nvSpPr>
        <p:spPr>
          <a:xfrm>
            <a:off x="0" y="6473952"/>
            <a:ext cx="12191695" cy="384048"/>
          </a:xfrm>
          <a:prstGeom prst="rect">
            <a:avLst/>
          </a:prstGeom>
          <a:solidFill>
            <a:srgbClr val="E8EEF3"/>
          </a:solidFill>
          <a:ln w="12700">
            <a:solidFill>
              <a:srgbClr val="E8EEF3"/>
            </a:solidFill>
            <a:prstDash val="solid"/>
          </a:ln>
        </p:spPr>
      </p:sp>
      <p:sp>
        <p:nvSpPr>
          <p:cNvPr id="7" name="Shape 5"/>
          <p:cNvSpPr/>
          <p:nvPr/>
        </p:nvSpPr>
        <p:spPr>
          <a:xfrm>
            <a:off x="0" y="6473952"/>
            <a:ext cx="12191695" cy="32004"/>
          </a:xfrm>
          <a:prstGeom prst="rect">
            <a:avLst/>
          </a:prstGeom>
          <a:solidFill>
            <a:srgbClr val="E1A244"/>
          </a:solidFill>
          <a:ln w="12700">
            <a:solidFill>
              <a:srgbClr val="E1A244"/>
            </a:solidFill>
            <a:prstDash val="solid"/>
          </a:ln>
        </p:spPr>
      </p:sp>
      <p:sp>
        <p:nvSpPr>
          <p:cNvPr id="8" name="Text 6"/>
          <p:cNvSpPr/>
          <p:nvPr/>
        </p:nvSpPr>
        <p:spPr>
          <a:xfrm>
            <a:off x="411480" y="6528816"/>
            <a:ext cx="8595360" cy="274320"/>
          </a:xfrm>
          <a:prstGeom prst="rect">
            <a:avLst/>
          </a:prstGeom>
          <a:noFill/>
          <a:ln/>
        </p:spPr>
        <p:txBody>
          <a:bodyPr wrap="square" lIns="0" tIns="0" rIns="0" bIns="0" rtlCol="0" anchor="ctr"/>
          <a:lstStyle/>
          <a:p>
            <a:pPr indent="0" marL="0">
              <a:buNone/>
            </a:pPr>
            <a:r>
              <a:rPr lang="en-US" sz="1100" dirty="0">
                <a:solidFill>
                  <a:srgbClr val="5A6A7A"/>
                </a:solidFill>
                <a:latin typeface="Calibri" pitchFamily="34" charset="0"/>
                <a:ea typeface="Calibri" pitchFamily="34" charset="-122"/>
                <a:cs typeface="Calibri" pitchFamily="34" charset="-120"/>
              </a:rPr>
              <a:t>Copyright 2026 LogosTeach  ·  All Rights Reserved</a:t>
            </a:r>
            <a:endParaRPr lang="en-US" sz="1100" dirty="0"/>
          </a:p>
        </p:txBody>
      </p:sp>
      <p:sp>
        <p:nvSpPr>
          <p:cNvPr id="9" name="Text 7"/>
          <p:cNvSpPr/>
          <p:nvPr/>
        </p:nvSpPr>
        <p:spPr>
          <a:xfrm>
            <a:off x="9509760" y="6528816"/>
            <a:ext cx="2286000" cy="274320"/>
          </a:xfrm>
          <a:prstGeom prst="rect">
            <a:avLst/>
          </a:prstGeom>
          <a:noFill/>
          <a:ln/>
        </p:spPr>
        <p:txBody>
          <a:bodyPr wrap="square" lIns="0" tIns="0" rIns="0" bIns="0" rtlCol="0" anchor="ctr"/>
          <a:lstStyle/>
          <a:p>
            <a:pPr algn="r" indent="0" marL="0">
              <a:buNone/>
            </a:pPr>
            <a:r>
              <a:rPr lang="en-US" sz="1100" dirty="0">
                <a:solidFill>
                  <a:srgbClr val="0D3358"/>
                </a:solidFill>
                <a:latin typeface="Calibri" pitchFamily="34" charset="0"/>
                <a:ea typeface="Calibri" pitchFamily="34" charset="-122"/>
                <a:cs typeface="Calibri" pitchFamily="34" charset="-120"/>
              </a:rPr>
              <a:t>5  /  14</a:t>
            </a:r>
            <a:endParaRPr lang="en-US" sz="1100" dirty="0"/>
          </a:p>
        </p:txBody>
      </p:sp>
      <p:sp>
        <p:nvSpPr>
          <p:cNvPr id="10" name="Text 8"/>
          <p:cNvSpPr/>
          <p:nvPr/>
        </p:nvSpPr>
        <p:spPr>
          <a:xfrm>
            <a:off x="457200" y="658368"/>
            <a:ext cx="11247120" cy="384048"/>
          </a:xfrm>
          <a:prstGeom prst="rect">
            <a:avLst/>
          </a:prstGeom>
          <a:noFill/>
          <a:ln/>
        </p:spPr>
        <p:txBody>
          <a:bodyPr wrap="square" lIns="0" tIns="0" rIns="0" bIns="0" rtlCol="0" anchor="ctr"/>
          <a:lstStyle/>
          <a:p>
            <a:pPr indent="0" marL="0">
              <a:buNone/>
            </a:pPr>
            <a:r>
              <a:rPr lang="en-US" sz="2800" b="1" dirty="0">
                <a:solidFill>
                  <a:srgbClr val="0D3358"/>
                </a:solidFill>
                <a:latin typeface="Calibri" pitchFamily="34" charset="0"/>
                <a:ea typeface="Calibri" pitchFamily="34" charset="-122"/>
                <a:cs typeface="Calibri" pitchFamily="34" charset="-120"/>
              </a:rPr>
              <a:t>How Python Ranks the Work</a:t>
            </a:r>
            <a:endParaRPr lang="en-US" sz="2800" dirty="0"/>
          </a:p>
        </p:txBody>
      </p:sp>
      <p:sp>
        <p:nvSpPr>
          <p:cNvPr id="11" name="Shape 9"/>
          <p:cNvSpPr/>
          <p:nvPr/>
        </p:nvSpPr>
        <p:spPr>
          <a:xfrm>
            <a:off x="457200" y="1060704"/>
            <a:ext cx="1234440" cy="50292"/>
          </a:xfrm>
          <a:prstGeom prst="rect">
            <a:avLst/>
          </a:prstGeom>
          <a:solidFill>
            <a:srgbClr val="E1A244"/>
          </a:solidFill>
          <a:ln w="12700">
            <a:solidFill>
              <a:srgbClr val="E1A244"/>
            </a:solidFill>
            <a:prstDash val="solid"/>
          </a:ln>
        </p:spPr>
      </p:sp>
      <p:sp>
        <p:nvSpPr>
          <p:cNvPr id="12" name="Shape 10"/>
          <p:cNvSpPr/>
          <p:nvPr/>
        </p:nvSpPr>
        <p:spPr>
          <a:xfrm>
            <a:off x="457200" y="1298448"/>
            <a:ext cx="11247120" cy="1060704"/>
          </a:xfrm>
          <a:prstGeom prst="roundRect">
            <a:avLst>
              <a:gd name="adj" fmla="val 6897"/>
            </a:avLst>
          </a:prstGeom>
          <a:solidFill>
            <a:srgbClr val="FFFFFF"/>
          </a:solidFill>
          <a:ln w="12700">
            <a:solidFill>
              <a:srgbClr val="E2E8EE"/>
            </a:solidFill>
            <a:prstDash val="solid"/>
          </a:ln>
        </p:spPr>
      </p:sp>
      <p:sp>
        <p:nvSpPr>
          <p:cNvPr id="13" name="Shape 11"/>
          <p:cNvSpPr/>
          <p:nvPr/>
        </p:nvSpPr>
        <p:spPr>
          <a:xfrm>
            <a:off x="621792" y="1554480"/>
            <a:ext cx="658368" cy="548640"/>
          </a:xfrm>
          <a:prstGeom prst="roundRect">
            <a:avLst>
              <a:gd name="adj" fmla="val 10000"/>
            </a:avLst>
          </a:prstGeom>
          <a:solidFill>
            <a:srgbClr val="1A7070"/>
          </a:solidFill>
          <a:ln w="12700">
            <a:solidFill>
              <a:srgbClr val="1A7070"/>
            </a:solidFill>
            <a:prstDash val="solid"/>
          </a:ln>
        </p:spPr>
      </p:sp>
      <p:sp>
        <p:nvSpPr>
          <p:cNvPr id="14" name="Text 12"/>
          <p:cNvSpPr/>
          <p:nvPr/>
        </p:nvSpPr>
        <p:spPr>
          <a:xfrm>
            <a:off x="621792" y="1554480"/>
            <a:ext cx="658368"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5" name="Text 13"/>
          <p:cNvSpPr/>
          <p:nvPr/>
        </p:nvSpPr>
        <p:spPr>
          <a:xfrm>
            <a:off x="1463040" y="1444752"/>
            <a:ext cx="3200400" cy="347472"/>
          </a:xfrm>
          <a:prstGeom prst="rect">
            <a:avLst/>
          </a:prstGeom>
          <a:noFill/>
          <a:ln/>
        </p:spPr>
        <p:txBody>
          <a:bodyPr wrap="square" lIns="0" tIns="0" rIns="0" bIns="0" rtlCol="0" anchor="ctr"/>
          <a:lstStyle/>
          <a:p>
            <a:pPr indent="0" marL="0">
              <a:buNone/>
            </a:pPr>
            <a:r>
              <a:rPr lang="en-US" sz="1800" b="1" dirty="0">
                <a:solidFill>
                  <a:srgbClr val="0D3358"/>
                </a:solidFill>
                <a:latin typeface="Calibri" pitchFamily="34" charset="0"/>
                <a:ea typeface="Calibri" pitchFamily="34" charset="-122"/>
                <a:cs typeface="Calibri" pitchFamily="34" charset="-120"/>
              </a:rPr>
              <a:t>Parentheses</a:t>
            </a:r>
            <a:endParaRPr lang="en-US" sz="1800" dirty="0"/>
          </a:p>
        </p:txBody>
      </p:sp>
      <p:sp>
        <p:nvSpPr>
          <p:cNvPr id="16" name="Text 14"/>
          <p:cNvSpPr/>
          <p:nvPr/>
        </p:nvSpPr>
        <p:spPr>
          <a:xfrm>
            <a:off x="1463040" y="1810512"/>
            <a:ext cx="3200400" cy="365760"/>
          </a:xfrm>
          <a:prstGeom prst="rect">
            <a:avLst/>
          </a:prstGeom>
          <a:noFill/>
          <a:ln/>
        </p:spPr>
        <p:txBody>
          <a:bodyPr wrap="square" lIns="0" tIns="0" rIns="0" bIns="0" rtlCol="0" anchor="ctr"/>
          <a:lstStyle/>
          <a:p>
            <a:pPr indent="0" marL="0">
              <a:buNone/>
            </a:pPr>
            <a:r>
              <a:rPr lang="en-US" sz="1600" dirty="0">
                <a:solidFill>
                  <a:srgbClr val="1A7070"/>
                </a:solidFill>
                <a:latin typeface="Consolas" pitchFamily="34" charset="0"/>
                <a:ea typeface="Consolas" pitchFamily="34" charset="-122"/>
                <a:cs typeface="Consolas" pitchFamily="34" charset="-120"/>
              </a:rPr>
              <a:t>(  )</a:t>
            </a:r>
            <a:endParaRPr lang="en-US" sz="1600" dirty="0"/>
          </a:p>
        </p:txBody>
      </p:sp>
      <p:sp>
        <p:nvSpPr>
          <p:cNvPr id="17" name="Text 15"/>
          <p:cNvSpPr/>
          <p:nvPr/>
        </p:nvSpPr>
        <p:spPr>
          <a:xfrm>
            <a:off x="4846320" y="1499616"/>
            <a:ext cx="6583680" cy="676656"/>
          </a:xfrm>
          <a:prstGeom prst="rect">
            <a:avLst/>
          </a:prstGeom>
          <a:noFill/>
          <a:ln/>
        </p:spPr>
        <p:txBody>
          <a:bodyPr wrap="square" lIns="0" tIns="0" rIns="0" bIns="0" rtlCol="0" anchor="ctr"/>
          <a:lstStyle/>
          <a:p>
            <a:pPr indent="0" marL="0">
              <a:buNone/>
            </a:pPr>
            <a:r>
              <a:rPr lang="en-US" sz="1600" dirty="0">
                <a:solidFill>
                  <a:srgbClr val="2A2A2A"/>
                </a:solidFill>
                <a:latin typeface="Calibri" pitchFamily="34" charset="0"/>
                <a:ea typeface="Calibri" pitchFamily="34" charset="-122"/>
                <a:cs typeface="Calibri" pitchFamily="34" charset="-120"/>
              </a:rPr>
              <a:t>Always first. They wrap the work that must finish before anything else.</a:t>
            </a:r>
            <a:endParaRPr lang="en-US" sz="1600" dirty="0"/>
          </a:p>
        </p:txBody>
      </p:sp>
      <p:sp>
        <p:nvSpPr>
          <p:cNvPr id="18" name="Shape 16"/>
          <p:cNvSpPr/>
          <p:nvPr/>
        </p:nvSpPr>
        <p:spPr>
          <a:xfrm>
            <a:off x="457200" y="2468880"/>
            <a:ext cx="11247120" cy="1060704"/>
          </a:xfrm>
          <a:prstGeom prst="roundRect">
            <a:avLst>
              <a:gd name="adj" fmla="val 6897"/>
            </a:avLst>
          </a:prstGeom>
          <a:solidFill>
            <a:srgbClr val="FFFFFF"/>
          </a:solidFill>
          <a:ln w="12700">
            <a:solidFill>
              <a:srgbClr val="E2E8EE"/>
            </a:solidFill>
            <a:prstDash val="solid"/>
          </a:ln>
        </p:spPr>
      </p:sp>
      <p:sp>
        <p:nvSpPr>
          <p:cNvPr id="19" name="Shape 17"/>
          <p:cNvSpPr/>
          <p:nvPr/>
        </p:nvSpPr>
        <p:spPr>
          <a:xfrm>
            <a:off x="621792" y="2724912"/>
            <a:ext cx="658368" cy="548640"/>
          </a:xfrm>
          <a:prstGeom prst="roundRect">
            <a:avLst>
              <a:gd name="adj" fmla="val 10000"/>
            </a:avLst>
          </a:prstGeom>
          <a:solidFill>
            <a:srgbClr val="1A7070"/>
          </a:solidFill>
          <a:ln w="12700">
            <a:solidFill>
              <a:srgbClr val="1A7070"/>
            </a:solidFill>
            <a:prstDash val="solid"/>
          </a:ln>
        </p:spPr>
      </p:sp>
      <p:sp>
        <p:nvSpPr>
          <p:cNvPr id="20" name="Text 18"/>
          <p:cNvSpPr/>
          <p:nvPr/>
        </p:nvSpPr>
        <p:spPr>
          <a:xfrm>
            <a:off x="621792" y="2724912"/>
            <a:ext cx="658368"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21" name="Text 19"/>
          <p:cNvSpPr/>
          <p:nvPr/>
        </p:nvSpPr>
        <p:spPr>
          <a:xfrm>
            <a:off x="1463040" y="2615184"/>
            <a:ext cx="3200400" cy="347472"/>
          </a:xfrm>
          <a:prstGeom prst="rect">
            <a:avLst/>
          </a:prstGeom>
          <a:noFill/>
          <a:ln/>
        </p:spPr>
        <p:txBody>
          <a:bodyPr wrap="square" lIns="0" tIns="0" rIns="0" bIns="0" rtlCol="0" anchor="ctr"/>
          <a:lstStyle/>
          <a:p>
            <a:pPr indent="0" marL="0">
              <a:buNone/>
            </a:pPr>
            <a:r>
              <a:rPr lang="en-US" sz="1800" b="1" dirty="0">
                <a:solidFill>
                  <a:srgbClr val="0D3358"/>
                </a:solidFill>
                <a:latin typeface="Calibri" pitchFamily="34" charset="0"/>
                <a:ea typeface="Calibri" pitchFamily="34" charset="-122"/>
                <a:cs typeface="Calibri" pitchFamily="34" charset="-120"/>
              </a:rPr>
              <a:t>Exponentiation</a:t>
            </a:r>
            <a:endParaRPr lang="en-US" sz="1800" dirty="0"/>
          </a:p>
        </p:txBody>
      </p:sp>
      <p:sp>
        <p:nvSpPr>
          <p:cNvPr id="22" name="Text 20"/>
          <p:cNvSpPr/>
          <p:nvPr/>
        </p:nvSpPr>
        <p:spPr>
          <a:xfrm>
            <a:off x="1463040" y="2980944"/>
            <a:ext cx="3200400" cy="365760"/>
          </a:xfrm>
          <a:prstGeom prst="rect">
            <a:avLst/>
          </a:prstGeom>
          <a:noFill/>
          <a:ln/>
        </p:spPr>
        <p:txBody>
          <a:bodyPr wrap="square" lIns="0" tIns="0" rIns="0" bIns="0" rtlCol="0" anchor="ctr"/>
          <a:lstStyle/>
          <a:p>
            <a:pPr indent="0" marL="0">
              <a:buNone/>
            </a:pPr>
            <a:r>
              <a:rPr lang="en-US" sz="1600" dirty="0">
                <a:solidFill>
                  <a:srgbClr val="1A7070"/>
                </a:solidFill>
                <a:latin typeface="Consolas" pitchFamily="34" charset="0"/>
                <a:ea typeface="Consolas" pitchFamily="34" charset="-122"/>
                <a:cs typeface="Consolas" pitchFamily="34" charset="-120"/>
              </a:rPr>
              <a:t>**</a:t>
            </a:r>
            <a:endParaRPr lang="en-US" sz="1600" dirty="0"/>
          </a:p>
        </p:txBody>
      </p:sp>
      <p:sp>
        <p:nvSpPr>
          <p:cNvPr id="23" name="Text 21"/>
          <p:cNvSpPr/>
          <p:nvPr/>
        </p:nvSpPr>
        <p:spPr>
          <a:xfrm>
            <a:off x="4846320" y="2670048"/>
            <a:ext cx="6583680" cy="676656"/>
          </a:xfrm>
          <a:prstGeom prst="rect">
            <a:avLst/>
          </a:prstGeom>
          <a:noFill/>
          <a:ln/>
        </p:spPr>
        <p:txBody>
          <a:bodyPr wrap="square" lIns="0" tIns="0" rIns="0" bIns="0" rtlCol="0" anchor="ctr"/>
          <a:lstStyle/>
          <a:p>
            <a:pPr indent="0" marL="0">
              <a:buNone/>
            </a:pPr>
            <a:r>
              <a:rPr lang="en-US" sz="1600" dirty="0">
                <a:solidFill>
                  <a:srgbClr val="2A2A2A"/>
                </a:solidFill>
                <a:latin typeface="Calibri" pitchFamily="34" charset="0"/>
                <a:ea typeface="Calibri" pitchFamily="34" charset="-122"/>
                <a:cs typeface="Calibri" pitchFamily="34" charset="-120"/>
              </a:rPr>
              <a:t>Powers run next. Unique rule: stacked ** works right to left.</a:t>
            </a:r>
            <a:endParaRPr lang="en-US" sz="1600" dirty="0"/>
          </a:p>
        </p:txBody>
      </p:sp>
      <p:sp>
        <p:nvSpPr>
          <p:cNvPr id="24" name="Shape 22"/>
          <p:cNvSpPr/>
          <p:nvPr/>
        </p:nvSpPr>
        <p:spPr>
          <a:xfrm>
            <a:off x="457200" y="3639312"/>
            <a:ext cx="11247120" cy="1060704"/>
          </a:xfrm>
          <a:prstGeom prst="roundRect">
            <a:avLst>
              <a:gd name="adj" fmla="val 6897"/>
            </a:avLst>
          </a:prstGeom>
          <a:solidFill>
            <a:srgbClr val="FFFFFF"/>
          </a:solidFill>
          <a:ln w="12700">
            <a:solidFill>
              <a:srgbClr val="E2E8EE"/>
            </a:solidFill>
            <a:prstDash val="solid"/>
          </a:ln>
        </p:spPr>
      </p:sp>
      <p:sp>
        <p:nvSpPr>
          <p:cNvPr id="25" name="Shape 23"/>
          <p:cNvSpPr/>
          <p:nvPr/>
        </p:nvSpPr>
        <p:spPr>
          <a:xfrm>
            <a:off x="621792" y="3895344"/>
            <a:ext cx="658368" cy="548640"/>
          </a:xfrm>
          <a:prstGeom prst="roundRect">
            <a:avLst>
              <a:gd name="adj" fmla="val 10000"/>
            </a:avLst>
          </a:prstGeom>
          <a:solidFill>
            <a:srgbClr val="0D3358"/>
          </a:solidFill>
          <a:ln w="12700">
            <a:solidFill>
              <a:srgbClr val="0D3358"/>
            </a:solidFill>
            <a:prstDash val="solid"/>
          </a:ln>
        </p:spPr>
      </p:sp>
      <p:sp>
        <p:nvSpPr>
          <p:cNvPr id="26" name="Text 24"/>
          <p:cNvSpPr/>
          <p:nvPr/>
        </p:nvSpPr>
        <p:spPr>
          <a:xfrm>
            <a:off x="621792" y="3895344"/>
            <a:ext cx="658368"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7" name="Text 25"/>
          <p:cNvSpPr/>
          <p:nvPr/>
        </p:nvSpPr>
        <p:spPr>
          <a:xfrm>
            <a:off x="1463040" y="3785616"/>
            <a:ext cx="3200400" cy="347472"/>
          </a:xfrm>
          <a:prstGeom prst="rect">
            <a:avLst/>
          </a:prstGeom>
          <a:noFill/>
          <a:ln/>
        </p:spPr>
        <p:txBody>
          <a:bodyPr wrap="square" lIns="0" tIns="0" rIns="0" bIns="0" rtlCol="0" anchor="ctr"/>
          <a:lstStyle/>
          <a:p>
            <a:pPr indent="0" marL="0">
              <a:buNone/>
            </a:pPr>
            <a:r>
              <a:rPr lang="en-US" sz="1800" b="1" dirty="0">
                <a:solidFill>
                  <a:srgbClr val="0D3358"/>
                </a:solidFill>
                <a:latin typeface="Calibri" pitchFamily="34" charset="0"/>
                <a:ea typeface="Calibri" pitchFamily="34" charset="-122"/>
                <a:cs typeface="Calibri" pitchFamily="34" charset="-120"/>
              </a:rPr>
              <a:t>Multiply family</a:t>
            </a:r>
            <a:endParaRPr lang="en-US" sz="1800" dirty="0"/>
          </a:p>
        </p:txBody>
      </p:sp>
      <p:sp>
        <p:nvSpPr>
          <p:cNvPr id="28" name="Text 26"/>
          <p:cNvSpPr/>
          <p:nvPr/>
        </p:nvSpPr>
        <p:spPr>
          <a:xfrm>
            <a:off x="1463040" y="4151376"/>
            <a:ext cx="3200400" cy="365760"/>
          </a:xfrm>
          <a:prstGeom prst="rect">
            <a:avLst/>
          </a:prstGeom>
          <a:noFill/>
          <a:ln/>
        </p:spPr>
        <p:txBody>
          <a:bodyPr wrap="square" lIns="0" tIns="0" rIns="0" bIns="0" rtlCol="0" anchor="ctr"/>
          <a:lstStyle/>
          <a:p>
            <a:pPr indent="0" marL="0">
              <a:buNone/>
            </a:pPr>
            <a:r>
              <a:rPr lang="en-US" sz="1600" dirty="0">
                <a:solidFill>
                  <a:srgbClr val="1A7070"/>
                </a:solidFill>
                <a:latin typeface="Consolas" pitchFamily="34" charset="0"/>
                <a:ea typeface="Consolas" pitchFamily="34" charset="-122"/>
                <a:cs typeface="Consolas" pitchFamily="34" charset="-120"/>
              </a:rPr>
              <a:t>*   /   //   %</a:t>
            </a:r>
            <a:endParaRPr lang="en-US" sz="1600" dirty="0"/>
          </a:p>
        </p:txBody>
      </p:sp>
      <p:sp>
        <p:nvSpPr>
          <p:cNvPr id="29" name="Text 27"/>
          <p:cNvSpPr/>
          <p:nvPr/>
        </p:nvSpPr>
        <p:spPr>
          <a:xfrm>
            <a:off x="4846320" y="3840480"/>
            <a:ext cx="6583680" cy="676656"/>
          </a:xfrm>
          <a:prstGeom prst="rect">
            <a:avLst/>
          </a:prstGeom>
          <a:noFill/>
          <a:ln/>
        </p:spPr>
        <p:txBody>
          <a:bodyPr wrap="square" lIns="0" tIns="0" rIns="0" bIns="0" rtlCol="0" anchor="ctr"/>
          <a:lstStyle/>
          <a:p>
            <a:pPr indent="0" marL="0">
              <a:buNone/>
            </a:pPr>
            <a:r>
              <a:rPr lang="en-US" sz="1600" dirty="0">
                <a:solidFill>
                  <a:srgbClr val="2A2A2A"/>
                </a:solidFill>
                <a:latin typeface="Calibri" pitchFamily="34" charset="0"/>
                <a:ea typeface="Calibri" pitchFamily="34" charset="-122"/>
                <a:cs typeface="Calibri" pitchFamily="34" charset="-120"/>
              </a:rPr>
              <a:t>These four share one rank. Among themselves they run left to right.</a:t>
            </a:r>
            <a:endParaRPr lang="en-US" sz="1600" dirty="0"/>
          </a:p>
        </p:txBody>
      </p:sp>
      <p:sp>
        <p:nvSpPr>
          <p:cNvPr id="30" name="Shape 28"/>
          <p:cNvSpPr/>
          <p:nvPr/>
        </p:nvSpPr>
        <p:spPr>
          <a:xfrm>
            <a:off x="457200" y="4809744"/>
            <a:ext cx="11247120" cy="1060704"/>
          </a:xfrm>
          <a:prstGeom prst="roundRect">
            <a:avLst>
              <a:gd name="adj" fmla="val 6897"/>
            </a:avLst>
          </a:prstGeom>
          <a:solidFill>
            <a:srgbClr val="FFFFFF"/>
          </a:solidFill>
          <a:ln w="12700">
            <a:solidFill>
              <a:srgbClr val="E2E8EE"/>
            </a:solidFill>
            <a:prstDash val="solid"/>
          </a:ln>
        </p:spPr>
      </p:sp>
      <p:sp>
        <p:nvSpPr>
          <p:cNvPr id="31" name="Shape 29"/>
          <p:cNvSpPr/>
          <p:nvPr/>
        </p:nvSpPr>
        <p:spPr>
          <a:xfrm>
            <a:off x="621792" y="5065776"/>
            <a:ext cx="658368" cy="548640"/>
          </a:xfrm>
          <a:prstGeom prst="roundRect">
            <a:avLst>
              <a:gd name="adj" fmla="val 10000"/>
            </a:avLst>
          </a:prstGeom>
          <a:solidFill>
            <a:srgbClr val="0D3358"/>
          </a:solidFill>
          <a:ln w="12700">
            <a:solidFill>
              <a:srgbClr val="0D3358"/>
            </a:solidFill>
            <a:prstDash val="solid"/>
          </a:ln>
        </p:spPr>
      </p:sp>
      <p:sp>
        <p:nvSpPr>
          <p:cNvPr id="32" name="Text 30"/>
          <p:cNvSpPr/>
          <p:nvPr/>
        </p:nvSpPr>
        <p:spPr>
          <a:xfrm>
            <a:off x="621792" y="5065776"/>
            <a:ext cx="658368"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33" name="Text 31"/>
          <p:cNvSpPr/>
          <p:nvPr/>
        </p:nvSpPr>
        <p:spPr>
          <a:xfrm>
            <a:off x="1463040" y="4956048"/>
            <a:ext cx="3200400" cy="347472"/>
          </a:xfrm>
          <a:prstGeom prst="rect">
            <a:avLst/>
          </a:prstGeom>
          <a:noFill/>
          <a:ln/>
        </p:spPr>
        <p:txBody>
          <a:bodyPr wrap="square" lIns="0" tIns="0" rIns="0" bIns="0" rtlCol="0" anchor="ctr"/>
          <a:lstStyle/>
          <a:p>
            <a:pPr indent="0" marL="0">
              <a:buNone/>
            </a:pPr>
            <a:r>
              <a:rPr lang="en-US" sz="1800" b="1" dirty="0">
                <a:solidFill>
                  <a:srgbClr val="0D3358"/>
                </a:solidFill>
                <a:latin typeface="Calibri" pitchFamily="34" charset="0"/>
                <a:ea typeface="Calibri" pitchFamily="34" charset="-122"/>
                <a:cs typeface="Calibri" pitchFamily="34" charset="-120"/>
              </a:rPr>
              <a:t>Add family</a:t>
            </a:r>
            <a:endParaRPr lang="en-US" sz="1800" dirty="0"/>
          </a:p>
        </p:txBody>
      </p:sp>
      <p:sp>
        <p:nvSpPr>
          <p:cNvPr id="34" name="Text 32"/>
          <p:cNvSpPr/>
          <p:nvPr/>
        </p:nvSpPr>
        <p:spPr>
          <a:xfrm>
            <a:off x="1463040" y="5321808"/>
            <a:ext cx="3200400" cy="365760"/>
          </a:xfrm>
          <a:prstGeom prst="rect">
            <a:avLst/>
          </a:prstGeom>
          <a:noFill/>
          <a:ln/>
        </p:spPr>
        <p:txBody>
          <a:bodyPr wrap="square" lIns="0" tIns="0" rIns="0" bIns="0" rtlCol="0" anchor="ctr"/>
          <a:lstStyle/>
          <a:p>
            <a:pPr indent="0" marL="0">
              <a:buNone/>
            </a:pPr>
            <a:r>
              <a:rPr lang="en-US" sz="1600" dirty="0">
                <a:solidFill>
                  <a:srgbClr val="1A7070"/>
                </a:solidFill>
                <a:latin typeface="Consolas" pitchFamily="34" charset="0"/>
                <a:ea typeface="Consolas" pitchFamily="34" charset="-122"/>
                <a:cs typeface="Consolas" pitchFamily="34" charset="-120"/>
              </a:rPr>
              <a:t>+   −</a:t>
            </a:r>
            <a:endParaRPr lang="en-US" sz="1600" dirty="0"/>
          </a:p>
        </p:txBody>
      </p:sp>
      <p:sp>
        <p:nvSpPr>
          <p:cNvPr id="35" name="Text 33"/>
          <p:cNvSpPr/>
          <p:nvPr/>
        </p:nvSpPr>
        <p:spPr>
          <a:xfrm>
            <a:off x="4846320" y="5010912"/>
            <a:ext cx="6583680" cy="676656"/>
          </a:xfrm>
          <a:prstGeom prst="rect">
            <a:avLst/>
          </a:prstGeom>
          <a:noFill/>
          <a:ln/>
        </p:spPr>
        <p:txBody>
          <a:bodyPr wrap="square" lIns="0" tIns="0" rIns="0" bIns="0" rtlCol="0" anchor="ctr"/>
          <a:lstStyle/>
          <a:p>
            <a:pPr indent="0" marL="0">
              <a:buNone/>
            </a:pPr>
            <a:r>
              <a:rPr lang="en-US" sz="1600" dirty="0">
                <a:solidFill>
                  <a:srgbClr val="2A2A2A"/>
                </a:solidFill>
                <a:latin typeface="Calibri" pitchFamily="34" charset="0"/>
                <a:ea typeface="Calibri" pitchFamily="34" charset="-122"/>
                <a:cs typeface="Calibri" pitchFamily="34" charset="-120"/>
              </a:rPr>
              <a:t>Lowest of the four ranks on this slide. Left to right when mixed.</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6F5"/>
        </a:solidFill>
      </p:bgPr>
    </p:bg>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0D3358"/>
          </a:solidFill>
          <a:ln w="12700">
            <a:solidFill>
              <a:srgbClr val="0D3358"/>
            </a:solidFill>
            <a:prstDash val="solid"/>
          </a:ln>
        </p:spPr>
      </p:sp>
      <p:sp>
        <p:nvSpPr>
          <p:cNvPr id="3" name="Shape 1"/>
          <p:cNvSpPr/>
          <p:nvPr/>
        </p:nvSpPr>
        <p:spPr>
          <a:xfrm>
            <a:off x="0" y="475488"/>
            <a:ext cx="12191695" cy="54864"/>
          </a:xfrm>
          <a:prstGeom prst="rect">
            <a:avLst/>
          </a:prstGeom>
          <a:solidFill>
            <a:srgbClr val="E1A244"/>
          </a:solidFill>
          <a:ln w="12700">
            <a:solidFill>
              <a:srgbClr val="E1A244"/>
            </a:solidFill>
            <a:prstDash val="solid"/>
          </a:ln>
        </p:spPr>
      </p:sp>
      <p:sp>
        <p:nvSpPr>
          <p:cNvPr id="4" name="Text 2"/>
          <p:cNvSpPr/>
          <p:nvPr/>
        </p:nvSpPr>
        <p:spPr>
          <a:xfrm>
            <a:off x="411480" y="73152"/>
            <a:ext cx="6583680" cy="32918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LogosTeach  ·  Computer Science 1</a:t>
            </a:r>
            <a:endParaRPr lang="en-US" sz="1300" dirty="0"/>
          </a:p>
        </p:txBody>
      </p:sp>
      <p:sp>
        <p:nvSpPr>
          <p:cNvPr id="5" name="Text 3"/>
          <p:cNvSpPr/>
          <p:nvPr/>
        </p:nvSpPr>
        <p:spPr>
          <a:xfrm>
            <a:off x="6949440" y="73152"/>
            <a:ext cx="4846320" cy="329184"/>
          </a:xfrm>
          <a:prstGeom prst="rect">
            <a:avLst/>
          </a:prstGeom>
          <a:noFill/>
          <a:ln/>
        </p:spPr>
        <p:txBody>
          <a:bodyPr wrap="square" lIns="0" tIns="0" rIns="0" bIns="0" rtlCol="0" anchor="ctr"/>
          <a:lstStyle/>
          <a:p>
            <a:pPr algn="r" indent="0" marL="0">
              <a:buNone/>
            </a:pPr>
            <a:r>
              <a:rPr lang="en-US" sz="1300" dirty="0">
                <a:solidFill>
                  <a:srgbClr val="E1A244"/>
                </a:solidFill>
                <a:latin typeface="Calibri" pitchFamily="34" charset="0"/>
                <a:ea typeface="Calibri" pitchFamily="34" charset="-122"/>
                <a:cs typeface="Calibri" pitchFamily="34" charset="-120"/>
              </a:rPr>
              <a:t>Unit 2  ·  Order of Operations</a:t>
            </a:r>
            <a:endParaRPr lang="en-US" sz="1300" dirty="0"/>
          </a:p>
        </p:txBody>
      </p:sp>
      <p:sp>
        <p:nvSpPr>
          <p:cNvPr id="6" name="Shape 4"/>
          <p:cNvSpPr/>
          <p:nvPr/>
        </p:nvSpPr>
        <p:spPr>
          <a:xfrm>
            <a:off x="0" y="6473952"/>
            <a:ext cx="12191695" cy="384048"/>
          </a:xfrm>
          <a:prstGeom prst="rect">
            <a:avLst/>
          </a:prstGeom>
          <a:solidFill>
            <a:srgbClr val="E8EEF3"/>
          </a:solidFill>
          <a:ln w="12700">
            <a:solidFill>
              <a:srgbClr val="E8EEF3"/>
            </a:solidFill>
            <a:prstDash val="solid"/>
          </a:ln>
        </p:spPr>
      </p:sp>
      <p:sp>
        <p:nvSpPr>
          <p:cNvPr id="7" name="Shape 5"/>
          <p:cNvSpPr/>
          <p:nvPr/>
        </p:nvSpPr>
        <p:spPr>
          <a:xfrm>
            <a:off x="0" y="6473952"/>
            <a:ext cx="12191695" cy="32004"/>
          </a:xfrm>
          <a:prstGeom prst="rect">
            <a:avLst/>
          </a:prstGeom>
          <a:solidFill>
            <a:srgbClr val="E1A244"/>
          </a:solidFill>
          <a:ln w="12700">
            <a:solidFill>
              <a:srgbClr val="E1A244"/>
            </a:solidFill>
            <a:prstDash val="solid"/>
          </a:ln>
        </p:spPr>
      </p:sp>
      <p:sp>
        <p:nvSpPr>
          <p:cNvPr id="8" name="Text 6"/>
          <p:cNvSpPr/>
          <p:nvPr/>
        </p:nvSpPr>
        <p:spPr>
          <a:xfrm>
            <a:off x="411480" y="6528816"/>
            <a:ext cx="8595360" cy="274320"/>
          </a:xfrm>
          <a:prstGeom prst="rect">
            <a:avLst/>
          </a:prstGeom>
          <a:noFill/>
          <a:ln/>
        </p:spPr>
        <p:txBody>
          <a:bodyPr wrap="square" lIns="0" tIns="0" rIns="0" bIns="0" rtlCol="0" anchor="ctr"/>
          <a:lstStyle/>
          <a:p>
            <a:pPr indent="0" marL="0">
              <a:buNone/>
            </a:pPr>
            <a:r>
              <a:rPr lang="en-US" sz="1100" dirty="0">
                <a:solidFill>
                  <a:srgbClr val="5A6A7A"/>
                </a:solidFill>
                <a:latin typeface="Calibri" pitchFamily="34" charset="0"/>
                <a:ea typeface="Calibri" pitchFamily="34" charset="-122"/>
                <a:cs typeface="Calibri" pitchFamily="34" charset="-120"/>
              </a:rPr>
              <a:t>Copyright 2026 LogosTeach  ·  All Rights Reserved</a:t>
            </a:r>
            <a:endParaRPr lang="en-US" sz="1100" dirty="0"/>
          </a:p>
        </p:txBody>
      </p:sp>
      <p:sp>
        <p:nvSpPr>
          <p:cNvPr id="9" name="Text 7"/>
          <p:cNvSpPr/>
          <p:nvPr/>
        </p:nvSpPr>
        <p:spPr>
          <a:xfrm>
            <a:off x="9509760" y="6528816"/>
            <a:ext cx="2286000" cy="274320"/>
          </a:xfrm>
          <a:prstGeom prst="rect">
            <a:avLst/>
          </a:prstGeom>
          <a:noFill/>
          <a:ln/>
        </p:spPr>
        <p:txBody>
          <a:bodyPr wrap="square" lIns="0" tIns="0" rIns="0" bIns="0" rtlCol="0" anchor="ctr"/>
          <a:lstStyle/>
          <a:p>
            <a:pPr algn="r" indent="0" marL="0">
              <a:buNone/>
            </a:pPr>
            <a:r>
              <a:rPr lang="en-US" sz="1100" dirty="0">
                <a:solidFill>
                  <a:srgbClr val="0D3358"/>
                </a:solidFill>
                <a:latin typeface="Calibri" pitchFamily="34" charset="0"/>
                <a:ea typeface="Calibri" pitchFamily="34" charset="-122"/>
                <a:cs typeface="Calibri" pitchFamily="34" charset="-120"/>
              </a:rPr>
              <a:t>6  /  14</a:t>
            </a:r>
            <a:endParaRPr lang="en-US" sz="1100" dirty="0"/>
          </a:p>
        </p:txBody>
      </p:sp>
      <p:sp>
        <p:nvSpPr>
          <p:cNvPr id="10" name="Text 8"/>
          <p:cNvSpPr/>
          <p:nvPr/>
        </p:nvSpPr>
        <p:spPr>
          <a:xfrm>
            <a:off x="457200" y="658368"/>
            <a:ext cx="11247120" cy="384048"/>
          </a:xfrm>
          <a:prstGeom prst="rect">
            <a:avLst/>
          </a:prstGeom>
          <a:noFill/>
          <a:ln/>
        </p:spPr>
        <p:txBody>
          <a:bodyPr wrap="square" lIns="0" tIns="0" rIns="0" bIns="0" rtlCol="0" anchor="ctr"/>
          <a:lstStyle/>
          <a:p>
            <a:pPr indent="0" marL="0">
              <a:buNone/>
            </a:pPr>
            <a:r>
              <a:rPr lang="en-US" sz="2800" b="1" dirty="0">
                <a:solidFill>
                  <a:srgbClr val="0D3358"/>
                </a:solidFill>
                <a:latin typeface="Calibri" pitchFamily="34" charset="0"/>
                <a:ea typeface="Calibri" pitchFamily="34" charset="-122"/>
                <a:cs typeface="Calibri" pitchFamily="34" charset="-120"/>
              </a:rPr>
              <a:t>Multiply and Divide Come First</a:t>
            </a:r>
            <a:endParaRPr lang="en-US" sz="2800" dirty="0"/>
          </a:p>
        </p:txBody>
      </p:sp>
      <p:sp>
        <p:nvSpPr>
          <p:cNvPr id="11" name="Shape 9"/>
          <p:cNvSpPr/>
          <p:nvPr/>
        </p:nvSpPr>
        <p:spPr>
          <a:xfrm>
            <a:off x="457200" y="1060704"/>
            <a:ext cx="1234440" cy="50292"/>
          </a:xfrm>
          <a:prstGeom prst="rect">
            <a:avLst/>
          </a:prstGeom>
          <a:solidFill>
            <a:srgbClr val="E1A244"/>
          </a:solidFill>
          <a:ln w="12700">
            <a:solidFill>
              <a:srgbClr val="E1A244"/>
            </a:solidFill>
            <a:prstDash val="solid"/>
          </a:ln>
        </p:spPr>
      </p:sp>
      <p:sp>
        <p:nvSpPr>
          <p:cNvPr id="12" name="Shape 10"/>
          <p:cNvSpPr/>
          <p:nvPr/>
        </p:nvSpPr>
        <p:spPr>
          <a:xfrm>
            <a:off x="457200" y="1335024"/>
            <a:ext cx="5532120" cy="4882896"/>
          </a:xfrm>
          <a:prstGeom prst="roundRect">
            <a:avLst>
              <a:gd name="adj" fmla="val 1498"/>
            </a:avLst>
          </a:prstGeom>
          <a:solidFill>
            <a:srgbClr val="FFFFFF"/>
          </a:solidFill>
          <a:ln w="12700">
            <a:solidFill>
              <a:srgbClr val="E2E8EE"/>
            </a:solidFill>
            <a:prstDash val="solid"/>
          </a:ln>
        </p:spPr>
      </p:sp>
      <p:sp>
        <p:nvSpPr>
          <p:cNvPr id="13" name="Shape 11"/>
          <p:cNvSpPr/>
          <p:nvPr/>
        </p:nvSpPr>
        <p:spPr>
          <a:xfrm>
            <a:off x="457200" y="1335024"/>
            <a:ext cx="109728" cy="4882896"/>
          </a:xfrm>
          <a:prstGeom prst="rect">
            <a:avLst/>
          </a:prstGeom>
          <a:solidFill>
            <a:srgbClr val="A64936"/>
          </a:solidFill>
          <a:ln w="12700">
            <a:solidFill>
              <a:srgbClr val="A64936"/>
            </a:solidFill>
            <a:prstDash val="solid"/>
          </a:ln>
        </p:spPr>
      </p:sp>
      <p:sp>
        <p:nvSpPr>
          <p:cNvPr id="14" name="Text 12"/>
          <p:cNvSpPr/>
          <p:nvPr/>
        </p:nvSpPr>
        <p:spPr>
          <a:xfrm>
            <a:off x="749808" y="1499616"/>
            <a:ext cx="5029200" cy="274320"/>
          </a:xfrm>
          <a:prstGeom prst="rect">
            <a:avLst/>
          </a:prstGeom>
          <a:noFill/>
          <a:ln/>
        </p:spPr>
        <p:txBody>
          <a:bodyPr wrap="square" lIns="0" tIns="0" rIns="0" bIns="0" rtlCol="0" anchor="ctr"/>
          <a:lstStyle/>
          <a:p>
            <a:pPr indent="0" marL="0">
              <a:buNone/>
            </a:pPr>
            <a:r>
              <a:rPr lang="en-US" sz="1300" b="1" dirty="0">
                <a:solidFill>
                  <a:srgbClr val="A64936"/>
                </a:solidFill>
                <a:latin typeface="Calibri" pitchFamily="34" charset="0"/>
                <a:ea typeface="Calibri" pitchFamily="34" charset="-122"/>
                <a:cs typeface="Calibri" pitchFamily="34" charset="-120"/>
              </a:rPr>
              <a:t>THE WRONG GUESS</a:t>
            </a:r>
            <a:endParaRPr lang="en-US" sz="1300" dirty="0"/>
          </a:p>
        </p:txBody>
      </p:sp>
      <p:sp>
        <p:nvSpPr>
          <p:cNvPr id="15" name="Text 13"/>
          <p:cNvSpPr/>
          <p:nvPr/>
        </p:nvSpPr>
        <p:spPr>
          <a:xfrm>
            <a:off x="749808" y="1828800"/>
            <a:ext cx="5029200" cy="411480"/>
          </a:xfrm>
          <a:prstGeom prst="rect">
            <a:avLst/>
          </a:prstGeom>
          <a:noFill/>
          <a:ln/>
        </p:spPr>
        <p:txBody>
          <a:bodyPr wrap="square" lIns="0" tIns="0" rIns="0" bIns="0" rtlCol="0" anchor="ctr"/>
          <a:lstStyle/>
          <a:p>
            <a:pPr indent="0" marL="0">
              <a:buNone/>
            </a:pPr>
            <a:r>
              <a:rPr lang="en-US" sz="1800" b="1" dirty="0">
                <a:solidFill>
                  <a:srgbClr val="0D3358"/>
                </a:solidFill>
                <a:latin typeface="Calibri" pitchFamily="34" charset="0"/>
                <a:ea typeface="Calibri" pitchFamily="34" charset="-122"/>
                <a:cs typeface="Calibri" pitchFamily="34" charset="-120"/>
              </a:rPr>
              <a:t>Read it left to right and stop.</a:t>
            </a:r>
            <a:endParaRPr lang="en-US" sz="1800" dirty="0"/>
          </a:p>
        </p:txBody>
      </p:sp>
      <p:sp>
        <p:nvSpPr>
          <p:cNvPr id="16" name="Text 14"/>
          <p:cNvSpPr/>
          <p:nvPr/>
        </p:nvSpPr>
        <p:spPr>
          <a:xfrm>
            <a:off x="749808" y="2304288"/>
            <a:ext cx="5029200" cy="960120"/>
          </a:xfrm>
          <a:prstGeom prst="rect">
            <a:avLst/>
          </a:prstGeom>
          <a:noFill/>
          <a:ln/>
        </p:spPr>
        <p:txBody>
          <a:bodyPr wrap="square" lIns="0" tIns="0" rIns="0" bIns="0" rtlCol="0" anchor="ctr"/>
          <a:lstStyle/>
          <a:p>
            <a:pPr indent="0" marL="0">
              <a:buNone/>
            </a:pPr>
            <a:r>
              <a:rPr lang="en-US" sz="1600" dirty="0">
                <a:solidFill>
                  <a:srgbClr val="2A2A2A"/>
                </a:solidFill>
                <a:latin typeface="Calibri" pitchFamily="34" charset="0"/>
                <a:ea typeface="Calibri" pitchFamily="34" charset="-122"/>
                <a:cs typeface="Calibri" pitchFamily="34" charset="-120"/>
              </a:rPr>
              <a:t>A beginner sees 2 + 3 * 4 and adds first: 5 * 4. That is not what Python does.</a:t>
            </a:r>
            <a:endParaRPr lang="en-US" sz="1600" dirty="0"/>
          </a:p>
        </p:txBody>
      </p:sp>
      <p:sp>
        <p:nvSpPr>
          <p:cNvPr id="17" name="Shape 15"/>
          <p:cNvSpPr/>
          <p:nvPr/>
        </p:nvSpPr>
        <p:spPr>
          <a:xfrm>
            <a:off x="749808" y="3383280"/>
            <a:ext cx="5029200" cy="1417320"/>
          </a:xfrm>
          <a:prstGeom prst="roundRect">
            <a:avLst>
              <a:gd name="adj" fmla="val 3871"/>
            </a:avLst>
          </a:prstGeom>
          <a:solidFill>
            <a:srgbClr val="E7F2FD"/>
          </a:solidFill>
          <a:ln w="12700">
            <a:solidFill>
              <a:srgbClr val="D3E4F6"/>
            </a:solidFill>
            <a:prstDash val="solid"/>
          </a:ln>
        </p:spPr>
      </p:sp>
      <p:sp>
        <p:nvSpPr>
          <p:cNvPr id="18" name="Text 16"/>
          <p:cNvSpPr/>
          <p:nvPr/>
        </p:nvSpPr>
        <p:spPr>
          <a:xfrm>
            <a:off x="914400" y="3493008"/>
            <a:ext cx="4700016" cy="1197864"/>
          </a:xfrm>
          <a:prstGeom prst="rect">
            <a:avLst/>
          </a:prstGeom>
          <a:noFill/>
          <a:ln/>
        </p:spPr>
        <p:txBody>
          <a:bodyPr wrap="square" lIns="0" tIns="0" rIns="0" bIns="0" rtlCol="0" anchor="ctr"/>
          <a:lstStyle/>
          <a:p>
            <a:pPr indent="0" marL="0">
              <a:buNone/>
            </a:pPr>
            <a:r>
              <a:rPr lang="en-US" sz="1600" dirty="0">
                <a:solidFill>
                  <a:srgbClr val="1A2B3C"/>
                </a:solidFill>
                <a:latin typeface="Consolas" pitchFamily="34" charset="0"/>
                <a:ea typeface="Consolas" pitchFamily="34" charset="-122"/>
                <a:cs typeface="Consolas" pitchFamily="34" charset="-120"/>
              </a:rPr>
              <a:t>print(2 + 3 * 4)</a:t>
            </a:r>
            <a:endParaRPr lang="en-US" sz="1600" dirty="0"/>
          </a:p>
          <a:p>
            <a:pPr indent="0" marL="0">
              <a:buNone/>
            </a:pPr>
            <a:r>
              <a:rPr lang="en-US" sz="1600" dirty="0">
                <a:solidFill>
                  <a:srgbClr val="1A2B3C"/>
                </a:solidFill>
                <a:latin typeface="Consolas" pitchFamily="34" charset="0"/>
                <a:ea typeface="Consolas" pitchFamily="34" charset="-122"/>
                <a:cs typeface="Consolas" pitchFamily="34" charset="-120"/>
              </a:rPr>
              <a:t># guessed:  20</a:t>
            </a:r>
            <a:endParaRPr lang="en-US" sz="1600" dirty="0"/>
          </a:p>
          <a:p>
            <a:pPr indent="0" marL="0">
              <a:buNone/>
            </a:pPr>
            <a:r>
              <a:rPr lang="en-US" sz="1600" dirty="0">
                <a:solidFill>
                  <a:srgbClr val="1A2B3C"/>
                </a:solidFill>
                <a:latin typeface="Consolas" pitchFamily="34" charset="0"/>
                <a:ea typeface="Consolas" pitchFamily="34" charset="-122"/>
                <a:cs typeface="Consolas" pitchFamily="34" charset="-120"/>
              </a:rPr>
              <a:t># actual:   14</a:t>
            </a:r>
            <a:endParaRPr lang="en-US" sz="1600" dirty="0"/>
          </a:p>
        </p:txBody>
      </p:sp>
      <p:sp>
        <p:nvSpPr>
          <p:cNvPr id="19" name="Text 17"/>
          <p:cNvSpPr/>
          <p:nvPr/>
        </p:nvSpPr>
        <p:spPr>
          <a:xfrm>
            <a:off x="749808" y="4956048"/>
            <a:ext cx="5029200" cy="1005840"/>
          </a:xfrm>
          <a:prstGeom prst="rect">
            <a:avLst/>
          </a:prstGeom>
          <a:noFill/>
          <a:ln/>
        </p:spPr>
        <p:txBody>
          <a:bodyPr wrap="square" lIns="0" tIns="0" rIns="0" bIns="0" rtlCol="0" anchor="ctr"/>
          <a:lstStyle/>
          <a:p>
            <a:pPr indent="0" marL="0">
              <a:buNone/>
            </a:pPr>
            <a:r>
              <a:rPr lang="en-US" sz="1500" dirty="0">
                <a:solidFill>
                  <a:srgbClr val="2A2A2A"/>
                </a:solidFill>
                <a:latin typeface="Calibri" pitchFamily="34" charset="0"/>
                <a:ea typeface="Calibri" pitchFamily="34" charset="-122"/>
                <a:cs typeface="Calibri" pitchFamily="34" charset="-120"/>
              </a:rPr>
              <a:t>Addition does not outrank multiplication just because it appears first.</a:t>
            </a:r>
            <a:endParaRPr lang="en-US" sz="1500" dirty="0"/>
          </a:p>
        </p:txBody>
      </p:sp>
      <p:sp>
        <p:nvSpPr>
          <p:cNvPr id="20" name="Shape 18"/>
          <p:cNvSpPr/>
          <p:nvPr/>
        </p:nvSpPr>
        <p:spPr>
          <a:xfrm>
            <a:off x="6172200" y="1335024"/>
            <a:ext cx="5532120" cy="4882896"/>
          </a:xfrm>
          <a:prstGeom prst="roundRect">
            <a:avLst>
              <a:gd name="adj" fmla="val 1498"/>
            </a:avLst>
          </a:prstGeom>
          <a:solidFill>
            <a:srgbClr val="FFFFFF"/>
          </a:solidFill>
          <a:ln w="12700">
            <a:solidFill>
              <a:srgbClr val="E2E8EE"/>
            </a:solidFill>
            <a:prstDash val="solid"/>
          </a:ln>
        </p:spPr>
      </p:sp>
      <p:sp>
        <p:nvSpPr>
          <p:cNvPr id="21" name="Shape 19"/>
          <p:cNvSpPr/>
          <p:nvPr/>
        </p:nvSpPr>
        <p:spPr>
          <a:xfrm>
            <a:off x="6172200" y="1335024"/>
            <a:ext cx="109728" cy="4882896"/>
          </a:xfrm>
          <a:prstGeom prst="rect">
            <a:avLst/>
          </a:prstGeom>
          <a:solidFill>
            <a:srgbClr val="1A7070"/>
          </a:solidFill>
          <a:ln w="12700">
            <a:solidFill>
              <a:srgbClr val="1A7070"/>
            </a:solidFill>
            <a:prstDash val="solid"/>
          </a:ln>
        </p:spPr>
      </p:sp>
      <p:sp>
        <p:nvSpPr>
          <p:cNvPr id="22" name="Text 20"/>
          <p:cNvSpPr/>
          <p:nvPr/>
        </p:nvSpPr>
        <p:spPr>
          <a:xfrm>
            <a:off x="6464808" y="1499616"/>
            <a:ext cx="5029200" cy="274320"/>
          </a:xfrm>
          <a:prstGeom prst="rect">
            <a:avLst/>
          </a:prstGeom>
          <a:noFill/>
          <a:ln/>
        </p:spPr>
        <p:txBody>
          <a:bodyPr wrap="square" lIns="0" tIns="0" rIns="0" bIns="0" rtlCol="0" anchor="ctr"/>
          <a:lstStyle/>
          <a:p>
            <a:pPr indent="0" marL="0">
              <a:buNone/>
            </a:pPr>
            <a:r>
              <a:rPr lang="en-US" sz="1300" b="1" dirty="0">
                <a:solidFill>
                  <a:srgbClr val="1A7070"/>
                </a:solidFill>
                <a:latin typeface="Calibri" pitchFamily="34" charset="0"/>
                <a:ea typeface="Calibri" pitchFamily="34" charset="-122"/>
                <a:cs typeface="Calibri" pitchFamily="34" charset="-120"/>
              </a:rPr>
              <a:t>WHAT PYTHON DOES</a:t>
            </a:r>
            <a:endParaRPr lang="en-US" sz="1300" dirty="0"/>
          </a:p>
        </p:txBody>
      </p:sp>
      <p:sp>
        <p:nvSpPr>
          <p:cNvPr id="23" name="Text 21"/>
          <p:cNvSpPr/>
          <p:nvPr/>
        </p:nvSpPr>
        <p:spPr>
          <a:xfrm>
            <a:off x="6464808" y="1828800"/>
            <a:ext cx="5029200" cy="411480"/>
          </a:xfrm>
          <a:prstGeom prst="rect">
            <a:avLst/>
          </a:prstGeom>
          <a:noFill/>
          <a:ln/>
        </p:spPr>
        <p:txBody>
          <a:bodyPr wrap="square" lIns="0" tIns="0" rIns="0" bIns="0" rtlCol="0" anchor="ctr"/>
          <a:lstStyle/>
          <a:p>
            <a:pPr indent="0" marL="0">
              <a:buNone/>
            </a:pPr>
            <a:r>
              <a:rPr lang="en-US" sz="1800" b="1" dirty="0">
                <a:solidFill>
                  <a:srgbClr val="0D3358"/>
                </a:solidFill>
                <a:latin typeface="Calibri" pitchFamily="34" charset="0"/>
                <a:ea typeface="Calibri" pitchFamily="34" charset="-122"/>
                <a:cs typeface="Calibri" pitchFamily="34" charset="-120"/>
              </a:rPr>
              <a:t>Do the higher-rank work first.</a:t>
            </a:r>
            <a:endParaRPr lang="en-US" sz="1800" dirty="0"/>
          </a:p>
        </p:txBody>
      </p:sp>
      <p:sp>
        <p:nvSpPr>
          <p:cNvPr id="24" name="Text 22"/>
          <p:cNvSpPr/>
          <p:nvPr/>
        </p:nvSpPr>
        <p:spPr>
          <a:xfrm>
            <a:off x="6464808" y="2304288"/>
            <a:ext cx="5029200" cy="960120"/>
          </a:xfrm>
          <a:prstGeom prst="rect">
            <a:avLst/>
          </a:prstGeom>
          <a:noFill/>
          <a:ln/>
        </p:spPr>
        <p:txBody>
          <a:bodyPr wrap="square" lIns="0" tIns="0" rIns="0" bIns="0" rtlCol="0" anchor="ctr"/>
          <a:lstStyle/>
          <a:p>
            <a:pPr indent="0" marL="0">
              <a:buNone/>
            </a:pPr>
            <a:r>
              <a:rPr lang="en-US" sz="1600" dirty="0">
                <a:solidFill>
                  <a:srgbClr val="2A2A2A"/>
                </a:solidFill>
                <a:latin typeface="Calibri" pitchFamily="34" charset="0"/>
                <a:ea typeface="Calibri" pitchFamily="34" charset="-122"/>
                <a:cs typeface="Calibri" pitchFamily="34" charset="-120"/>
              </a:rPr>
              <a:t>3 * 4 finishes. Then 2 is added to that product. The same rule holds for /.</a:t>
            </a:r>
            <a:endParaRPr lang="en-US" sz="1600" dirty="0"/>
          </a:p>
        </p:txBody>
      </p:sp>
      <p:sp>
        <p:nvSpPr>
          <p:cNvPr id="25" name="Shape 23"/>
          <p:cNvSpPr/>
          <p:nvPr/>
        </p:nvSpPr>
        <p:spPr>
          <a:xfrm>
            <a:off x="6464808" y="3383280"/>
            <a:ext cx="5029200" cy="1417320"/>
          </a:xfrm>
          <a:prstGeom prst="roundRect">
            <a:avLst>
              <a:gd name="adj" fmla="val 3871"/>
            </a:avLst>
          </a:prstGeom>
          <a:solidFill>
            <a:srgbClr val="E7F2FD"/>
          </a:solidFill>
          <a:ln w="12700">
            <a:solidFill>
              <a:srgbClr val="D3E4F6"/>
            </a:solidFill>
            <a:prstDash val="solid"/>
          </a:ln>
        </p:spPr>
      </p:sp>
      <p:sp>
        <p:nvSpPr>
          <p:cNvPr id="26" name="Text 24"/>
          <p:cNvSpPr/>
          <p:nvPr/>
        </p:nvSpPr>
        <p:spPr>
          <a:xfrm>
            <a:off x="6629400" y="3493008"/>
            <a:ext cx="4700016" cy="1197864"/>
          </a:xfrm>
          <a:prstGeom prst="rect">
            <a:avLst/>
          </a:prstGeom>
          <a:noFill/>
          <a:ln/>
        </p:spPr>
        <p:txBody>
          <a:bodyPr wrap="square" lIns="0" tIns="0" rIns="0" bIns="0" rtlCol="0" anchor="ctr"/>
          <a:lstStyle/>
          <a:p>
            <a:pPr indent="0" marL="0">
              <a:buNone/>
            </a:pPr>
            <a:r>
              <a:rPr lang="en-US" sz="1600" dirty="0">
                <a:solidFill>
                  <a:srgbClr val="1A2B3C"/>
                </a:solidFill>
                <a:latin typeface="Consolas" pitchFamily="34" charset="0"/>
                <a:ea typeface="Consolas" pitchFamily="34" charset="-122"/>
                <a:cs typeface="Consolas" pitchFamily="34" charset="-120"/>
              </a:rPr>
              <a:t>print(2 + 3 * 4)     # 14</a:t>
            </a:r>
            <a:endParaRPr lang="en-US" sz="1600" dirty="0"/>
          </a:p>
          <a:p>
            <a:pPr indent="0" marL="0">
              <a:buNone/>
            </a:pPr>
            <a:r>
              <a:rPr lang="en-US" sz="1600" dirty="0">
                <a:solidFill>
                  <a:srgbClr val="1A2B3C"/>
                </a:solidFill>
                <a:latin typeface="Consolas" pitchFamily="34" charset="0"/>
                <a:ea typeface="Consolas" pitchFamily="34" charset="-122"/>
                <a:cs typeface="Consolas" pitchFamily="34" charset="-120"/>
              </a:rPr>
              <a:t>print(10 - 8 / 2)    # 6.0</a:t>
            </a:r>
            <a:endParaRPr lang="en-US" sz="1600" dirty="0"/>
          </a:p>
          <a:p>
            <a:pPr indent="0" marL="0">
              <a:buNone/>
            </a:pPr>
            <a:r>
              <a:rPr lang="en-US" sz="1600" dirty="0">
                <a:solidFill>
                  <a:srgbClr val="1A2B3C"/>
                </a:solidFill>
                <a:latin typeface="Consolas" pitchFamily="34" charset="0"/>
                <a:ea typeface="Consolas" pitchFamily="34" charset="-122"/>
                <a:cs typeface="Consolas" pitchFamily="34" charset="-120"/>
              </a:rPr>
              <a:t>print(1 + 2 * 3)     # 7</a:t>
            </a:r>
            <a:endParaRPr lang="en-US" sz="1600" dirty="0"/>
          </a:p>
        </p:txBody>
      </p:sp>
      <p:sp>
        <p:nvSpPr>
          <p:cNvPr id="27" name="Text 25"/>
          <p:cNvSpPr/>
          <p:nvPr/>
        </p:nvSpPr>
        <p:spPr>
          <a:xfrm>
            <a:off x="6464808" y="4956048"/>
            <a:ext cx="5029200" cy="1005840"/>
          </a:xfrm>
          <a:prstGeom prst="rect">
            <a:avLst/>
          </a:prstGeom>
          <a:noFill/>
          <a:ln/>
        </p:spPr>
        <p:txBody>
          <a:bodyPr wrap="square" lIns="0" tIns="0" rIns="0" bIns="0" rtlCol="0" anchor="ctr"/>
          <a:lstStyle/>
          <a:p>
            <a:pPr indent="0" marL="0">
              <a:buNone/>
            </a:pPr>
            <a:r>
              <a:rPr lang="en-US" sz="1500" dirty="0">
                <a:solidFill>
                  <a:srgbClr val="2A2A2A"/>
                </a:solidFill>
                <a:latin typeface="Calibri" pitchFamily="34" charset="0"/>
                <a:ea typeface="Calibri" pitchFamily="34" charset="-122"/>
                <a:cs typeface="Calibri" pitchFamily="34" charset="-120"/>
              </a:rPr>
              <a:t>Want the add to happen first? Wrap it: (2 + 3) * 4 → 20.</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6F5"/>
        </a:solidFill>
      </p:bgPr>
    </p:bg>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0D3358"/>
          </a:solidFill>
          <a:ln w="12700">
            <a:solidFill>
              <a:srgbClr val="0D3358"/>
            </a:solidFill>
            <a:prstDash val="solid"/>
          </a:ln>
        </p:spPr>
      </p:sp>
      <p:sp>
        <p:nvSpPr>
          <p:cNvPr id="3" name="Shape 1"/>
          <p:cNvSpPr/>
          <p:nvPr/>
        </p:nvSpPr>
        <p:spPr>
          <a:xfrm>
            <a:off x="0" y="475488"/>
            <a:ext cx="12191695" cy="54864"/>
          </a:xfrm>
          <a:prstGeom prst="rect">
            <a:avLst/>
          </a:prstGeom>
          <a:solidFill>
            <a:srgbClr val="E1A244"/>
          </a:solidFill>
          <a:ln w="12700">
            <a:solidFill>
              <a:srgbClr val="E1A244"/>
            </a:solidFill>
            <a:prstDash val="solid"/>
          </a:ln>
        </p:spPr>
      </p:sp>
      <p:sp>
        <p:nvSpPr>
          <p:cNvPr id="4" name="Text 2"/>
          <p:cNvSpPr/>
          <p:nvPr/>
        </p:nvSpPr>
        <p:spPr>
          <a:xfrm>
            <a:off x="411480" y="73152"/>
            <a:ext cx="6583680" cy="32918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LogosTeach  ·  Computer Science 1</a:t>
            </a:r>
            <a:endParaRPr lang="en-US" sz="1300" dirty="0"/>
          </a:p>
        </p:txBody>
      </p:sp>
      <p:sp>
        <p:nvSpPr>
          <p:cNvPr id="5" name="Text 3"/>
          <p:cNvSpPr/>
          <p:nvPr/>
        </p:nvSpPr>
        <p:spPr>
          <a:xfrm>
            <a:off x="6949440" y="73152"/>
            <a:ext cx="4846320" cy="329184"/>
          </a:xfrm>
          <a:prstGeom prst="rect">
            <a:avLst/>
          </a:prstGeom>
          <a:noFill/>
          <a:ln/>
        </p:spPr>
        <p:txBody>
          <a:bodyPr wrap="square" lIns="0" tIns="0" rIns="0" bIns="0" rtlCol="0" anchor="ctr"/>
          <a:lstStyle/>
          <a:p>
            <a:pPr algn="r" indent="0" marL="0">
              <a:buNone/>
            </a:pPr>
            <a:r>
              <a:rPr lang="en-US" sz="1300" dirty="0">
                <a:solidFill>
                  <a:srgbClr val="E1A244"/>
                </a:solidFill>
                <a:latin typeface="Calibri" pitchFamily="34" charset="0"/>
                <a:ea typeface="Calibri" pitchFamily="34" charset="-122"/>
                <a:cs typeface="Calibri" pitchFamily="34" charset="-120"/>
              </a:rPr>
              <a:t>Unit 2  ·  Order of Operations</a:t>
            </a:r>
            <a:endParaRPr lang="en-US" sz="1300" dirty="0"/>
          </a:p>
        </p:txBody>
      </p:sp>
      <p:sp>
        <p:nvSpPr>
          <p:cNvPr id="6" name="Shape 4"/>
          <p:cNvSpPr/>
          <p:nvPr/>
        </p:nvSpPr>
        <p:spPr>
          <a:xfrm>
            <a:off x="0" y="6473952"/>
            <a:ext cx="12191695" cy="384048"/>
          </a:xfrm>
          <a:prstGeom prst="rect">
            <a:avLst/>
          </a:prstGeom>
          <a:solidFill>
            <a:srgbClr val="E8EEF3"/>
          </a:solidFill>
          <a:ln w="12700">
            <a:solidFill>
              <a:srgbClr val="E8EEF3"/>
            </a:solidFill>
            <a:prstDash val="solid"/>
          </a:ln>
        </p:spPr>
      </p:sp>
      <p:sp>
        <p:nvSpPr>
          <p:cNvPr id="7" name="Shape 5"/>
          <p:cNvSpPr/>
          <p:nvPr/>
        </p:nvSpPr>
        <p:spPr>
          <a:xfrm>
            <a:off x="0" y="6473952"/>
            <a:ext cx="12191695" cy="32004"/>
          </a:xfrm>
          <a:prstGeom prst="rect">
            <a:avLst/>
          </a:prstGeom>
          <a:solidFill>
            <a:srgbClr val="E1A244"/>
          </a:solidFill>
          <a:ln w="12700">
            <a:solidFill>
              <a:srgbClr val="E1A244"/>
            </a:solidFill>
            <a:prstDash val="solid"/>
          </a:ln>
        </p:spPr>
      </p:sp>
      <p:sp>
        <p:nvSpPr>
          <p:cNvPr id="8" name="Text 6"/>
          <p:cNvSpPr/>
          <p:nvPr/>
        </p:nvSpPr>
        <p:spPr>
          <a:xfrm>
            <a:off x="411480" y="6528816"/>
            <a:ext cx="8595360" cy="274320"/>
          </a:xfrm>
          <a:prstGeom prst="rect">
            <a:avLst/>
          </a:prstGeom>
          <a:noFill/>
          <a:ln/>
        </p:spPr>
        <p:txBody>
          <a:bodyPr wrap="square" lIns="0" tIns="0" rIns="0" bIns="0" rtlCol="0" anchor="ctr"/>
          <a:lstStyle/>
          <a:p>
            <a:pPr indent="0" marL="0">
              <a:buNone/>
            </a:pPr>
            <a:r>
              <a:rPr lang="en-US" sz="1100" dirty="0">
                <a:solidFill>
                  <a:srgbClr val="5A6A7A"/>
                </a:solidFill>
                <a:latin typeface="Calibri" pitchFamily="34" charset="0"/>
                <a:ea typeface="Calibri" pitchFamily="34" charset="-122"/>
                <a:cs typeface="Calibri" pitchFamily="34" charset="-120"/>
              </a:rPr>
              <a:t>Copyright 2026 LogosTeach  ·  All Rights Reserved</a:t>
            </a:r>
            <a:endParaRPr lang="en-US" sz="1100" dirty="0"/>
          </a:p>
        </p:txBody>
      </p:sp>
      <p:sp>
        <p:nvSpPr>
          <p:cNvPr id="9" name="Text 7"/>
          <p:cNvSpPr/>
          <p:nvPr/>
        </p:nvSpPr>
        <p:spPr>
          <a:xfrm>
            <a:off x="9509760" y="6528816"/>
            <a:ext cx="2286000" cy="274320"/>
          </a:xfrm>
          <a:prstGeom prst="rect">
            <a:avLst/>
          </a:prstGeom>
          <a:noFill/>
          <a:ln/>
        </p:spPr>
        <p:txBody>
          <a:bodyPr wrap="square" lIns="0" tIns="0" rIns="0" bIns="0" rtlCol="0" anchor="ctr"/>
          <a:lstStyle/>
          <a:p>
            <a:pPr algn="r" indent="0" marL="0">
              <a:buNone/>
            </a:pPr>
            <a:r>
              <a:rPr lang="en-US" sz="1100" dirty="0">
                <a:solidFill>
                  <a:srgbClr val="0D3358"/>
                </a:solidFill>
                <a:latin typeface="Calibri" pitchFamily="34" charset="0"/>
                <a:ea typeface="Calibri" pitchFamily="34" charset="-122"/>
                <a:cs typeface="Calibri" pitchFamily="34" charset="-120"/>
              </a:rPr>
              <a:t>7  /  14</a:t>
            </a:r>
            <a:endParaRPr lang="en-US" sz="1100" dirty="0"/>
          </a:p>
        </p:txBody>
      </p:sp>
      <p:sp>
        <p:nvSpPr>
          <p:cNvPr id="10" name="Text 8"/>
          <p:cNvSpPr/>
          <p:nvPr/>
        </p:nvSpPr>
        <p:spPr>
          <a:xfrm>
            <a:off x="457200" y="658368"/>
            <a:ext cx="11247120" cy="384048"/>
          </a:xfrm>
          <a:prstGeom prst="rect">
            <a:avLst/>
          </a:prstGeom>
          <a:noFill/>
          <a:ln/>
        </p:spPr>
        <p:txBody>
          <a:bodyPr wrap="square" lIns="0" tIns="0" rIns="0" bIns="0" rtlCol="0" anchor="ctr"/>
          <a:lstStyle/>
          <a:p>
            <a:pPr indent="0" marL="0">
              <a:buNone/>
            </a:pPr>
            <a:r>
              <a:rPr lang="en-US" sz="2800" b="1" dirty="0">
                <a:solidFill>
                  <a:srgbClr val="0D3358"/>
                </a:solidFill>
                <a:latin typeface="Calibri" pitchFamily="34" charset="0"/>
                <a:ea typeface="Calibri" pitchFamily="34" charset="-122"/>
                <a:cs typeface="Calibri" pitchFamily="34" charset="-120"/>
              </a:rPr>
              <a:t>Same Rank Runs Left to Right</a:t>
            </a:r>
            <a:endParaRPr lang="en-US" sz="2800" dirty="0"/>
          </a:p>
        </p:txBody>
      </p:sp>
      <p:sp>
        <p:nvSpPr>
          <p:cNvPr id="11" name="Shape 9"/>
          <p:cNvSpPr/>
          <p:nvPr/>
        </p:nvSpPr>
        <p:spPr>
          <a:xfrm>
            <a:off x="457200" y="1060704"/>
            <a:ext cx="1234440" cy="50292"/>
          </a:xfrm>
          <a:prstGeom prst="rect">
            <a:avLst/>
          </a:prstGeom>
          <a:solidFill>
            <a:srgbClr val="E1A244"/>
          </a:solidFill>
          <a:ln w="12700">
            <a:solidFill>
              <a:srgbClr val="E1A244"/>
            </a:solidFill>
            <a:prstDash val="solid"/>
          </a:ln>
        </p:spPr>
      </p:sp>
      <p:sp>
        <p:nvSpPr>
          <p:cNvPr id="12" name="Text 10"/>
          <p:cNvSpPr/>
          <p:nvPr/>
        </p:nvSpPr>
        <p:spPr>
          <a:xfrm>
            <a:off x="457200" y="1280160"/>
            <a:ext cx="11247120" cy="640080"/>
          </a:xfrm>
          <a:prstGeom prst="rect">
            <a:avLst/>
          </a:prstGeom>
          <a:noFill/>
          <a:ln/>
        </p:spPr>
        <p:txBody>
          <a:bodyPr wrap="square" lIns="0" tIns="0" rIns="0" bIns="0" rtlCol="0" anchor="ctr"/>
          <a:lstStyle/>
          <a:p>
            <a:pPr indent="0" marL="0">
              <a:buNone/>
            </a:pPr>
            <a:r>
              <a:rPr lang="en-US" sz="1600" dirty="0">
                <a:solidFill>
                  <a:srgbClr val="2A2A2A"/>
                </a:solidFill>
                <a:latin typeface="Calibri" pitchFamily="34" charset="0"/>
                <a:ea typeface="Calibri" pitchFamily="34" charset="-122"/>
                <a:cs typeface="Calibri" pitchFamily="34" charset="-120"/>
              </a:rPr>
              <a:t>When two operators share a rank, Python does not flip a coin. It walks from left to right. That is associativity for +, −, *, /, //, and %.</a:t>
            </a:r>
            <a:endParaRPr lang="en-US" sz="1600" dirty="0"/>
          </a:p>
        </p:txBody>
      </p:sp>
      <p:sp>
        <p:nvSpPr>
          <p:cNvPr id="13" name="Shape 11"/>
          <p:cNvSpPr/>
          <p:nvPr/>
        </p:nvSpPr>
        <p:spPr>
          <a:xfrm>
            <a:off x="457200" y="2011680"/>
            <a:ext cx="11247120" cy="960120"/>
          </a:xfrm>
          <a:prstGeom prst="roundRect">
            <a:avLst>
              <a:gd name="adj" fmla="val 7619"/>
            </a:avLst>
          </a:prstGeom>
          <a:solidFill>
            <a:srgbClr val="FFFFFF"/>
          </a:solidFill>
          <a:ln w="12700">
            <a:solidFill>
              <a:srgbClr val="E2E8EE"/>
            </a:solidFill>
            <a:prstDash val="solid"/>
          </a:ln>
        </p:spPr>
      </p:sp>
      <p:sp>
        <p:nvSpPr>
          <p:cNvPr id="14" name="Text 12"/>
          <p:cNvSpPr/>
          <p:nvPr/>
        </p:nvSpPr>
        <p:spPr>
          <a:xfrm>
            <a:off x="640080" y="2139696"/>
            <a:ext cx="2560320" cy="694944"/>
          </a:xfrm>
          <a:prstGeom prst="rect">
            <a:avLst/>
          </a:prstGeom>
          <a:noFill/>
          <a:ln/>
        </p:spPr>
        <p:txBody>
          <a:bodyPr wrap="square" lIns="0" tIns="0" rIns="0" bIns="0" rtlCol="0" anchor="ctr"/>
          <a:lstStyle/>
          <a:p>
            <a:pPr indent="0" marL="0">
              <a:buNone/>
            </a:pPr>
            <a:r>
              <a:rPr lang="en-US" sz="1600" dirty="0">
                <a:solidFill>
                  <a:srgbClr val="1A2B3C"/>
                </a:solidFill>
                <a:latin typeface="Consolas" pitchFamily="34" charset="0"/>
                <a:ea typeface="Consolas" pitchFamily="34" charset="-122"/>
                <a:cs typeface="Consolas" pitchFamily="34" charset="-120"/>
              </a:rPr>
              <a:t>10 - 4 + 2</a:t>
            </a:r>
            <a:endParaRPr lang="en-US" sz="1600" dirty="0"/>
          </a:p>
        </p:txBody>
      </p:sp>
      <p:sp>
        <p:nvSpPr>
          <p:cNvPr id="15" name="Text 13"/>
          <p:cNvSpPr/>
          <p:nvPr/>
        </p:nvSpPr>
        <p:spPr>
          <a:xfrm>
            <a:off x="3246120" y="2139696"/>
            <a:ext cx="3017520" cy="694944"/>
          </a:xfrm>
          <a:prstGeom prst="rect">
            <a:avLst/>
          </a:prstGeom>
          <a:noFill/>
          <a:ln/>
        </p:spPr>
        <p:txBody>
          <a:bodyPr wrap="square" lIns="0" tIns="0" rIns="0" bIns="0" rtlCol="0" anchor="ctr"/>
          <a:lstStyle/>
          <a:p>
            <a:pPr indent="0" marL="0">
              <a:buNone/>
            </a:pPr>
            <a:r>
              <a:rPr lang="en-US" sz="1600" dirty="0">
                <a:solidFill>
                  <a:srgbClr val="1A7070"/>
                </a:solidFill>
                <a:latin typeface="Consolas" pitchFamily="34" charset="0"/>
                <a:ea typeface="Consolas" pitchFamily="34" charset="-122"/>
                <a:cs typeface="Consolas" pitchFamily="34" charset="-120"/>
              </a:rPr>
              <a:t>(10 - 4) + 2</a:t>
            </a:r>
            <a:endParaRPr lang="en-US" sz="1600" dirty="0"/>
          </a:p>
        </p:txBody>
      </p:sp>
      <p:sp>
        <p:nvSpPr>
          <p:cNvPr id="16" name="Text 14"/>
          <p:cNvSpPr/>
          <p:nvPr/>
        </p:nvSpPr>
        <p:spPr>
          <a:xfrm>
            <a:off x="6309360" y="2139696"/>
            <a:ext cx="1463040" cy="694944"/>
          </a:xfrm>
          <a:prstGeom prst="rect">
            <a:avLst/>
          </a:prstGeom>
          <a:noFill/>
          <a:ln/>
        </p:spPr>
        <p:txBody>
          <a:bodyPr wrap="square" lIns="0" tIns="0" rIns="0" bIns="0" rtlCol="0" anchor="ctr"/>
          <a:lstStyle/>
          <a:p>
            <a:pPr indent="0" marL="0">
              <a:buNone/>
            </a:pPr>
            <a:r>
              <a:rPr lang="en-US" sz="1600" b="1" dirty="0">
                <a:solidFill>
                  <a:srgbClr val="0D3358"/>
                </a:solidFill>
                <a:latin typeface="Consolas" pitchFamily="34" charset="0"/>
                <a:ea typeface="Consolas" pitchFamily="34" charset="-122"/>
                <a:cs typeface="Consolas" pitchFamily="34" charset="-120"/>
              </a:rPr>
              <a:t>→  8</a:t>
            </a:r>
            <a:endParaRPr lang="en-US" sz="1600" dirty="0"/>
          </a:p>
        </p:txBody>
      </p:sp>
      <p:sp>
        <p:nvSpPr>
          <p:cNvPr id="17" name="Text 15"/>
          <p:cNvSpPr/>
          <p:nvPr/>
        </p:nvSpPr>
        <p:spPr>
          <a:xfrm>
            <a:off x="7818120" y="2139696"/>
            <a:ext cx="3657600" cy="694944"/>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Not 10 - 6. Plus and minus share a rank.</a:t>
            </a:r>
            <a:endParaRPr lang="en-US" sz="1400" dirty="0"/>
          </a:p>
        </p:txBody>
      </p:sp>
      <p:sp>
        <p:nvSpPr>
          <p:cNvPr id="18" name="Shape 16"/>
          <p:cNvSpPr/>
          <p:nvPr/>
        </p:nvSpPr>
        <p:spPr>
          <a:xfrm>
            <a:off x="457200" y="3063240"/>
            <a:ext cx="11247120" cy="960120"/>
          </a:xfrm>
          <a:prstGeom prst="roundRect">
            <a:avLst>
              <a:gd name="adj" fmla="val 7619"/>
            </a:avLst>
          </a:prstGeom>
          <a:solidFill>
            <a:srgbClr val="FFFFFF"/>
          </a:solidFill>
          <a:ln w="12700">
            <a:solidFill>
              <a:srgbClr val="E2E8EE"/>
            </a:solidFill>
            <a:prstDash val="solid"/>
          </a:ln>
        </p:spPr>
      </p:sp>
      <p:sp>
        <p:nvSpPr>
          <p:cNvPr id="19" name="Text 17"/>
          <p:cNvSpPr/>
          <p:nvPr/>
        </p:nvSpPr>
        <p:spPr>
          <a:xfrm>
            <a:off x="640080" y="3191256"/>
            <a:ext cx="2560320" cy="694944"/>
          </a:xfrm>
          <a:prstGeom prst="rect">
            <a:avLst/>
          </a:prstGeom>
          <a:noFill/>
          <a:ln/>
        </p:spPr>
        <p:txBody>
          <a:bodyPr wrap="square" lIns="0" tIns="0" rIns="0" bIns="0" rtlCol="0" anchor="ctr"/>
          <a:lstStyle/>
          <a:p>
            <a:pPr indent="0" marL="0">
              <a:buNone/>
            </a:pPr>
            <a:r>
              <a:rPr lang="en-US" sz="1600" dirty="0">
                <a:solidFill>
                  <a:srgbClr val="1A2B3C"/>
                </a:solidFill>
                <a:latin typeface="Consolas" pitchFamily="34" charset="0"/>
                <a:ea typeface="Consolas" pitchFamily="34" charset="-122"/>
                <a:cs typeface="Consolas" pitchFamily="34" charset="-120"/>
              </a:rPr>
              <a:t>10 / 2 * 5</a:t>
            </a:r>
            <a:endParaRPr lang="en-US" sz="1600" dirty="0"/>
          </a:p>
        </p:txBody>
      </p:sp>
      <p:sp>
        <p:nvSpPr>
          <p:cNvPr id="20" name="Text 18"/>
          <p:cNvSpPr/>
          <p:nvPr/>
        </p:nvSpPr>
        <p:spPr>
          <a:xfrm>
            <a:off x="3246120" y="3191256"/>
            <a:ext cx="3017520" cy="694944"/>
          </a:xfrm>
          <a:prstGeom prst="rect">
            <a:avLst/>
          </a:prstGeom>
          <a:noFill/>
          <a:ln/>
        </p:spPr>
        <p:txBody>
          <a:bodyPr wrap="square" lIns="0" tIns="0" rIns="0" bIns="0" rtlCol="0" anchor="ctr"/>
          <a:lstStyle/>
          <a:p>
            <a:pPr indent="0" marL="0">
              <a:buNone/>
            </a:pPr>
            <a:r>
              <a:rPr lang="en-US" sz="1600" dirty="0">
                <a:solidFill>
                  <a:srgbClr val="1A7070"/>
                </a:solidFill>
                <a:latin typeface="Consolas" pitchFamily="34" charset="0"/>
                <a:ea typeface="Consolas" pitchFamily="34" charset="-122"/>
                <a:cs typeface="Consolas" pitchFamily="34" charset="-120"/>
              </a:rPr>
              <a:t>(10 / 2) * 5</a:t>
            </a:r>
            <a:endParaRPr lang="en-US" sz="1600" dirty="0"/>
          </a:p>
        </p:txBody>
      </p:sp>
      <p:sp>
        <p:nvSpPr>
          <p:cNvPr id="21" name="Text 19"/>
          <p:cNvSpPr/>
          <p:nvPr/>
        </p:nvSpPr>
        <p:spPr>
          <a:xfrm>
            <a:off x="6309360" y="3191256"/>
            <a:ext cx="1463040" cy="694944"/>
          </a:xfrm>
          <a:prstGeom prst="rect">
            <a:avLst/>
          </a:prstGeom>
          <a:noFill/>
          <a:ln/>
        </p:spPr>
        <p:txBody>
          <a:bodyPr wrap="square" lIns="0" tIns="0" rIns="0" bIns="0" rtlCol="0" anchor="ctr"/>
          <a:lstStyle/>
          <a:p>
            <a:pPr indent="0" marL="0">
              <a:buNone/>
            </a:pPr>
            <a:r>
              <a:rPr lang="en-US" sz="1600" b="1" dirty="0">
                <a:solidFill>
                  <a:srgbClr val="0D3358"/>
                </a:solidFill>
                <a:latin typeface="Consolas" pitchFamily="34" charset="0"/>
                <a:ea typeface="Consolas" pitchFamily="34" charset="-122"/>
                <a:cs typeface="Consolas" pitchFamily="34" charset="-120"/>
              </a:rPr>
              <a:t>→  25.0</a:t>
            </a:r>
            <a:endParaRPr lang="en-US" sz="1600" dirty="0"/>
          </a:p>
        </p:txBody>
      </p:sp>
      <p:sp>
        <p:nvSpPr>
          <p:cNvPr id="22" name="Text 20"/>
          <p:cNvSpPr/>
          <p:nvPr/>
        </p:nvSpPr>
        <p:spPr>
          <a:xfrm>
            <a:off x="7818120" y="3191256"/>
            <a:ext cx="3657600" cy="694944"/>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Not 10 / 10. Slash and star share a rank.</a:t>
            </a:r>
            <a:endParaRPr lang="en-US" sz="1400" dirty="0"/>
          </a:p>
        </p:txBody>
      </p:sp>
      <p:sp>
        <p:nvSpPr>
          <p:cNvPr id="23" name="Shape 21"/>
          <p:cNvSpPr/>
          <p:nvPr/>
        </p:nvSpPr>
        <p:spPr>
          <a:xfrm>
            <a:off x="457200" y="4114800"/>
            <a:ext cx="11247120" cy="960120"/>
          </a:xfrm>
          <a:prstGeom prst="roundRect">
            <a:avLst>
              <a:gd name="adj" fmla="val 7619"/>
            </a:avLst>
          </a:prstGeom>
          <a:solidFill>
            <a:srgbClr val="FFFFFF"/>
          </a:solidFill>
          <a:ln w="12700">
            <a:solidFill>
              <a:srgbClr val="E2E8EE"/>
            </a:solidFill>
            <a:prstDash val="solid"/>
          </a:ln>
        </p:spPr>
      </p:sp>
      <p:sp>
        <p:nvSpPr>
          <p:cNvPr id="24" name="Text 22"/>
          <p:cNvSpPr/>
          <p:nvPr/>
        </p:nvSpPr>
        <p:spPr>
          <a:xfrm>
            <a:off x="640080" y="4242816"/>
            <a:ext cx="2560320" cy="694944"/>
          </a:xfrm>
          <a:prstGeom prst="rect">
            <a:avLst/>
          </a:prstGeom>
          <a:noFill/>
          <a:ln/>
        </p:spPr>
        <p:txBody>
          <a:bodyPr wrap="square" lIns="0" tIns="0" rIns="0" bIns="0" rtlCol="0" anchor="ctr"/>
          <a:lstStyle/>
          <a:p>
            <a:pPr indent="0" marL="0">
              <a:buNone/>
            </a:pPr>
            <a:r>
              <a:rPr lang="en-US" sz="1600" dirty="0">
                <a:solidFill>
                  <a:srgbClr val="1A2B3C"/>
                </a:solidFill>
                <a:latin typeface="Consolas" pitchFamily="34" charset="0"/>
                <a:ea typeface="Consolas" pitchFamily="34" charset="-122"/>
                <a:cs typeface="Consolas" pitchFamily="34" charset="-120"/>
              </a:rPr>
              <a:t>20 // 4 // 2</a:t>
            </a:r>
            <a:endParaRPr lang="en-US" sz="1600" dirty="0"/>
          </a:p>
        </p:txBody>
      </p:sp>
      <p:sp>
        <p:nvSpPr>
          <p:cNvPr id="25" name="Text 23"/>
          <p:cNvSpPr/>
          <p:nvPr/>
        </p:nvSpPr>
        <p:spPr>
          <a:xfrm>
            <a:off x="3246120" y="4242816"/>
            <a:ext cx="3017520" cy="694944"/>
          </a:xfrm>
          <a:prstGeom prst="rect">
            <a:avLst/>
          </a:prstGeom>
          <a:noFill/>
          <a:ln/>
        </p:spPr>
        <p:txBody>
          <a:bodyPr wrap="square" lIns="0" tIns="0" rIns="0" bIns="0" rtlCol="0" anchor="ctr"/>
          <a:lstStyle/>
          <a:p>
            <a:pPr indent="0" marL="0">
              <a:buNone/>
            </a:pPr>
            <a:r>
              <a:rPr lang="en-US" sz="1600" dirty="0">
                <a:solidFill>
                  <a:srgbClr val="1A7070"/>
                </a:solidFill>
                <a:latin typeface="Consolas" pitchFamily="34" charset="0"/>
                <a:ea typeface="Consolas" pitchFamily="34" charset="-122"/>
                <a:cs typeface="Consolas" pitchFamily="34" charset="-120"/>
              </a:rPr>
              <a:t>(20 // 4) // 2</a:t>
            </a:r>
            <a:endParaRPr lang="en-US" sz="1600" dirty="0"/>
          </a:p>
        </p:txBody>
      </p:sp>
      <p:sp>
        <p:nvSpPr>
          <p:cNvPr id="26" name="Text 24"/>
          <p:cNvSpPr/>
          <p:nvPr/>
        </p:nvSpPr>
        <p:spPr>
          <a:xfrm>
            <a:off x="6309360" y="4242816"/>
            <a:ext cx="1463040" cy="694944"/>
          </a:xfrm>
          <a:prstGeom prst="rect">
            <a:avLst/>
          </a:prstGeom>
          <a:noFill/>
          <a:ln/>
        </p:spPr>
        <p:txBody>
          <a:bodyPr wrap="square" lIns="0" tIns="0" rIns="0" bIns="0" rtlCol="0" anchor="ctr"/>
          <a:lstStyle/>
          <a:p>
            <a:pPr indent="0" marL="0">
              <a:buNone/>
            </a:pPr>
            <a:r>
              <a:rPr lang="en-US" sz="1600" b="1" dirty="0">
                <a:solidFill>
                  <a:srgbClr val="0D3358"/>
                </a:solidFill>
                <a:latin typeface="Consolas" pitchFamily="34" charset="0"/>
                <a:ea typeface="Consolas" pitchFamily="34" charset="-122"/>
                <a:cs typeface="Consolas" pitchFamily="34" charset="-120"/>
              </a:rPr>
              <a:t>→  2</a:t>
            </a:r>
            <a:endParaRPr lang="en-US" sz="1600" dirty="0"/>
          </a:p>
        </p:txBody>
      </p:sp>
      <p:sp>
        <p:nvSpPr>
          <p:cNvPr id="27" name="Text 25"/>
          <p:cNvSpPr/>
          <p:nvPr/>
        </p:nvSpPr>
        <p:spPr>
          <a:xfrm>
            <a:off x="7818120" y="4242816"/>
            <a:ext cx="3657600" cy="694944"/>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Floor division is left to right too.</a:t>
            </a:r>
            <a:endParaRPr lang="en-US" sz="1400" dirty="0"/>
          </a:p>
        </p:txBody>
      </p:sp>
      <p:sp>
        <p:nvSpPr>
          <p:cNvPr id="28" name="Shape 26"/>
          <p:cNvSpPr/>
          <p:nvPr/>
        </p:nvSpPr>
        <p:spPr>
          <a:xfrm>
            <a:off x="457200" y="5166360"/>
            <a:ext cx="11247120" cy="960120"/>
          </a:xfrm>
          <a:prstGeom prst="roundRect">
            <a:avLst>
              <a:gd name="adj" fmla="val 7619"/>
            </a:avLst>
          </a:prstGeom>
          <a:solidFill>
            <a:srgbClr val="FFFFFF"/>
          </a:solidFill>
          <a:ln w="12700">
            <a:solidFill>
              <a:srgbClr val="E2E8EE"/>
            </a:solidFill>
            <a:prstDash val="solid"/>
          </a:ln>
        </p:spPr>
      </p:sp>
      <p:sp>
        <p:nvSpPr>
          <p:cNvPr id="29" name="Text 27"/>
          <p:cNvSpPr/>
          <p:nvPr/>
        </p:nvSpPr>
        <p:spPr>
          <a:xfrm>
            <a:off x="640080" y="5294376"/>
            <a:ext cx="2560320" cy="694944"/>
          </a:xfrm>
          <a:prstGeom prst="rect">
            <a:avLst/>
          </a:prstGeom>
          <a:noFill/>
          <a:ln/>
        </p:spPr>
        <p:txBody>
          <a:bodyPr wrap="square" lIns="0" tIns="0" rIns="0" bIns="0" rtlCol="0" anchor="ctr"/>
          <a:lstStyle/>
          <a:p>
            <a:pPr indent="0" marL="0">
              <a:buNone/>
            </a:pPr>
            <a:r>
              <a:rPr lang="en-US" sz="1600" dirty="0">
                <a:solidFill>
                  <a:srgbClr val="1A2B3C"/>
                </a:solidFill>
                <a:latin typeface="Consolas" pitchFamily="34" charset="0"/>
                <a:ea typeface="Consolas" pitchFamily="34" charset="-122"/>
                <a:cs typeface="Consolas" pitchFamily="34" charset="-120"/>
              </a:rPr>
              <a:t>17 % 5 * 2</a:t>
            </a:r>
            <a:endParaRPr lang="en-US" sz="1600" dirty="0"/>
          </a:p>
        </p:txBody>
      </p:sp>
      <p:sp>
        <p:nvSpPr>
          <p:cNvPr id="30" name="Text 28"/>
          <p:cNvSpPr/>
          <p:nvPr/>
        </p:nvSpPr>
        <p:spPr>
          <a:xfrm>
            <a:off x="3246120" y="5294376"/>
            <a:ext cx="3017520" cy="694944"/>
          </a:xfrm>
          <a:prstGeom prst="rect">
            <a:avLst/>
          </a:prstGeom>
          <a:noFill/>
          <a:ln/>
        </p:spPr>
        <p:txBody>
          <a:bodyPr wrap="square" lIns="0" tIns="0" rIns="0" bIns="0" rtlCol="0" anchor="ctr"/>
          <a:lstStyle/>
          <a:p>
            <a:pPr indent="0" marL="0">
              <a:buNone/>
            </a:pPr>
            <a:r>
              <a:rPr lang="en-US" sz="1600" dirty="0">
                <a:solidFill>
                  <a:srgbClr val="1A7070"/>
                </a:solidFill>
                <a:latin typeface="Consolas" pitchFamily="34" charset="0"/>
                <a:ea typeface="Consolas" pitchFamily="34" charset="-122"/>
                <a:cs typeface="Consolas" pitchFamily="34" charset="-120"/>
              </a:rPr>
              <a:t>(17 % 5) * 2</a:t>
            </a:r>
            <a:endParaRPr lang="en-US" sz="1600" dirty="0"/>
          </a:p>
        </p:txBody>
      </p:sp>
      <p:sp>
        <p:nvSpPr>
          <p:cNvPr id="31" name="Text 29"/>
          <p:cNvSpPr/>
          <p:nvPr/>
        </p:nvSpPr>
        <p:spPr>
          <a:xfrm>
            <a:off x="6309360" y="5294376"/>
            <a:ext cx="1463040" cy="694944"/>
          </a:xfrm>
          <a:prstGeom prst="rect">
            <a:avLst/>
          </a:prstGeom>
          <a:noFill/>
          <a:ln/>
        </p:spPr>
        <p:txBody>
          <a:bodyPr wrap="square" lIns="0" tIns="0" rIns="0" bIns="0" rtlCol="0" anchor="ctr"/>
          <a:lstStyle/>
          <a:p>
            <a:pPr indent="0" marL="0">
              <a:buNone/>
            </a:pPr>
            <a:r>
              <a:rPr lang="en-US" sz="1600" b="1" dirty="0">
                <a:solidFill>
                  <a:srgbClr val="0D3358"/>
                </a:solidFill>
                <a:latin typeface="Consolas" pitchFamily="34" charset="0"/>
                <a:ea typeface="Consolas" pitchFamily="34" charset="-122"/>
                <a:cs typeface="Consolas" pitchFamily="34" charset="-120"/>
              </a:rPr>
              <a:t>→  4</a:t>
            </a:r>
            <a:endParaRPr lang="en-US" sz="1600" dirty="0"/>
          </a:p>
        </p:txBody>
      </p:sp>
      <p:sp>
        <p:nvSpPr>
          <p:cNvPr id="32" name="Text 30"/>
          <p:cNvSpPr/>
          <p:nvPr/>
        </p:nvSpPr>
        <p:spPr>
          <a:xfrm>
            <a:off x="7818120" y="5294376"/>
            <a:ext cx="3657600" cy="694944"/>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 sits with * and /. Left partner first.</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6F5"/>
        </a:solidFill>
      </p:bgPr>
    </p:bg>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0D3358"/>
          </a:solidFill>
          <a:ln w="12700">
            <a:solidFill>
              <a:srgbClr val="0D3358"/>
            </a:solidFill>
            <a:prstDash val="solid"/>
          </a:ln>
        </p:spPr>
      </p:sp>
      <p:sp>
        <p:nvSpPr>
          <p:cNvPr id="3" name="Shape 1"/>
          <p:cNvSpPr/>
          <p:nvPr/>
        </p:nvSpPr>
        <p:spPr>
          <a:xfrm>
            <a:off x="0" y="475488"/>
            <a:ext cx="12191695" cy="54864"/>
          </a:xfrm>
          <a:prstGeom prst="rect">
            <a:avLst/>
          </a:prstGeom>
          <a:solidFill>
            <a:srgbClr val="E1A244"/>
          </a:solidFill>
          <a:ln w="12700">
            <a:solidFill>
              <a:srgbClr val="E1A244"/>
            </a:solidFill>
            <a:prstDash val="solid"/>
          </a:ln>
        </p:spPr>
      </p:sp>
      <p:sp>
        <p:nvSpPr>
          <p:cNvPr id="4" name="Text 2"/>
          <p:cNvSpPr/>
          <p:nvPr/>
        </p:nvSpPr>
        <p:spPr>
          <a:xfrm>
            <a:off x="411480" y="73152"/>
            <a:ext cx="6583680" cy="32918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LogosTeach  ·  Computer Science 1</a:t>
            </a:r>
            <a:endParaRPr lang="en-US" sz="1300" dirty="0"/>
          </a:p>
        </p:txBody>
      </p:sp>
      <p:sp>
        <p:nvSpPr>
          <p:cNvPr id="5" name="Text 3"/>
          <p:cNvSpPr/>
          <p:nvPr/>
        </p:nvSpPr>
        <p:spPr>
          <a:xfrm>
            <a:off x="6949440" y="73152"/>
            <a:ext cx="4846320" cy="329184"/>
          </a:xfrm>
          <a:prstGeom prst="rect">
            <a:avLst/>
          </a:prstGeom>
          <a:noFill/>
          <a:ln/>
        </p:spPr>
        <p:txBody>
          <a:bodyPr wrap="square" lIns="0" tIns="0" rIns="0" bIns="0" rtlCol="0" anchor="ctr"/>
          <a:lstStyle/>
          <a:p>
            <a:pPr algn="r" indent="0" marL="0">
              <a:buNone/>
            </a:pPr>
            <a:r>
              <a:rPr lang="en-US" sz="1300" dirty="0">
                <a:solidFill>
                  <a:srgbClr val="E1A244"/>
                </a:solidFill>
                <a:latin typeface="Calibri" pitchFamily="34" charset="0"/>
                <a:ea typeface="Calibri" pitchFamily="34" charset="-122"/>
                <a:cs typeface="Calibri" pitchFamily="34" charset="-120"/>
              </a:rPr>
              <a:t>Unit 2  ·  Order of Operations</a:t>
            </a:r>
            <a:endParaRPr lang="en-US" sz="1300" dirty="0"/>
          </a:p>
        </p:txBody>
      </p:sp>
      <p:sp>
        <p:nvSpPr>
          <p:cNvPr id="6" name="Shape 4"/>
          <p:cNvSpPr/>
          <p:nvPr/>
        </p:nvSpPr>
        <p:spPr>
          <a:xfrm>
            <a:off x="0" y="6473952"/>
            <a:ext cx="12191695" cy="384048"/>
          </a:xfrm>
          <a:prstGeom prst="rect">
            <a:avLst/>
          </a:prstGeom>
          <a:solidFill>
            <a:srgbClr val="E8EEF3"/>
          </a:solidFill>
          <a:ln w="12700">
            <a:solidFill>
              <a:srgbClr val="E8EEF3"/>
            </a:solidFill>
            <a:prstDash val="solid"/>
          </a:ln>
        </p:spPr>
      </p:sp>
      <p:sp>
        <p:nvSpPr>
          <p:cNvPr id="7" name="Shape 5"/>
          <p:cNvSpPr/>
          <p:nvPr/>
        </p:nvSpPr>
        <p:spPr>
          <a:xfrm>
            <a:off x="0" y="6473952"/>
            <a:ext cx="12191695" cy="32004"/>
          </a:xfrm>
          <a:prstGeom prst="rect">
            <a:avLst/>
          </a:prstGeom>
          <a:solidFill>
            <a:srgbClr val="E1A244"/>
          </a:solidFill>
          <a:ln w="12700">
            <a:solidFill>
              <a:srgbClr val="E1A244"/>
            </a:solidFill>
            <a:prstDash val="solid"/>
          </a:ln>
        </p:spPr>
      </p:sp>
      <p:sp>
        <p:nvSpPr>
          <p:cNvPr id="8" name="Text 6"/>
          <p:cNvSpPr/>
          <p:nvPr/>
        </p:nvSpPr>
        <p:spPr>
          <a:xfrm>
            <a:off x="411480" y="6528816"/>
            <a:ext cx="8595360" cy="274320"/>
          </a:xfrm>
          <a:prstGeom prst="rect">
            <a:avLst/>
          </a:prstGeom>
          <a:noFill/>
          <a:ln/>
        </p:spPr>
        <p:txBody>
          <a:bodyPr wrap="square" lIns="0" tIns="0" rIns="0" bIns="0" rtlCol="0" anchor="ctr"/>
          <a:lstStyle/>
          <a:p>
            <a:pPr indent="0" marL="0">
              <a:buNone/>
            </a:pPr>
            <a:r>
              <a:rPr lang="en-US" sz="1100" dirty="0">
                <a:solidFill>
                  <a:srgbClr val="5A6A7A"/>
                </a:solidFill>
                <a:latin typeface="Calibri" pitchFamily="34" charset="0"/>
                <a:ea typeface="Calibri" pitchFamily="34" charset="-122"/>
                <a:cs typeface="Calibri" pitchFamily="34" charset="-120"/>
              </a:rPr>
              <a:t>Copyright 2026 LogosTeach  ·  All Rights Reserved</a:t>
            </a:r>
            <a:endParaRPr lang="en-US" sz="1100" dirty="0"/>
          </a:p>
        </p:txBody>
      </p:sp>
      <p:sp>
        <p:nvSpPr>
          <p:cNvPr id="9" name="Text 7"/>
          <p:cNvSpPr/>
          <p:nvPr/>
        </p:nvSpPr>
        <p:spPr>
          <a:xfrm>
            <a:off x="9509760" y="6528816"/>
            <a:ext cx="2286000" cy="274320"/>
          </a:xfrm>
          <a:prstGeom prst="rect">
            <a:avLst/>
          </a:prstGeom>
          <a:noFill/>
          <a:ln/>
        </p:spPr>
        <p:txBody>
          <a:bodyPr wrap="square" lIns="0" tIns="0" rIns="0" bIns="0" rtlCol="0" anchor="ctr"/>
          <a:lstStyle/>
          <a:p>
            <a:pPr algn="r" indent="0" marL="0">
              <a:buNone/>
            </a:pPr>
            <a:r>
              <a:rPr lang="en-US" sz="1100" dirty="0">
                <a:solidFill>
                  <a:srgbClr val="0D3358"/>
                </a:solidFill>
                <a:latin typeface="Calibri" pitchFamily="34" charset="0"/>
                <a:ea typeface="Calibri" pitchFamily="34" charset="-122"/>
                <a:cs typeface="Calibri" pitchFamily="34" charset="-120"/>
              </a:rPr>
              <a:t>8  /  14</a:t>
            </a:r>
            <a:endParaRPr lang="en-US" sz="1100" dirty="0"/>
          </a:p>
        </p:txBody>
      </p:sp>
      <p:sp>
        <p:nvSpPr>
          <p:cNvPr id="10" name="Text 8"/>
          <p:cNvSpPr/>
          <p:nvPr/>
        </p:nvSpPr>
        <p:spPr>
          <a:xfrm>
            <a:off x="457200" y="658368"/>
            <a:ext cx="11247120" cy="384048"/>
          </a:xfrm>
          <a:prstGeom prst="rect">
            <a:avLst/>
          </a:prstGeom>
          <a:noFill/>
          <a:ln/>
        </p:spPr>
        <p:txBody>
          <a:bodyPr wrap="square" lIns="0" tIns="0" rIns="0" bIns="0" rtlCol="0" anchor="ctr"/>
          <a:lstStyle/>
          <a:p>
            <a:pPr indent="0" marL="0">
              <a:buNone/>
            </a:pPr>
            <a:r>
              <a:rPr lang="en-US" sz="2800" b="1" dirty="0">
                <a:solidFill>
                  <a:srgbClr val="0D3358"/>
                </a:solidFill>
                <a:latin typeface="Calibri" pitchFamily="34" charset="0"/>
                <a:ea typeface="Calibri" pitchFamily="34" charset="-122"/>
                <a:cs typeface="Calibri" pitchFamily="34" charset="-120"/>
              </a:rPr>
              <a:t>Floor Division and Remainder Sit with *</a:t>
            </a:r>
            <a:endParaRPr lang="en-US" sz="2800" dirty="0"/>
          </a:p>
        </p:txBody>
      </p:sp>
      <p:sp>
        <p:nvSpPr>
          <p:cNvPr id="11" name="Shape 9"/>
          <p:cNvSpPr/>
          <p:nvPr/>
        </p:nvSpPr>
        <p:spPr>
          <a:xfrm>
            <a:off x="457200" y="1060704"/>
            <a:ext cx="1234440" cy="50292"/>
          </a:xfrm>
          <a:prstGeom prst="rect">
            <a:avLst/>
          </a:prstGeom>
          <a:solidFill>
            <a:srgbClr val="E1A244"/>
          </a:solidFill>
          <a:ln w="12700">
            <a:solidFill>
              <a:srgbClr val="E1A244"/>
            </a:solidFill>
            <a:prstDash val="solid"/>
          </a:ln>
        </p:spPr>
      </p:sp>
      <p:sp>
        <p:nvSpPr>
          <p:cNvPr id="12" name="Shape 10"/>
          <p:cNvSpPr/>
          <p:nvPr/>
        </p:nvSpPr>
        <p:spPr>
          <a:xfrm>
            <a:off x="457200" y="1335024"/>
            <a:ext cx="5532120" cy="2331720"/>
          </a:xfrm>
          <a:prstGeom prst="roundRect">
            <a:avLst>
              <a:gd name="adj" fmla="val 3137"/>
            </a:avLst>
          </a:prstGeom>
          <a:solidFill>
            <a:srgbClr val="FFFFFF"/>
          </a:solidFill>
          <a:ln w="12700">
            <a:solidFill>
              <a:srgbClr val="E2E8EE"/>
            </a:solidFill>
            <a:prstDash val="solid"/>
          </a:ln>
        </p:spPr>
      </p:sp>
      <p:sp>
        <p:nvSpPr>
          <p:cNvPr id="13" name="Text 11"/>
          <p:cNvSpPr/>
          <p:nvPr/>
        </p:nvSpPr>
        <p:spPr>
          <a:xfrm>
            <a:off x="658368" y="1481328"/>
            <a:ext cx="5120640" cy="292608"/>
          </a:xfrm>
          <a:prstGeom prst="rect">
            <a:avLst/>
          </a:prstGeom>
          <a:noFill/>
          <a:ln/>
        </p:spPr>
        <p:txBody>
          <a:bodyPr wrap="square" lIns="0" tIns="0" rIns="0" bIns="0" rtlCol="0" anchor="ctr"/>
          <a:lstStyle/>
          <a:p>
            <a:pPr indent="0" marL="0">
              <a:buNone/>
            </a:pPr>
            <a:r>
              <a:rPr lang="en-US" sz="1400" b="1" dirty="0">
                <a:solidFill>
                  <a:srgbClr val="1A7070"/>
                </a:solidFill>
                <a:latin typeface="Calibri" pitchFamily="34" charset="0"/>
                <a:ea typeface="Calibri" pitchFamily="34" charset="-122"/>
                <a:cs typeface="Calibri" pitchFamily="34" charset="-120"/>
              </a:rPr>
              <a:t>//   FLOOR DIVISION</a:t>
            </a:r>
            <a:endParaRPr lang="en-US" sz="1400" dirty="0"/>
          </a:p>
        </p:txBody>
      </p:sp>
      <p:sp>
        <p:nvSpPr>
          <p:cNvPr id="14" name="Text 12"/>
          <p:cNvSpPr/>
          <p:nvPr/>
        </p:nvSpPr>
        <p:spPr>
          <a:xfrm>
            <a:off x="658368" y="1810512"/>
            <a:ext cx="5120640" cy="502920"/>
          </a:xfrm>
          <a:prstGeom prst="rect">
            <a:avLst/>
          </a:prstGeom>
          <a:noFill/>
          <a:ln/>
        </p:spPr>
        <p:txBody>
          <a:bodyPr wrap="square" lIns="0" tIns="0" rIns="0" bIns="0" rtlCol="0" anchor="ctr"/>
          <a:lstStyle/>
          <a:p>
            <a:pPr indent="0" marL="0">
              <a:buNone/>
            </a:pPr>
            <a:r>
              <a:rPr lang="en-US" sz="1600" dirty="0">
                <a:solidFill>
                  <a:srgbClr val="2A2A2A"/>
                </a:solidFill>
                <a:latin typeface="Calibri" pitchFamily="34" charset="0"/>
                <a:ea typeface="Calibri" pitchFamily="34" charset="-122"/>
                <a:cs typeface="Calibri" pitchFamily="34" charset="-120"/>
              </a:rPr>
              <a:t>How many whole groups fit. The leftover is thrown away.</a:t>
            </a:r>
            <a:endParaRPr lang="en-US" sz="1600" dirty="0"/>
          </a:p>
        </p:txBody>
      </p:sp>
      <p:sp>
        <p:nvSpPr>
          <p:cNvPr id="15" name="Shape 13"/>
          <p:cNvSpPr/>
          <p:nvPr/>
        </p:nvSpPr>
        <p:spPr>
          <a:xfrm>
            <a:off x="658368" y="2377440"/>
            <a:ext cx="5120640" cy="1051560"/>
          </a:xfrm>
          <a:prstGeom prst="roundRect">
            <a:avLst>
              <a:gd name="adj" fmla="val 5217"/>
            </a:avLst>
          </a:prstGeom>
          <a:solidFill>
            <a:srgbClr val="E7F2FD"/>
          </a:solidFill>
          <a:ln w="12700">
            <a:solidFill>
              <a:srgbClr val="D3E4F6"/>
            </a:solidFill>
            <a:prstDash val="solid"/>
          </a:ln>
        </p:spPr>
      </p:sp>
      <p:sp>
        <p:nvSpPr>
          <p:cNvPr id="16" name="Text 14"/>
          <p:cNvSpPr/>
          <p:nvPr/>
        </p:nvSpPr>
        <p:spPr>
          <a:xfrm>
            <a:off x="822960" y="2487168"/>
            <a:ext cx="4791456" cy="832104"/>
          </a:xfrm>
          <a:prstGeom prst="rect">
            <a:avLst/>
          </a:prstGeom>
          <a:noFill/>
          <a:ln/>
        </p:spPr>
        <p:txBody>
          <a:bodyPr wrap="square" lIns="0" tIns="0" rIns="0" bIns="0" rtlCol="0" anchor="ctr"/>
          <a:lstStyle/>
          <a:p>
            <a:pPr indent="0" marL="0">
              <a:buNone/>
            </a:pPr>
            <a:r>
              <a:rPr lang="en-US" sz="1600" dirty="0">
                <a:solidFill>
                  <a:srgbClr val="1A2B3C"/>
                </a:solidFill>
                <a:latin typeface="Consolas" pitchFamily="34" charset="0"/>
                <a:ea typeface="Consolas" pitchFamily="34" charset="-122"/>
                <a:cs typeface="Consolas" pitchFamily="34" charset="-120"/>
              </a:rPr>
              <a:t>print(17 // 5)     # 3</a:t>
            </a:r>
            <a:endParaRPr lang="en-US" sz="1600" dirty="0"/>
          </a:p>
          <a:p>
            <a:pPr indent="0" marL="0">
              <a:buNone/>
            </a:pPr>
            <a:r>
              <a:rPr lang="en-US" sz="1600" dirty="0">
                <a:solidFill>
                  <a:srgbClr val="1A2B3C"/>
                </a:solidFill>
                <a:latin typeface="Consolas" pitchFamily="34" charset="0"/>
                <a:ea typeface="Consolas" pitchFamily="34" charset="-122"/>
                <a:cs typeface="Consolas" pitchFamily="34" charset="-120"/>
              </a:rPr>
              <a:t>print(17 / 5)      # 3.4</a:t>
            </a:r>
            <a:endParaRPr lang="en-US" sz="1600" dirty="0"/>
          </a:p>
        </p:txBody>
      </p:sp>
      <p:sp>
        <p:nvSpPr>
          <p:cNvPr id="17" name="Shape 15"/>
          <p:cNvSpPr/>
          <p:nvPr/>
        </p:nvSpPr>
        <p:spPr>
          <a:xfrm>
            <a:off x="6172200" y="1335024"/>
            <a:ext cx="5532120" cy="2331720"/>
          </a:xfrm>
          <a:prstGeom prst="roundRect">
            <a:avLst>
              <a:gd name="adj" fmla="val 3137"/>
            </a:avLst>
          </a:prstGeom>
          <a:solidFill>
            <a:srgbClr val="FFFFFF"/>
          </a:solidFill>
          <a:ln w="12700">
            <a:solidFill>
              <a:srgbClr val="E2E8EE"/>
            </a:solidFill>
            <a:prstDash val="solid"/>
          </a:ln>
        </p:spPr>
      </p:sp>
      <p:sp>
        <p:nvSpPr>
          <p:cNvPr id="18" name="Text 16"/>
          <p:cNvSpPr/>
          <p:nvPr/>
        </p:nvSpPr>
        <p:spPr>
          <a:xfrm>
            <a:off x="6373368" y="1481328"/>
            <a:ext cx="5120640" cy="292608"/>
          </a:xfrm>
          <a:prstGeom prst="rect">
            <a:avLst/>
          </a:prstGeom>
          <a:noFill/>
          <a:ln/>
        </p:spPr>
        <p:txBody>
          <a:bodyPr wrap="square" lIns="0" tIns="0" rIns="0" bIns="0" rtlCol="0" anchor="ctr"/>
          <a:lstStyle/>
          <a:p>
            <a:pPr indent="0" marL="0">
              <a:buNone/>
            </a:pPr>
            <a:r>
              <a:rPr lang="en-US" sz="1400" b="1" dirty="0">
                <a:solidFill>
                  <a:srgbClr val="1A7070"/>
                </a:solidFill>
                <a:latin typeface="Calibri" pitchFamily="34" charset="0"/>
                <a:ea typeface="Calibri" pitchFamily="34" charset="-122"/>
                <a:cs typeface="Calibri" pitchFamily="34" charset="-120"/>
              </a:rPr>
              <a:t>%   REMAINDER  ·  MODULO</a:t>
            </a:r>
            <a:endParaRPr lang="en-US" sz="1400" dirty="0"/>
          </a:p>
        </p:txBody>
      </p:sp>
      <p:sp>
        <p:nvSpPr>
          <p:cNvPr id="19" name="Text 17"/>
          <p:cNvSpPr/>
          <p:nvPr/>
        </p:nvSpPr>
        <p:spPr>
          <a:xfrm>
            <a:off x="6373368" y="1810512"/>
            <a:ext cx="5120640" cy="502920"/>
          </a:xfrm>
          <a:prstGeom prst="rect">
            <a:avLst/>
          </a:prstGeom>
          <a:noFill/>
          <a:ln/>
        </p:spPr>
        <p:txBody>
          <a:bodyPr wrap="square" lIns="0" tIns="0" rIns="0" bIns="0" rtlCol="0" anchor="ctr"/>
          <a:lstStyle/>
          <a:p>
            <a:pPr indent="0" marL="0">
              <a:buNone/>
            </a:pPr>
            <a:r>
              <a:rPr lang="en-US" sz="1600" dirty="0">
                <a:solidFill>
                  <a:srgbClr val="2A2A2A"/>
                </a:solidFill>
                <a:latin typeface="Calibri" pitchFamily="34" charset="0"/>
                <a:ea typeface="Calibri" pitchFamily="34" charset="-122"/>
                <a:cs typeface="Calibri" pitchFamily="34" charset="-120"/>
              </a:rPr>
              <a:t>What is left after the whole groups are taken.</a:t>
            </a:r>
            <a:endParaRPr lang="en-US" sz="1600" dirty="0"/>
          </a:p>
        </p:txBody>
      </p:sp>
      <p:sp>
        <p:nvSpPr>
          <p:cNvPr id="20" name="Shape 18"/>
          <p:cNvSpPr/>
          <p:nvPr/>
        </p:nvSpPr>
        <p:spPr>
          <a:xfrm>
            <a:off x="6373368" y="2377440"/>
            <a:ext cx="5120640" cy="1051560"/>
          </a:xfrm>
          <a:prstGeom prst="roundRect">
            <a:avLst>
              <a:gd name="adj" fmla="val 5217"/>
            </a:avLst>
          </a:prstGeom>
          <a:solidFill>
            <a:srgbClr val="E7F2FD"/>
          </a:solidFill>
          <a:ln w="12700">
            <a:solidFill>
              <a:srgbClr val="D3E4F6"/>
            </a:solidFill>
            <a:prstDash val="solid"/>
          </a:ln>
        </p:spPr>
      </p:sp>
      <p:sp>
        <p:nvSpPr>
          <p:cNvPr id="21" name="Text 19"/>
          <p:cNvSpPr/>
          <p:nvPr/>
        </p:nvSpPr>
        <p:spPr>
          <a:xfrm>
            <a:off x="6537960" y="2487168"/>
            <a:ext cx="4791456" cy="832104"/>
          </a:xfrm>
          <a:prstGeom prst="rect">
            <a:avLst/>
          </a:prstGeom>
          <a:noFill/>
          <a:ln/>
        </p:spPr>
        <p:txBody>
          <a:bodyPr wrap="square" lIns="0" tIns="0" rIns="0" bIns="0" rtlCol="0" anchor="ctr"/>
          <a:lstStyle/>
          <a:p>
            <a:pPr indent="0" marL="0">
              <a:buNone/>
            </a:pPr>
            <a:r>
              <a:rPr lang="en-US" sz="1600" dirty="0">
                <a:solidFill>
                  <a:srgbClr val="1A2B3C"/>
                </a:solidFill>
                <a:latin typeface="Consolas" pitchFamily="34" charset="0"/>
                <a:ea typeface="Consolas" pitchFamily="34" charset="-122"/>
                <a:cs typeface="Consolas" pitchFamily="34" charset="-120"/>
              </a:rPr>
              <a:t>print(17 % 5)      # 2</a:t>
            </a:r>
            <a:endParaRPr lang="en-US" sz="1600" dirty="0"/>
          </a:p>
          <a:p>
            <a:pPr indent="0" marL="0">
              <a:buNone/>
            </a:pPr>
            <a:r>
              <a:rPr lang="en-US" sz="1600" dirty="0">
                <a:solidFill>
                  <a:srgbClr val="1A2B3C"/>
                </a:solidFill>
                <a:latin typeface="Consolas" pitchFamily="34" charset="0"/>
                <a:ea typeface="Consolas" pitchFamily="34" charset="-122"/>
                <a:cs typeface="Consolas" pitchFamily="34" charset="-120"/>
              </a:rPr>
              <a:t>print(17 == 3*5+2) # True</a:t>
            </a:r>
            <a:endParaRPr lang="en-US" sz="1600" dirty="0"/>
          </a:p>
        </p:txBody>
      </p:sp>
      <p:sp>
        <p:nvSpPr>
          <p:cNvPr id="22" name="Shape 20"/>
          <p:cNvSpPr/>
          <p:nvPr/>
        </p:nvSpPr>
        <p:spPr>
          <a:xfrm>
            <a:off x="457200" y="3822192"/>
            <a:ext cx="11247120" cy="2395728"/>
          </a:xfrm>
          <a:prstGeom prst="roundRect">
            <a:avLst>
              <a:gd name="adj" fmla="val 3053"/>
            </a:avLst>
          </a:prstGeom>
          <a:solidFill>
            <a:srgbClr val="FFFFFF"/>
          </a:solidFill>
          <a:ln w="12700">
            <a:solidFill>
              <a:srgbClr val="E2E8EE"/>
            </a:solidFill>
            <a:prstDash val="solid"/>
          </a:ln>
        </p:spPr>
      </p:sp>
      <p:sp>
        <p:nvSpPr>
          <p:cNvPr id="23" name="Shape 21"/>
          <p:cNvSpPr/>
          <p:nvPr/>
        </p:nvSpPr>
        <p:spPr>
          <a:xfrm>
            <a:off x="457200" y="3822192"/>
            <a:ext cx="109728" cy="2395728"/>
          </a:xfrm>
          <a:prstGeom prst="rect">
            <a:avLst/>
          </a:prstGeom>
          <a:solidFill>
            <a:srgbClr val="E1A244"/>
          </a:solidFill>
          <a:ln w="12700">
            <a:solidFill>
              <a:srgbClr val="E1A244"/>
            </a:solidFill>
            <a:prstDash val="solid"/>
          </a:ln>
        </p:spPr>
      </p:sp>
      <p:sp>
        <p:nvSpPr>
          <p:cNvPr id="24" name="Text 22"/>
          <p:cNvSpPr/>
          <p:nvPr/>
        </p:nvSpPr>
        <p:spPr>
          <a:xfrm>
            <a:off x="749808" y="3968496"/>
            <a:ext cx="10698480" cy="329184"/>
          </a:xfrm>
          <a:prstGeom prst="rect">
            <a:avLst/>
          </a:prstGeom>
          <a:noFill/>
          <a:ln/>
        </p:spPr>
        <p:txBody>
          <a:bodyPr wrap="square" lIns="0" tIns="0" rIns="0" bIns="0" rtlCol="0" anchor="ctr"/>
          <a:lstStyle/>
          <a:p>
            <a:pPr indent="0" marL="0">
              <a:buNone/>
            </a:pPr>
            <a:r>
              <a:rPr lang="en-US" sz="1600" b="1" dirty="0">
                <a:solidFill>
                  <a:srgbClr val="0D3358"/>
                </a:solidFill>
                <a:latin typeface="Calibri" pitchFamily="34" charset="0"/>
                <a:ea typeface="Calibri" pitchFamily="34" charset="-122"/>
                <a:cs typeface="Calibri" pitchFamily="34" charset="-120"/>
              </a:rPr>
              <a:t>They do not wait for + or −. They wait only for () and **.</a:t>
            </a:r>
            <a:endParaRPr lang="en-US" sz="1600" dirty="0"/>
          </a:p>
        </p:txBody>
      </p:sp>
      <p:sp>
        <p:nvSpPr>
          <p:cNvPr id="25" name="Shape 23"/>
          <p:cNvSpPr/>
          <p:nvPr/>
        </p:nvSpPr>
        <p:spPr>
          <a:xfrm>
            <a:off x="749808" y="4389120"/>
            <a:ext cx="10698480" cy="1600200"/>
          </a:xfrm>
          <a:prstGeom prst="roundRect">
            <a:avLst>
              <a:gd name="adj" fmla="val 3429"/>
            </a:avLst>
          </a:prstGeom>
          <a:solidFill>
            <a:srgbClr val="E7F2FD"/>
          </a:solidFill>
          <a:ln w="12700">
            <a:solidFill>
              <a:srgbClr val="D3E4F6"/>
            </a:solidFill>
            <a:prstDash val="solid"/>
          </a:ln>
        </p:spPr>
      </p:sp>
      <p:sp>
        <p:nvSpPr>
          <p:cNvPr id="26" name="Text 24"/>
          <p:cNvSpPr/>
          <p:nvPr/>
        </p:nvSpPr>
        <p:spPr>
          <a:xfrm>
            <a:off x="914400" y="4498848"/>
            <a:ext cx="10369296" cy="1380744"/>
          </a:xfrm>
          <a:prstGeom prst="rect">
            <a:avLst/>
          </a:prstGeom>
          <a:noFill/>
          <a:ln/>
        </p:spPr>
        <p:txBody>
          <a:bodyPr wrap="square" lIns="0" tIns="0" rIns="0" bIns="0" rtlCol="0" anchor="ctr"/>
          <a:lstStyle/>
          <a:p>
            <a:pPr indent="0" marL="0">
              <a:buNone/>
            </a:pPr>
            <a:r>
              <a:rPr lang="en-US" sz="1600" dirty="0">
                <a:solidFill>
                  <a:srgbClr val="1A2B3C"/>
                </a:solidFill>
                <a:latin typeface="Consolas" pitchFamily="34" charset="0"/>
                <a:ea typeface="Consolas" pitchFamily="34" charset="-122"/>
                <a:cs typeface="Consolas" pitchFamily="34" charset="-120"/>
              </a:rPr>
              <a:t>print(10 + 17 // 5)     # 13      because 17 // 5 is 3, then 10 + 3</a:t>
            </a:r>
            <a:endParaRPr lang="en-US" sz="1600" dirty="0"/>
          </a:p>
          <a:p>
            <a:pPr indent="0" marL="0">
              <a:buNone/>
            </a:pPr>
            <a:r>
              <a:rPr lang="en-US" sz="1600" dirty="0">
                <a:solidFill>
                  <a:srgbClr val="1A2B3C"/>
                </a:solidFill>
                <a:latin typeface="Consolas" pitchFamily="34" charset="0"/>
                <a:ea typeface="Consolas" pitchFamily="34" charset="-122"/>
                <a:cs typeface="Consolas" pitchFamily="34" charset="-120"/>
              </a:rPr>
              <a:t>print(10 + 17 % 5)      # 12      because 17 % 5 is 2, then 10 + 2</a:t>
            </a:r>
            <a:endParaRPr lang="en-US" sz="1600" dirty="0"/>
          </a:p>
          <a:p>
            <a:pPr indent="0" marL="0">
              <a:buNone/>
            </a:pPr>
            <a:r>
              <a:rPr lang="en-US" sz="1600" dirty="0">
                <a:solidFill>
                  <a:srgbClr val="1A2B3C"/>
                </a:solidFill>
                <a:latin typeface="Consolas" pitchFamily="34" charset="0"/>
                <a:ea typeface="Consolas" pitchFamily="34" charset="-122"/>
                <a:cs typeface="Consolas" pitchFamily="34" charset="-120"/>
              </a:rPr>
              <a:t>print((10 + 17) // 5)   # 5       parentheses pull the add up first</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6F5"/>
        </a:solidFill>
      </p:bgPr>
    </p:bg>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0D3358"/>
          </a:solidFill>
          <a:ln w="12700">
            <a:solidFill>
              <a:srgbClr val="0D3358"/>
            </a:solidFill>
            <a:prstDash val="solid"/>
          </a:ln>
        </p:spPr>
      </p:sp>
      <p:sp>
        <p:nvSpPr>
          <p:cNvPr id="3" name="Shape 1"/>
          <p:cNvSpPr/>
          <p:nvPr/>
        </p:nvSpPr>
        <p:spPr>
          <a:xfrm>
            <a:off x="0" y="475488"/>
            <a:ext cx="12191695" cy="54864"/>
          </a:xfrm>
          <a:prstGeom prst="rect">
            <a:avLst/>
          </a:prstGeom>
          <a:solidFill>
            <a:srgbClr val="E1A244"/>
          </a:solidFill>
          <a:ln w="12700">
            <a:solidFill>
              <a:srgbClr val="E1A244"/>
            </a:solidFill>
            <a:prstDash val="solid"/>
          </a:ln>
        </p:spPr>
      </p:sp>
      <p:sp>
        <p:nvSpPr>
          <p:cNvPr id="4" name="Text 2"/>
          <p:cNvSpPr/>
          <p:nvPr/>
        </p:nvSpPr>
        <p:spPr>
          <a:xfrm>
            <a:off x="411480" y="73152"/>
            <a:ext cx="6583680" cy="32918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LogosTeach  ·  Computer Science 1</a:t>
            </a:r>
            <a:endParaRPr lang="en-US" sz="1300" dirty="0"/>
          </a:p>
        </p:txBody>
      </p:sp>
      <p:sp>
        <p:nvSpPr>
          <p:cNvPr id="5" name="Text 3"/>
          <p:cNvSpPr/>
          <p:nvPr/>
        </p:nvSpPr>
        <p:spPr>
          <a:xfrm>
            <a:off x="6949440" y="73152"/>
            <a:ext cx="4846320" cy="329184"/>
          </a:xfrm>
          <a:prstGeom prst="rect">
            <a:avLst/>
          </a:prstGeom>
          <a:noFill/>
          <a:ln/>
        </p:spPr>
        <p:txBody>
          <a:bodyPr wrap="square" lIns="0" tIns="0" rIns="0" bIns="0" rtlCol="0" anchor="ctr"/>
          <a:lstStyle/>
          <a:p>
            <a:pPr algn="r" indent="0" marL="0">
              <a:buNone/>
            </a:pPr>
            <a:r>
              <a:rPr lang="en-US" sz="1300" dirty="0">
                <a:solidFill>
                  <a:srgbClr val="E1A244"/>
                </a:solidFill>
                <a:latin typeface="Calibri" pitchFamily="34" charset="0"/>
                <a:ea typeface="Calibri" pitchFamily="34" charset="-122"/>
                <a:cs typeface="Calibri" pitchFamily="34" charset="-120"/>
              </a:rPr>
              <a:t>Unit 2  ·  Order of Operations</a:t>
            </a:r>
            <a:endParaRPr lang="en-US" sz="1300" dirty="0"/>
          </a:p>
        </p:txBody>
      </p:sp>
      <p:sp>
        <p:nvSpPr>
          <p:cNvPr id="6" name="Shape 4"/>
          <p:cNvSpPr/>
          <p:nvPr/>
        </p:nvSpPr>
        <p:spPr>
          <a:xfrm>
            <a:off x="0" y="6473952"/>
            <a:ext cx="12191695" cy="384048"/>
          </a:xfrm>
          <a:prstGeom prst="rect">
            <a:avLst/>
          </a:prstGeom>
          <a:solidFill>
            <a:srgbClr val="E8EEF3"/>
          </a:solidFill>
          <a:ln w="12700">
            <a:solidFill>
              <a:srgbClr val="E8EEF3"/>
            </a:solidFill>
            <a:prstDash val="solid"/>
          </a:ln>
        </p:spPr>
      </p:sp>
      <p:sp>
        <p:nvSpPr>
          <p:cNvPr id="7" name="Shape 5"/>
          <p:cNvSpPr/>
          <p:nvPr/>
        </p:nvSpPr>
        <p:spPr>
          <a:xfrm>
            <a:off x="0" y="6473952"/>
            <a:ext cx="12191695" cy="32004"/>
          </a:xfrm>
          <a:prstGeom prst="rect">
            <a:avLst/>
          </a:prstGeom>
          <a:solidFill>
            <a:srgbClr val="E1A244"/>
          </a:solidFill>
          <a:ln w="12700">
            <a:solidFill>
              <a:srgbClr val="E1A244"/>
            </a:solidFill>
            <a:prstDash val="solid"/>
          </a:ln>
        </p:spPr>
      </p:sp>
      <p:sp>
        <p:nvSpPr>
          <p:cNvPr id="8" name="Text 6"/>
          <p:cNvSpPr/>
          <p:nvPr/>
        </p:nvSpPr>
        <p:spPr>
          <a:xfrm>
            <a:off x="411480" y="6528816"/>
            <a:ext cx="8595360" cy="274320"/>
          </a:xfrm>
          <a:prstGeom prst="rect">
            <a:avLst/>
          </a:prstGeom>
          <a:noFill/>
          <a:ln/>
        </p:spPr>
        <p:txBody>
          <a:bodyPr wrap="square" lIns="0" tIns="0" rIns="0" bIns="0" rtlCol="0" anchor="ctr"/>
          <a:lstStyle/>
          <a:p>
            <a:pPr indent="0" marL="0">
              <a:buNone/>
            </a:pPr>
            <a:r>
              <a:rPr lang="en-US" sz="1100" dirty="0">
                <a:solidFill>
                  <a:srgbClr val="5A6A7A"/>
                </a:solidFill>
                <a:latin typeface="Calibri" pitchFamily="34" charset="0"/>
                <a:ea typeface="Calibri" pitchFamily="34" charset="-122"/>
                <a:cs typeface="Calibri" pitchFamily="34" charset="-120"/>
              </a:rPr>
              <a:t>Copyright 2026 LogosTeach  ·  All Rights Reserved</a:t>
            </a:r>
            <a:endParaRPr lang="en-US" sz="1100" dirty="0"/>
          </a:p>
        </p:txBody>
      </p:sp>
      <p:sp>
        <p:nvSpPr>
          <p:cNvPr id="9" name="Text 7"/>
          <p:cNvSpPr/>
          <p:nvPr/>
        </p:nvSpPr>
        <p:spPr>
          <a:xfrm>
            <a:off x="9509760" y="6528816"/>
            <a:ext cx="2286000" cy="274320"/>
          </a:xfrm>
          <a:prstGeom prst="rect">
            <a:avLst/>
          </a:prstGeom>
          <a:noFill/>
          <a:ln/>
        </p:spPr>
        <p:txBody>
          <a:bodyPr wrap="square" lIns="0" tIns="0" rIns="0" bIns="0" rtlCol="0" anchor="ctr"/>
          <a:lstStyle/>
          <a:p>
            <a:pPr algn="r" indent="0" marL="0">
              <a:buNone/>
            </a:pPr>
            <a:r>
              <a:rPr lang="en-US" sz="1100" dirty="0">
                <a:solidFill>
                  <a:srgbClr val="0D3358"/>
                </a:solidFill>
                <a:latin typeface="Calibri" pitchFamily="34" charset="0"/>
                <a:ea typeface="Calibri" pitchFamily="34" charset="-122"/>
                <a:cs typeface="Calibri" pitchFamily="34" charset="-120"/>
              </a:rPr>
              <a:t>9  /  14</a:t>
            </a:r>
            <a:endParaRPr lang="en-US" sz="1100" dirty="0"/>
          </a:p>
        </p:txBody>
      </p:sp>
      <p:sp>
        <p:nvSpPr>
          <p:cNvPr id="10" name="Text 8"/>
          <p:cNvSpPr/>
          <p:nvPr/>
        </p:nvSpPr>
        <p:spPr>
          <a:xfrm>
            <a:off x="457200" y="658368"/>
            <a:ext cx="11247120" cy="384048"/>
          </a:xfrm>
          <a:prstGeom prst="rect">
            <a:avLst/>
          </a:prstGeom>
          <a:noFill/>
          <a:ln/>
        </p:spPr>
        <p:txBody>
          <a:bodyPr wrap="square" lIns="0" tIns="0" rIns="0" bIns="0" rtlCol="0" anchor="ctr"/>
          <a:lstStyle/>
          <a:p>
            <a:pPr indent="0" marL="0">
              <a:buNone/>
            </a:pPr>
            <a:r>
              <a:rPr lang="en-US" sz="2800" b="1" dirty="0">
                <a:solidFill>
                  <a:srgbClr val="0D3358"/>
                </a:solidFill>
                <a:latin typeface="Calibri" pitchFamily="34" charset="0"/>
                <a:ea typeface="Calibri" pitchFamily="34" charset="-122"/>
                <a:cs typeface="Calibri" pitchFamily="34" charset="-120"/>
              </a:rPr>
              <a:t>Powers Run High — and Right to Left</a:t>
            </a:r>
            <a:endParaRPr lang="en-US" sz="2800" dirty="0"/>
          </a:p>
        </p:txBody>
      </p:sp>
      <p:sp>
        <p:nvSpPr>
          <p:cNvPr id="11" name="Shape 9"/>
          <p:cNvSpPr/>
          <p:nvPr/>
        </p:nvSpPr>
        <p:spPr>
          <a:xfrm>
            <a:off x="457200" y="1060704"/>
            <a:ext cx="1234440" cy="50292"/>
          </a:xfrm>
          <a:prstGeom prst="rect">
            <a:avLst/>
          </a:prstGeom>
          <a:solidFill>
            <a:srgbClr val="E1A244"/>
          </a:solidFill>
          <a:ln w="12700">
            <a:solidFill>
              <a:srgbClr val="E1A244"/>
            </a:solidFill>
            <a:prstDash val="solid"/>
          </a:ln>
        </p:spPr>
      </p:sp>
      <p:sp>
        <p:nvSpPr>
          <p:cNvPr id="12" name="Text 10"/>
          <p:cNvSpPr/>
          <p:nvPr/>
        </p:nvSpPr>
        <p:spPr>
          <a:xfrm>
            <a:off x="457200" y="1280160"/>
            <a:ext cx="11247120" cy="566928"/>
          </a:xfrm>
          <a:prstGeom prst="rect">
            <a:avLst/>
          </a:prstGeom>
          <a:noFill/>
          <a:ln/>
        </p:spPr>
        <p:txBody>
          <a:bodyPr wrap="square" lIns="0" tIns="0" rIns="0" bIns="0" rtlCol="0" anchor="ctr"/>
          <a:lstStyle/>
          <a:p>
            <a:pPr indent="0" marL="0">
              <a:buNone/>
            </a:pPr>
            <a:r>
              <a:rPr lang="en-US" sz="1600" dirty="0">
                <a:solidFill>
                  <a:srgbClr val="2A2A2A"/>
                </a:solidFill>
                <a:latin typeface="Calibri" pitchFamily="34" charset="0"/>
                <a:ea typeface="Calibri" pitchFamily="34" charset="-122"/>
                <a:cs typeface="Calibri" pitchFamily="34" charset="-120"/>
              </a:rPr>
              <a:t>** outranks every operator on the previous slides except parentheses. Stacked powers are the one place beginners must look right first.</a:t>
            </a:r>
            <a:endParaRPr lang="en-US" sz="1600" dirty="0"/>
          </a:p>
        </p:txBody>
      </p:sp>
      <p:sp>
        <p:nvSpPr>
          <p:cNvPr id="13" name="Shape 11"/>
          <p:cNvSpPr/>
          <p:nvPr/>
        </p:nvSpPr>
        <p:spPr>
          <a:xfrm>
            <a:off x="457200" y="1956816"/>
            <a:ext cx="5532120" cy="4261104"/>
          </a:xfrm>
          <a:prstGeom prst="roundRect">
            <a:avLst>
              <a:gd name="adj" fmla="val 1717"/>
            </a:avLst>
          </a:prstGeom>
          <a:solidFill>
            <a:srgbClr val="FFFFFF"/>
          </a:solidFill>
          <a:ln w="12700">
            <a:solidFill>
              <a:srgbClr val="E2E8EE"/>
            </a:solidFill>
            <a:prstDash val="solid"/>
          </a:ln>
        </p:spPr>
      </p:sp>
      <p:sp>
        <p:nvSpPr>
          <p:cNvPr id="14" name="Shape 12"/>
          <p:cNvSpPr/>
          <p:nvPr/>
        </p:nvSpPr>
        <p:spPr>
          <a:xfrm>
            <a:off x="457200" y="1956816"/>
            <a:ext cx="109728" cy="4261104"/>
          </a:xfrm>
          <a:prstGeom prst="rect">
            <a:avLst/>
          </a:prstGeom>
          <a:solidFill>
            <a:srgbClr val="D08F3C"/>
          </a:solidFill>
          <a:ln w="12700">
            <a:solidFill>
              <a:srgbClr val="D08F3C"/>
            </a:solidFill>
            <a:prstDash val="solid"/>
          </a:ln>
        </p:spPr>
      </p:sp>
      <p:sp>
        <p:nvSpPr>
          <p:cNvPr id="15" name="Text 13"/>
          <p:cNvSpPr/>
          <p:nvPr/>
        </p:nvSpPr>
        <p:spPr>
          <a:xfrm>
            <a:off x="749808" y="2121408"/>
            <a:ext cx="5029200" cy="274320"/>
          </a:xfrm>
          <a:prstGeom prst="rect">
            <a:avLst/>
          </a:prstGeom>
          <a:noFill/>
          <a:ln/>
        </p:spPr>
        <p:txBody>
          <a:bodyPr wrap="square" lIns="0" tIns="0" rIns="0" bIns="0" rtlCol="0" anchor="ctr"/>
          <a:lstStyle/>
          <a:p>
            <a:pPr indent="0" marL="0">
              <a:buNone/>
            </a:pPr>
            <a:r>
              <a:rPr lang="en-US" sz="1300" b="1" dirty="0">
                <a:solidFill>
                  <a:srgbClr val="D08F3C"/>
                </a:solidFill>
                <a:latin typeface="Calibri" pitchFamily="34" charset="0"/>
                <a:ea typeface="Calibri" pitchFamily="34" charset="-122"/>
                <a:cs typeface="Calibri" pitchFamily="34" charset="-120"/>
              </a:rPr>
              <a:t>STACKED  **  ·  RIGHT FIRST</a:t>
            </a:r>
            <a:endParaRPr lang="en-US" sz="1300" dirty="0"/>
          </a:p>
        </p:txBody>
      </p:sp>
      <p:sp>
        <p:nvSpPr>
          <p:cNvPr id="16" name="Text 14"/>
          <p:cNvSpPr/>
          <p:nvPr/>
        </p:nvSpPr>
        <p:spPr>
          <a:xfrm>
            <a:off x="749808" y="2450592"/>
            <a:ext cx="5029200" cy="411480"/>
          </a:xfrm>
          <a:prstGeom prst="rect">
            <a:avLst/>
          </a:prstGeom>
          <a:noFill/>
          <a:ln/>
        </p:spPr>
        <p:txBody>
          <a:bodyPr wrap="square" lIns="0" tIns="0" rIns="0" bIns="0" rtlCol="0" anchor="ctr"/>
          <a:lstStyle/>
          <a:p>
            <a:pPr indent="0" marL="0">
              <a:buNone/>
            </a:pPr>
            <a:r>
              <a:rPr lang="en-US" sz="1800" b="1" dirty="0">
                <a:solidFill>
                  <a:srgbClr val="0D3358"/>
                </a:solidFill>
                <a:latin typeface="Calibri" pitchFamily="34" charset="0"/>
                <a:ea typeface="Calibri" pitchFamily="34" charset="-122"/>
                <a:cs typeface="Calibri" pitchFamily="34" charset="-120"/>
              </a:rPr>
              <a:t>2 ** 3 ** 2 means 2 ** (3 ** 2).</a:t>
            </a:r>
            <a:endParaRPr lang="en-US" sz="1800" dirty="0"/>
          </a:p>
        </p:txBody>
      </p:sp>
      <p:sp>
        <p:nvSpPr>
          <p:cNvPr id="17" name="Shape 15"/>
          <p:cNvSpPr/>
          <p:nvPr/>
        </p:nvSpPr>
        <p:spPr>
          <a:xfrm>
            <a:off x="749808" y="2971800"/>
            <a:ext cx="5029200" cy="1965960"/>
          </a:xfrm>
          <a:prstGeom prst="roundRect">
            <a:avLst>
              <a:gd name="adj" fmla="val 2791"/>
            </a:avLst>
          </a:prstGeom>
          <a:solidFill>
            <a:srgbClr val="E7F2FD"/>
          </a:solidFill>
          <a:ln w="12700">
            <a:solidFill>
              <a:srgbClr val="D3E4F6"/>
            </a:solidFill>
            <a:prstDash val="solid"/>
          </a:ln>
        </p:spPr>
      </p:sp>
      <p:sp>
        <p:nvSpPr>
          <p:cNvPr id="18" name="Text 16"/>
          <p:cNvSpPr/>
          <p:nvPr/>
        </p:nvSpPr>
        <p:spPr>
          <a:xfrm>
            <a:off x="914400" y="3081528"/>
            <a:ext cx="4700016" cy="1746504"/>
          </a:xfrm>
          <a:prstGeom prst="rect">
            <a:avLst/>
          </a:prstGeom>
          <a:noFill/>
          <a:ln/>
        </p:spPr>
        <p:txBody>
          <a:bodyPr wrap="square" lIns="0" tIns="0" rIns="0" bIns="0" rtlCol="0" anchor="ctr"/>
          <a:lstStyle/>
          <a:p>
            <a:pPr indent="0" marL="0">
              <a:buNone/>
            </a:pPr>
            <a:r>
              <a:rPr lang="en-US" sz="1600" dirty="0">
                <a:solidFill>
                  <a:srgbClr val="1A2B3C"/>
                </a:solidFill>
                <a:latin typeface="Consolas" pitchFamily="34" charset="0"/>
                <a:ea typeface="Consolas" pitchFamily="34" charset="-122"/>
                <a:cs typeface="Consolas" pitchFamily="34" charset="-120"/>
              </a:rPr>
              <a:t>print(2 ** 3 ** 2)</a:t>
            </a:r>
            <a:endParaRPr lang="en-US" sz="1600" dirty="0"/>
          </a:p>
          <a:p>
            <a:pPr indent="0" marL="0">
              <a:buNone/>
            </a:pPr>
            <a:r>
              <a:rPr lang="en-US" sz="1600" dirty="0">
                <a:solidFill>
                  <a:srgbClr val="1A2B3C"/>
                </a:solidFill>
                <a:latin typeface="Consolas" pitchFamily="34" charset="0"/>
                <a:ea typeface="Consolas" pitchFamily="34" charset="-122"/>
                <a:cs typeface="Consolas" pitchFamily="34" charset="-120"/>
              </a:rPr>
              <a:t># 3 ** 2  →  9</a:t>
            </a:r>
            <a:endParaRPr lang="en-US" sz="1600" dirty="0"/>
          </a:p>
          <a:p>
            <a:pPr indent="0" marL="0">
              <a:buNone/>
            </a:pPr>
            <a:r>
              <a:rPr lang="en-US" sz="1600" dirty="0">
                <a:solidFill>
                  <a:srgbClr val="1A2B3C"/>
                </a:solidFill>
                <a:latin typeface="Consolas" pitchFamily="34" charset="0"/>
                <a:ea typeface="Consolas" pitchFamily="34" charset="-122"/>
                <a:cs typeface="Consolas" pitchFamily="34" charset="-120"/>
              </a:rPr>
              <a:t># 2 ** 9  →  512</a:t>
            </a:r>
            <a:endParaRPr lang="en-US" sz="1600" dirty="0"/>
          </a:p>
          <a:p>
            <a:pPr indent="0" marL="0">
              <a:buNone/>
            </a:pPr>
            <a:r>
              <a:rPr lang="en-US" sz="1600" dirty="0">
                <a:solidFill>
                  <a:srgbClr val="1A2B3C"/>
                </a:solidFill>
                <a:latin typeface="Consolas" pitchFamily="34" charset="0"/>
                <a:ea typeface="Consolas" pitchFamily="34" charset="-122"/>
                <a:cs typeface="Consolas" pitchFamily="34" charset="-120"/>
              </a:rPr>
              <a:t>print(2 ** (3 ** 2))  # 512</a:t>
            </a:r>
            <a:endParaRPr lang="en-US" sz="1600" dirty="0"/>
          </a:p>
        </p:txBody>
      </p:sp>
      <p:sp>
        <p:nvSpPr>
          <p:cNvPr id="19" name="Text 17"/>
          <p:cNvSpPr/>
          <p:nvPr/>
        </p:nvSpPr>
        <p:spPr>
          <a:xfrm>
            <a:off x="749808" y="5074920"/>
            <a:ext cx="5029200" cy="914400"/>
          </a:xfrm>
          <a:prstGeom prst="rect">
            <a:avLst/>
          </a:prstGeom>
          <a:noFill/>
          <a:ln/>
        </p:spPr>
        <p:txBody>
          <a:bodyPr wrap="square" lIns="0" tIns="0" rIns="0" bIns="0" rtlCol="0" anchor="ctr"/>
          <a:lstStyle/>
          <a:p>
            <a:pPr indent="0" marL="0">
              <a:buNone/>
            </a:pPr>
            <a:r>
              <a:rPr lang="en-US" sz="1500" dirty="0">
                <a:solidFill>
                  <a:srgbClr val="2A2A2A"/>
                </a:solidFill>
                <a:latin typeface="Calibri" pitchFamily="34" charset="0"/>
                <a:ea typeface="Calibri" pitchFamily="34" charset="-122"/>
                <a:cs typeface="Calibri" pitchFamily="34" charset="-120"/>
              </a:rPr>
              <a:t>This is the only arithmetic operator in this lesson that is right-associative.</a:t>
            </a:r>
            <a:endParaRPr lang="en-US" sz="1500" dirty="0"/>
          </a:p>
        </p:txBody>
      </p:sp>
      <p:sp>
        <p:nvSpPr>
          <p:cNvPr id="20" name="Shape 18"/>
          <p:cNvSpPr/>
          <p:nvPr/>
        </p:nvSpPr>
        <p:spPr>
          <a:xfrm>
            <a:off x="6172200" y="1956816"/>
            <a:ext cx="5532120" cy="4261104"/>
          </a:xfrm>
          <a:prstGeom prst="roundRect">
            <a:avLst>
              <a:gd name="adj" fmla="val 1717"/>
            </a:avLst>
          </a:prstGeom>
          <a:solidFill>
            <a:srgbClr val="FFFFFF"/>
          </a:solidFill>
          <a:ln w="12700">
            <a:solidFill>
              <a:srgbClr val="E2E8EE"/>
            </a:solidFill>
            <a:prstDash val="solid"/>
          </a:ln>
        </p:spPr>
      </p:sp>
      <p:sp>
        <p:nvSpPr>
          <p:cNvPr id="21" name="Shape 19"/>
          <p:cNvSpPr/>
          <p:nvPr/>
        </p:nvSpPr>
        <p:spPr>
          <a:xfrm>
            <a:off x="6172200" y="1956816"/>
            <a:ext cx="109728" cy="4261104"/>
          </a:xfrm>
          <a:prstGeom prst="rect">
            <a:avLst/>
          </a:prstGeom>
          <a:solidFill>
            <a:srgbClr val="1A7070"/>
          </a:solidFill>
          <a:ln w="12700">
            <a:solidFill>
              <a:srgbClr val="1A7070"/>
            </a:solidFill>
            <a:prstDash val="solid"/>
          </a:ln>
        </p:spPr>
      </p:sp>
      <p:sp>
        <p:nvSpPr>
          <p:cNvPr id="22" name="Text 20"/>
          <p:cNvSpPr/>
          <p:nvPr/>
        </p:nvSpPr>
        <p:spPr>
          <a:xfrm>
            <a:off x="6464808" y="2121408"/>
            <a:ext cx="5029200" cy="274320"/>
          </a:xfrm>
          <a:prstGeom prst="rect">
            <a:avLst/>
          </a:prstGeom>
          <a:noFill/>
          <a:ln/>
        </p:spPr>
        <p:txBody>
          <a:bodyPr wrap="square" lIns="0" tIns="0" rIns="0" bIns="0" rtlCol="0" anchor="ctr"/>
          <a:lstStyle/>
          <a:p>
            <a:pPr indent="0" marL="0">
              <a:buNone/>
            </a:pPr>
            <a:r>
              <a:rPr lang="en-US" sz="1300" b="1" dirty="0">
                <a:solidFill>
                  <a:srgbClr val="1A7070"/>
                </a:solidFill>
                <a:latin typeface="Calibri" pitchFamily="34" charset="0"/>
                <a:ea typeface="Calibri" pitchFamily="34" charset="-122"/>
                <a:cs typeface="Calibri" pitchFamily="34" charset="-120"/>
              </a:rPr>
              <a:t>PARENTHESES CHANGE THE POWER</a:t>
            </a:r>
            <a:endParaRPr lang="en-US" sz="1300" dirty="0"/>
          </a:p>
        </p:txBody>
      </p:sp>
      <p:sp>
        <p:nvSpPr>
          <p:cNvPr id="23" name="Text 21"/>
          <p:cNvSpPr/>
          <p:nvPr/>
        </p:nvSpPr>
        <p:spPr>
          <a:xfrm>
            <a:off x="6464808" y="2450592"/>
            <a:ext cx="5029200" cy="411480"/>
          </a:xfrm>
          <a:prstGeom prst="rect">
            <a:avLst/>
          </a:prstGeom>
          <a:noFill/>
          <a:ln/>
        </p:spPr>
        <p:txBody>
          <a:bodyPr wrap="square" lIns="0" tIns="0" rIns="0" bIns="0" rtlCol="0" anchor="ctr"/>
          <a:lstStyle/>
          <a:p>
            <a:pPr indent="0" marL="0">
              <a:buNone/>
            </a:pPr>
            <a:r>
              <a:rPr lang="en-US" sz="1800" b="1" dirty="0">
                <a:solidFill>
                  <a:srgbClr val="0D3358"/>
                </a:solidFill>
                <a:latin typeface="Calibri" pitchFamily="34" charset="0"/>
                <a:ea typeface="Calibri" pitchFamily="34" charset="-122"/>
                <a:cs typeface="Calibri" pitchFamily="34" charset="-120"/>
              </a:rPr>
              <a:t>(2 ** 3) ** 2 is a different number.</a:t>
            </a:r>
            <a:endParaRPr lang="en-US" sz="1800" dirty="0"/>
          </a:p>
        </p:txBody>
      </p:sp>
      <p:sp>
        <p:nvSpPr>
          <p:cNvPr id="24" name="Shape 22"/>
          <p:cNvSpPr/>
          <p:nvPr/>
        </p:nvSpPr>
        <p:spPr>
          <a:xfrm>
            <a:off x="6464808" y="2971800"/>
            <a:ext cx="5029200" cy="1965960"/>
          </a:xfrm>
          <a:prstGeom prst="roundRect">
            <a:avLst>
              <a:gd name="adj" fmla="val 2791"/>
            </a:avLst>
          </a:prstGeom>
          <a:solidFill>
            <a:srgbClr val="E7F2FD"/>
          </a:solidFill>
          <a:ln w="12700">
            <a:solidFill>
              <a:srgbClr val="D3E4F6"/>
            </a:solidFill>
            <a:prstDash val="solid"/>
          </a:ln>
        </p:spPr>
      </p:sp>
      <p:sp>
        <p:nvSpPr>
          <p:cNvPr id="25" name="Text 23"/>
          <p:cNvSpPr/>
          <p:nvPr/>
        </p:nvSpPr>
        <p:spPr>
          <a:xfrm>
            <a:off x="6629400" y="3081528"/>
            <a:ext cx="4700016" cy="1746504"/>
          </a:xfrm>
          <a:prstGeom prst="rect">
            <a:avLst/>
          </a:prstGeom>
          <a:noFill/>
          <a:ln/>
        </p:spPr>
        <p:txBody>
          <a:bodyPr wrap="square" lIns="0" tIns="0" rIns="0" bIns="0" rtlCol="0" anchor="ctr"/>
          <a:lstStyle/>
          <a:p>
            <a:pPr indent="0" marL="0">
              <a:buNone/>
            </a:pPr>
            <a:r>
              <a:rPr lang="en-US" sz="1600" dirty="0">
                <a:solidFill>
                  <a:srgbClr val="1A2B3C"/>
                </a:solidFill>
                <a:latin typeface="Consolas" pitchFamily="34" charset="0"/>
                <a:ea typeface="Consolas" pitchFamily="34" charset="-122"/>
                <a:cs typeface="Consolas" pitchFamily="34" charset="-120"/>
              </a:rPr>
              <a:t>print((2 ** 3) ** 2)</a:t>
            </a:r>
            <a:endParaRPr lang="en-US" sz="1600" dirty="0"/>
          </a:p>
          <a:p>
            <a:pPr indent="0" marL="0">
              <a:buNone/>
            </a:pPr>
            <a:r>
              <a:rPr lang="en-US" sz="1600" dirty="0">
                <a:solidFill>
                  <a:srgbClr val="1A2B3C"/>
                </a:solidFill>
                <a:latin typeface="Consolas" pitchFamily="34" charset="0"/>
                <a:ea typeface="Consolas" pitchFamily="34" charset="-122"/>
                <a:cs typeface="Consolas" pitchFamily="34" charset="-120"/>
              </a:rPr>
              <a:t># 2 ** 3   →  8</a:t>
            </a:r>
            <a:endParaRPr lang="en-US" sz="1600" dirty="0"/>
          </a:p>
          <a:p>
            <a:pPr indent="0" marL="0">
              <a:buNone/>
            </a:pPr>
            <a:r>
              <a:rPr lang="en-US" sz="1600" dirty="0">
                <a:solidFill>
                  <a:srgbClr val="1A2B3C"/>
                </a:solidFill>
                <a:latin typeface="Consolas" pitchFamily="34" charset="0"/>
                <a:ea typeface="Consolas" pitchFamily="34" charset="-122"/>
                <a:cs typeface="Consolas" pitchFamily="34" charset="-120"/>
              </a:rPr>
              <a:t># 8 ** 2   →  64</a:t>
            </a:r>
            <a:endParaRPr lang="en-US" sz="1600" dirty="0"/>
          </a:p>
          <a:p>
            <a:pPr indent="0" marL="0">
              <a:buNone/>
            </a:pPr>
            <a:r>
              <a:rPr lang="en-US" sz="1600" dirty="0">
                <a:solidFill>
                  <a:srgbClr val="1A2B3C"/>
                </a:solidFill>
                <a:latin typeface="Consolas" pitchFamily="34" charset="0"/>
                <a:ea typeface="Consolas" pitchFamily="34" charset="-122"/>
                <a:cs typeface="Consolas" pitchFamily="34" charset="-120"/>
              </a:rPr>
              <a:t>print(2 ** 3 * 2)     # 16</a:t>
            </a:r>
            <a:endParaRPr lang="en-US" sz="1600" dirty="0"/>
          </a:p>
        </p:txBody>
      </p:sp>
      <p:sp>
        <p:nvSpPr>
          <p:cNvPr id="26" name="Text 24"/>
          <p:cNvSpPr/>
          <p:nvPr/>
        </p:nvSpPr>
        <p:spPr>
          <a:xfrm>
            <a:off x="6464808" y="5074920"/>
            <a:ext cx="5029200" cy="914400"/>
          </a:xfrm>
          <a:prstGeom prst="rect">
            <a:avLst/>
          </a:prstGeom>
          <a:noFill/>
          <a:ln/>
        </p:spPr>
        <p:txBody>
          <a:bodyPr wrap="square" lIns="0" tIns="0" rIns="0" bIns="0" rtlCol="0" anchor="ctr"/>
          <a:lstStyle/>
          <a:p>
            <a:pPr indent="0" marL="0">
              <a:buNone/>
            </a:pPr>
            <a:r>
              <a:rPr lang="en-US" sz="1500" dirty="0">
                <a:solidFill>
                  <a:srgbClr val="2A2A2A"/>
                </a:solidFill>
                <a:latin typeface="Calibri" pitchFamily="34" charset="0"/>
                <a:ea typeface="Calibri" pitchFamily="34" charset="-122"/>
                <a:cs typeface="Calibri" pitchFamily="34" charset="-120"/>
              </a:rPr>
              <a:t>2 ** 3 * 2 is (2 ** 3) * 2. The power finishes, then the multiply.</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6F5"/>
        </a:solidFill>
      </p:bgPr>
    </p:bg>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0D3358"/>
          </a:solidFill>
          <a:ln w="12700">
            <a:solidFill>
              <a:srgbClr val="0D3358"/>
            </a:solidFill>
            <a:prstDash val="solid"/>
          </a:ln>
        </p:spPr>
      </p:sp>
      <p:sp>
        <p:nvSpPr>
          <p:cNvPr id="3" name="Shape 1"/>
          <p:cNvSpPr/>
          <p:nvPr/>
        </p:nvSpPr>
        <p:spPr>
          <a:xfrm>
            <a:off x="0" y="475488"/>
            <a:ext cx="12191695" cy="54864"/>
          </a:xfrm>
          <a:prstGeom prst="rect">
            <a:avLst/>
          </a:prstGeom>
          <a:solidFill>
            <a:srgbClr val="E1A244"/>
          </a:solidFill>
          <a:ln w="12700">
            <a:solidFill>
              <a:srgbClr val="E1A244"/>
            </a:solidFill>
            <a:prstDash val="solid"/>
          </a:ln>
        </p:spPr>
      </p:sp>
      <p:sp>
        <p:nvSpPr>
          <p:cNvPr id="4" name="Text 2"/>
          <p:cNvSpPr/>
          <p:nvPr/>
        </p:nvSpPr>
        <p:spPr>
          <a:xfrm>
            <a:off x="411480" y="73152"/>
            <a:ext cx="6583680" cy="32918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LogosTeach  ·  Computer Science 1</a:t>
            </a:r>
            <a:endParaRPr lang="en-US" sz="1300" dirty="0"/>
          </a:p>
        </p:txBody>
      </p:sp>
      <p:sp>
        <p:nvSpPr>
          <p:cNvPr id="5" name="Text 3"/>
          <p:cNvSpPr/>
          <p:nvPr/>
        </p:nvSpPr>
        <p:spPr>
          <a:xfrm>
            <a:off x="6949440" y="73152"/>
            <a:ext cx="4846320" cy="329184"/>
          </a:xfrm>
          <a:prstGeom prst="rect">
            <a:avLst/>
          </a:prstGeom>
          <a:noFill/>
          <a:ln/>
        </p:spPr>
        <p:txBody>
          <a:bodyPr wrap="square" lIns="0" tIns="0" rIns="0" bIns="0" rtlCol="0" anchor="ctr"/>
          <a:lstStyle/>
          <a:p>
            <a:pPr algn="r" indent="0" marL="0">
              <a:buNone/>
            </a:pPr>
            <a:r>
              <a:rPr lang="en-US" sz="1300" dirty="0">
                <a:solidFill>
                  <a:srgbClr val="E1A244"/>
                </a:solidFill>
                <a:latin typeface="Calibri" pitchFamily="34" charset="0"/>
                <a:ea typeface="Calibri" pitchFamily="34" charset="-122"/>
                <a:cs typeface="Calibri" pitchFamily="34" charset="-120"/>
              </a:rPr>
              <a:t>Unit 2  ·  Order of Operations</a:t>
            </a:r>
            <a:endParaRPr lang="en-US" sz="1300" dirty="0"/>
          </a:p>
        </p:txBody>
      </p:sp>
      <p:sp>
        <p:nvSpPr>
          <p:cNvPr id="6" name="Shape 4"/>
          <p:cNvSpPr/>
          <p:nvPr/>
        </p:nvSpPr>
        <p:spPr>
          <a:xfrm>
            <a:off x="0" y="6473952"/>
            <a:ext cx="12191695" cy="384048"/>
          </a:xfrm>
          <a:prstGeom prst="rect">
            <a:avLst/>
          </a:prstGeom>
          <a:solidFill>
            <a:srgbClr val="E8EEF3"/>
          </a:solidFill>
          <a:ln w="12700">
            <a:solidFill>
              <a:srgbClr val="E8EEF3"/>
            </a:solidFill>
            <a:prstDash val="solid"/>
          </a:ln>
        </p:spPr>
      </p:sp>
      <p:sp>
        <p:nvSpPr>
          <p:cNvPr id="7" name="Shape 5"/>
          <p:cNvSpPr/>
          <p:nvPr/>
        </p:nvSpPr>
        <p:spPr>
          <a:xfrm>
            <a:off x="0" y="6473952"/>
            <a:ext cx="12191695" cy="32004"/>
          </a:xfrm>
          <a:prstGeom prst="rect">
            <a:avLst/>
          </a:prstGeom>
          <a:solidFill>
            <a:srgbClr val="E1A244"/>
          </a:solidFill>
          <a:ln w="12700">
            <a:solidFill>
              <a:srgbClr val="E1A244"/>
            </a:solidFill>
            <a:prstDash val="solid"/>
          </a:ln>
        </p:spPr>
      </p:sp>
      <p:sp>
        <p:nvSpPr>
          <p:cNvPr id="8" name="Text 6"/>
          <p:cNvSpPr/>
          <p:nvPr/>
        </p:nvSpPr>
        <p:spPr>
          <a:xfrm>
            <a:off x="411480" y="6528816"/>
            <a:ext cx="8595360" cy="274320"/>
          </a:xfrm>
          <a:prstGeom prst="rect">
            <a:avLst/>
          </a:prstGeom>
          <a:noFill/>
          <a:ln/>
        </p:spPr>
        <p:txBody>
          <a:bodyPr wrap="square" lIns="0" tIns="0" rIns="0" bIns="0" rtlCol="0" anchor="ctr"/>
          <a:lstStyle/>
          <a:p>
            <a:pPr indent="0" marL="0">
              <a:buNone/>
            </a:pPr>
            <a:r>
              <a:rPr lang="en-US" sz="1100" dirty="0">
                <a:solidFill>
                  <a:srgbClr val="5A6A7A"/>
                </a:solidFill>
                <a:latin typeface="Calibri" pitchFamily="34" charset="0"/>
                <a:ea typeface="Calibri" pitchFamily="34" charset="-122"/>
                <a:cs typeface="Calibri" pitchFamily="34" charset="-120"/>
              </a:rPr>
              <a:t>Copyright 2026 LogosTeach  ·  All Rights Reserved</a:t>
            </a:r>
            <a:endParaRPr lang="en-US" sz="1100" dirty="0"/>
          </a:p>
        </p:txBody>
      </p:sp>
      <p:sp>
        <p:nvSpPr>
          <p:cNvPr id="9" name="Text 7"/>
          <p:cNvSpPr/>
          <p:nvPr/>
        </p:nvSpPr>
        <p:spPr>
          <a:xfrm>
            <a:off x="9509760" y="6528816"/>
            <a:ext cx="2286000" cy="274320"/>
          </a:xfrm>
          <a:prstGeom prst="rect">
            <a:avLst/>
          </a:prstGeom>
          <a:noFill/>
          <a:ln/>
        </p:spPr>
        <p:txBody>
          <a:bodyPr wrap="square" lIns="0" tIns="0" rIns="0" bIns="0" rtlCol="0" anchor="ctr"/>
          <a:lstStyle/>
          <a:p>
            <a:pPr algn="r" indent="0" marL="0">
              <a:buNone/>
            </a:pPr>
            <a:r>
              <a:rPr lang="en-US" sz="1100" dirty="0">
                <a:solidFill>
                  <a:srgbClr val="0D3358"/>
                </a:solidFill>
                <a:latin typeface="Calibri" pitchFamily="34" charset="0"/>
                <a:ea typeface="Calibri" pitchFamily="34" charset="-122"/>
                <a:cs typeface="Calibri" pitchFamily="34" charset="-120"/>
              </a:rPr>
              <a:t>10  /  14</a:t>
            </a:r>
            <a:endParaRPr lang="en-US" sz="1100" dirty="0"/>
          </a:p>
        </p:txBody>
      </p:sp>
      <p:sp>
        <p:nvSpPr>
          <p:cNvPr id="10" name="Text 8"/>
          <p:cNvSpPr/>
          <p:nvPr/>
        </p:nvSpPr>
        <p:spPr>
          <a:xfrm>
            <a:off x="457200" y="658368"/>
            <a:ext cx="11247120" cy="384048"/>
          </a:xfrm>
          <a:prstGeom prst="rect">
            <a:avLst/>
          </a:prstGeom>
          <a:noFill/>
          <a:ln/>
        </p:spPr>
        <p:txBody>
          <a:bodyPr wrap="square" lIns="0" tIns="0" rIns="0" bIns="0" rtlCol="0" anchor="ctr"/>
          <a:lstStyle/>
          <a:p>
            <a:pPr indent="0" marL="0">
              <a:buNone/>
            </a:pPr>
            <a:r>
              <a:rPr lang="en-US" sz="2800" b="1" dirty="0">
                <a:solidFill>
                  <a:srgbClr val="0D3358"/>
                </a:solidFill>
                <a:latin typeface="Calibri" pitchFamily="34" charset="0"/>
                <a:ea typeface="Calibri" pitchFamily="34" charset="-122"/>
                <a:cs typeface="Calibri" pitchFamily="34" charset="-120"/>
              </a:rPr>
              <a:t>Parentheses Make Intent Visible</a:t>
            </a:r>
            <a:endParaRPr lang="en-US" sz="2800" dirty="0"/>
          </a:p>
        </p:txBody>
      </p:sp>
      <p:sp>
        <p:nvSpPr>
          <p:cNvPr id="11" name="Shape 9"/>
          <p:cNvSpPr/>
          <p:nvPr/>
        </p:nvSpPr>
        <p:spPr>
          <a:xfrm>
            <a:off x="457200" y="1060704"/>
            <a:ext cx="1234440" cy="50292"/>
          </a:xfrm>
          <a:prstGeom prst="rect">
            <a:avLst/>
          </a:prstGeom>
          <a:solidFill>
            <a:srgbClr val="E1A244"/>
          </a:solidFill>
          <a:ln w="12700">
            <a:solidFill>
              <a:srgbClr val="E1A244"/>
            </a:solidFill>
            <a:prstDash val="solid"/>
          </a:ln>
        </p:spPr>
      </p:sp>
      <p:sp>
        <p:nvSpPr>
          <p:cNvPr id="12" name="Text 10"/>
          <p:cNvSpPr/>
          <p:nvPr/>
        </p:nvSpPr>
        <p:spPr>
          <a:xfrm>
            <a:off x="457200" y="1280160"/>
            <a:ext cx="11247120" cy="457200"/>
          </a:xfrm>
          <a:prstGeom prst="rect">
            <a:avLst/>
          </a:prstGeom>
          <a:noFill/>
          <a:ln/>
        </p:spPr>
        <p:txBody>
          <a:bodyPr wrap="square" lIns="0" tIns="0" rIns="0" bIns="0" rtlCol="0" anchor="ctr"/>
          <a:lstStyle/>
          <a:p>
            <a:pPr indent="0" marL="0">
              <a:buNone/>
            </a:pPr>
            <a:r>
              <a:rPr lang="en-US" sz="1600" dirty="0">
                <a:solidFill>
                  <a:srgbClr val="2A2A2A"/>
                </a:solidFill>
                <a:latin typeface="Calibri" pitchFamily="34" charset="0"/>
                <a:ea typeface="Calibri" pitchFamily="34" charset="-122"/>
                <a:cs typeface="Calibri" pitchFamily="34" charset="-120"/>
              </a:rPr>
              <a:t>An average is a sum divided by a count. Without parentheses, only the last score is divided.</a:t>
            </a:r>
            <a:endParaRPr lang="en-US" sz="1600" dirty="0"/>
          </a:p>
        </p:txBody>
      </p:sp>
      <p:sp>
        <p:nvSpPr>
          <p:cNvPr id="13" name="Shape 11"/>
          <p:cNvSpPr/>
          <p:nvPr/>
        </p:nvSpPr>
        <p:spPr>
          <a:xfrm>
            <a:off x="457200" y="1847088"/>
            <a:ext cx="5532120" cy="4370832"/>
          </a:xfrm>
          <a:prstGeom prst="roundRect">
            <a:avLst>
              <a:gd name="adj" fmla="val 1674"/>
            </a:avLst>
          </a:prstGeom>
          <a:solidFill>
            <a:srgbClr val="FFFFFF"/>
          </a:solidFill>
          <a:ln w="12700">
            <a:solidFill>
              <a:srgbClr val="E2E8EE"/>
            </a:solidFill>
            <a:prstDash val="solid"/>
          </a:ln>
        </p:spPr>
      </p:sp>
      <p:sp>
        <p:nvSpPr>
          <p:cNvPr id="14" name="Text 12"/>
          <p:cNvSpPr/>
          <p:nvPr/>
        </p:nvSpPr>
        <p:spPr>
          <a:xfrm>
            <a:off x="658368" y="1993392"/>
            <a:ext cx="5120640" cy="274320"/>
          </a:xfrm>
          <a:prstGeom prst="rect">
            <a:avLst/>
          </a:prstGeom>
          <a:noFill/>
          <a:ln/>
        </p:spPr>
        <p:txBody>
          <a:bodyPr wrap="square" lIns="0" tIns="0" rIns="0" bIns="0" rtlCol="0" anchor="ctr"/>
          <a:lstStyle/>
          <a:p>
            <a:pPr indent="0" marL="0">
              <a:buNone/>
            </a:pPr>
            <a:r>
              <a:rPr lang="en-US" sz="1300" b="1" dirty="0">
                <a:solidFill>
                  <a:srgbClr val="A64936"/>
                </a:solidFill>
                <a:latin typeface="Calibri" pitchFamily="34" charset="0"/>
                <a:ea typeface="Calibri" pitchFamily="34" charset="-122"/>
                <a:cs typeface="Calibri" pitchFamily="34" charset="-120"/>
              </a:rPr>
              <a:t>WITHOUT PARENTHESES</a:t>
            </a:r>
            <a:endParaRPr lang="en-US" sz="1300" dirty="0"/>
          </a:p>
        </p:txBody>
      </p:sp>
      <p:sp>
        <p:nvSpPr>
          <p:cNvPr id="15" name="Shape 13"/>
          <p:cNvSpPr/>
          <p:nvPr/>
        </p:nvSpPr>
        <p:spPr>
          <a:xfrm>
            <a:off x="658368" y="2340864"/>
            <a:ext cx="5120640" cy="2331720"/>
          </a:xfrm>
          <a:prstGeom prst="roundRect">
            <a:avLst>
              <a:gd name="adj" fmla="val 2353"/>
            </a:avLst>
          </a:prstGeom>
          <a:solidFill>
            <a:srgbClr val="E7F2FD"/>
          </a:solidFill>
          <a:ln w="12700">
            <a:solidFill>
              <a:srgbClr val="D3E4F6"/>
            </a:solidFill>
            <a:prstDash val="solid"/>
          </a:ln>
        </p:spPr>
      </p:sp>
      <p:sp>
        <p:nvSpPr>
          <p:cNvPr id="16" name="Text 14"/>
          <p:cNvSpPr/>
          <p:nvPr/>
        </p:nvSpPr>
        <p:spPr>
          <a:xfrm>
            <a:off x="822960" y="2450592"/>
            <a:ext cx="4791456" cy="2112264"/>
          </a:xfrm>
          <a:prstGeom prst="rect">
            <a:avLst/>
          </a:prstGeom>
          <a:noFill/>
          <a:ln/>
        </p:spPr>
        <p:txBody>
          <a:bodyPr wrap="square" lIns="0" tIns="0" rIns="0" bIns="0" rtlCol="0" anchor="ctr"/>
          <a:lstStyle/>
          <a:p>
            <a:pPr indent="0" marL="0">
              <a:buNone/>
            </a:pPr>
            <a:r>
              <a:rPr lang="en-US" sz="1500" dirty="0">
                <a:solidFill>
                  <a:srgbClr val="1A2B3C"/>
                </a:solidFill>
                <a:latin typeface="Consolas" pitchFamily="34" charset="0"/>
                <a:ea typeface="Consolas" pitchFamily="34" charset="-122"/>
                <a:cs typeface="Consolas" pitchFamily="34" charset="-120"/>
              </a:rPr>
              <a:t>score1, score2, score3 = 80, 90, 100</a:t>
            </a:r>
            <a:endParaRPr lang="en-US" sz="1500" dirty="0"/>
          </a:p>
          <a:p>
            <a:pPr indent="0" marL="0">
              <a:buNone/>
            </a:pPr>
            <a:r>
              <a:rPr lang="en-US" sz="1500" dirty="0">
                <a:solidFill>
                  <a:srgbClr val="1A2B3C"/>
                </a:solidFill>
                <a:latin typeface="Consolas" pitchFamily="34" charset="0"/>
                <a:ea typeface="Consolas" pitchFamily="34" charset="-122"/>
                <a:cs typeface="Consolas" pitchFamily="34" charset="-120"/>
              </a:rPr>
              <a:t>wrong = score1 + score2 + score3 / 3</a:t>
            </a:r>
            <a:endParaRPr lang="en-US" sz="1500" dirty="0"/>
          </a:p>
          <a:p>
            <a:pPr indent="0" marL="0">
              <a:buNone/>
            </a:pPr>
            <a:r>
              <a:rPr lang="en-US" sz="1500" dirty="0">
                <a:solidFill>
                  <a:srgbClr val="1A2B3C"/>
                </a:solidFill>
                <a:latin typeface="Consolas" pitchFamily="34" charset="0"/>
                <a:ea typeface="Consolas" pitchFamily="34" charset="-122"/>
                <a:cs typeface="Consolas" pitchFamily="34" charset="-120"/>
              </a:rPr>
              <a:t>print(wrong)</a:t>
            </a:r>
            <a:endParaRPr lang="en-US" sz="1500" dirty="0"/>
          </a:p>
          <a:p>
            <a:pPr indent="0" marL="0">
              <a:buNone/>
            </a:pPr>
            <a:r>
              <a:rPr lang="en-US" sz="1500" dirty="0">
                <a:solidFill>
                  <a:srgbClr val="1A2B3C"/>
                </a:solidFill>
                <a:latin typeface="Consolas" pitchFamily="34" charset="0"/>
                <a:ea typeface="Consolas" pitchFamily="34" charset="-122"/>
                <a:cs typeface="Consolas" pitchFamily="34" charset="-120"/>
              </a:rPr>
              <a:t># 80 + 90 + 33.333... = 203.333...</a:t>
            </a:r>
            <a:endParaRPr lang="en-US" sz="1500" dirty="0"/>
          </a:p>
        </p:txBody>
      </p:sp>
      <p:sp>
        <p:nvSpPr>
          <p:cNvPr id="17" name="Text 15"/>
          <p:cNvSpPr/>
          <p:nvPr/>
        </p:nvSpPr>
        <p:spPr>
          <a:xfrm>
            <a:off x="658368" y="4828032"/>
            <a:ext cx="5120640" cy="1143000"/>
          </a:xfrm>
          <a:prstGeom prst="rect">
            <a:avLst/>
          </a:prstGeom>
          <a:noFill/>
          <a:ln/>
        </p:spPr>
        <p:txBody>
          <a:bodyPr wrap="square" lIns="0" tIns="0" rIns="0" bIns="0" rtlCol="0" anchor="ctr"/>
          <a:lstStyle/>
          <a:p>
            <a:pPr indent="0" marL="0">
              <a:buNone/>
            </a:pPr>
            <a:r>
              <a:rPr lang="en-US" sz="1600" dirty="0">
                <a:solidFill>
                  <a:srgbClr val="2A2A2A"/>
                </a:solidFill>
                <a:latin typeface="Calibri" pitchFamily="34" charset="0"/>
                <a:ea typeface="Calibri" pitchFamily="34" charset="-122"/>
                <a:cs typeface="Calibri" pitchFamily="34" charset="-120"/>
              </a:rPr>
              <a:t>Python divided 100 by 3, then added 80 and 90. That is not an average.</a:t>
            </a:r>
            <a:endParaRPr lang="en-US" sz="1600" dirty="0"/>
          </a:p>
        </p:txBody>
      </p:sp>
      <p:sp>
        <p:nvSpPr>
          <p:cNvPr id="18" name="Shape 16"/>
          <p:cNvSpPr/>
          <p:nvPr/>
        </p:nvSpPr>
        <p:spPr>
          <a:xfrm>
            <a:off x="6172200" y="1847088"/>
            <a:ext cx="5532120" cy="4370832"/>
          </a:xfrm>
          <a:prstGeom prst="roundRect">
            <a:avLst>
              <a:gd name="adj" fmla="val 1674"/>
            </a:avLst>
          </a:prstGeom>
          <a:solidFill>
            <a:srgbClr val="FFFFFF"/>
          </a:solidFill>
          <a:ln w="12700">
            <a:solidFill>
              <a:srgbClr val="E2E8EE"/>
            </a:solidFill>
            <a:prstDash val="solid"/>
          </a:ln>
        </p:spPr>
      </p:sp>
      <p:sp>
        <p:nvSpPr>
          <p:cNvPr id="19" name="Text 17"/>
          <p:cNvSpPr/>
          <p:nvPr/>
        </p:nvSpPr>
        <p:spPr>
          <a:xfrm>
            <a:off x="6373368" y="1993392"/>
            <a:ext cx="5120640" cy="274320"/>
          </a:xfrm>
          <a:prstGeom prst="rect">
            <a:avLst/>
          </a:prstGeom>
          <a:noFill/>
          <a:ln/>
        </p:spPr>
        <p:txBody>
          <a:bodyPr wrap="square" lIns="0" tIns="0" rIns="0" bIns="0" rtlCol="0" anchor="ctr"/>
          <a:lstStyle/>
          <a:p>
            <a:pPr indent="0" marL="0">
              <a:buNone/>
            </a:pPr>
            <a:r>
              <a:rPr lang="en-US" sz="1300" b="1" dirty="0">
                <a:solidFill>
                  <a:srgbClr val="1A7070"/>
                </a:solidFill>
                <a:latin typeface="Calibri" pitchFamily="34" charset="0"/>
                <a:ea typeface="Calibri" pitchFamily="34" charset="-122"/>
                <a:cs typeface="Calibri" pitchFamily="34" charset="-120"/>
              </a:rPr>
              <a:t>WITH PARENTHESES</a:t>
            </a:r>
            <a:endParaRPr lang="en-US" sz="1300" dirty="0"/>
          </a:p>
        </p:txBody>
      </p:sp>
      <p:sp>
        <p:nvSpPr>
          <p:cNvPr id="20" name="Shape 18"/>
          <p:cNvSpPr/>
          <p:nvPr/>
        </p:nvSpPr>
        <p:spPr>
          <a:xfrm>
            <a:off x="6373368" y="2340864"/>
            <a:ext cx="5120640" cy="2331720"/>
          </a:xfrm>
          <a:prstGeom prst="roundRect">
            <a:avLst>
              <a:gd name="adj" fmla="val 2353"/>
            </a:avLst>
          </a:prstGeom>
          <a:solidFill>
            <a:srgbClr val="E7F2FD"/>
          </a:solidFill>
          <a:ln w="12700">
            <a:solidFill>
              <a:srgbClr val="D3E4F6"/>
            </a:solidFill>
            <a:prstDash val="solid"/>
          </a:ln>
        </p:spPr>
      </p:sp>
      <p:sp>
        <p:nvSpPr>
          <p:cNvPr id="21" name="Text 19"/>
          <p:cNvSpPr/>
          <p:nvPr/>
        </p:nvSpPr>
        <p:spPr>
          <a:xfrm>
            <a:off x="6537960" y="2450592"/>
            <a:ext cx="4791456" cy="2112264"/>
          </a:xfrm>
          <a:prstGeom prst="rect">
            <a:avLst/>
          </a:prstGeom>
          <a:noFill/>
          <a:ln/>
        </p:spPr>
        <p:txBody>
          <a:bodyPr wrap="square" lIns="0" tIns="0" rIns="0" bIns="0" rtlCol="0" anchor="ctr"/>
          <a:lstStyle/>
          <a:p>
            <a:pPr indent="0" marL="0">
              <a:buNone/>
            </a:pPr>
            <a:r>
              <a:rPr lang="en-US" sz="1500" dirty="0">
                <a:solidFill>
                  <a:srgbClr val="1A2B3C"/>
                </a:solidFill>
                <a:latin typeface="Consolas" pitchFamily="34" charset="0"/>
                <a:ea typeface="Consolas" pitchFamily="34" charset="-122"/>
                <a:cs typeface="Consolas" pitchFamily="34" charset="-120"/>
              </a:rPr>
              <a:t>score1, score2, score3 = 80, 90, 100</a:t>
            </a:r>
            <a:endParaRPr lang="en-US" sz="1500" dirty="0"/>
          </a:p>
          <a:p>
            <a:pPr indent="0" marL="0">
              <a:buNone/>
            </a:pPr>
            <a:r>
              <a:rPr lang="en-US" sz="1500" dirty="0">
                <a:solidFill>
                  <a:srgbClr val="1A2B3C"/>
                </a:solidFill>
                <a:latin typeface="Consolas" pitchFamily="34" charset="0"/>
                <a:ea typeface="Consolas" pitchFamily="34" charset="-122"/>
                <a:cs typeface="Consolas" pitchFamily="34" charset="-120"/>
              </a:rPr>
              <a:t>right = (score1 + score2 + score3) / 3</a:t>
            </a:r>
            <a:endParaRPr lang="en-US" sz="1500" dirty="0"/>
          </a:p>
          <a:p>
            <a:pPr indent="0" marL="0">
              <a:buNone/>
            </a:pPr>
            <a:r>
              <a:rPr lang="en-US" sz="1500" dirty="0">
                <a:solidFill>
                  <a:srgbClr val="1A2B3C"/>
                </a:solidFill>
                <a:latin typeface="Consolas" pitchFamily="34" charset="0"/>
                <a:ea typeface="Consolas" pitchFamily="34" charset="-122"/>
                <a:cs typeface="Consolas" pitchFamily="34" charset="-120"/>
              </a:rPr>
              <a:t>print(right)</a:t>
            </a:r>
            <a:endParaRPr lang="en-US" sz="1500" dirty="0"/>
          </a:p>
          <a:p>
            <a:pPr indent="0" marL="0">
              <a:buNone/>
            </a:pPr>
            <a:r>
              <a:rPr lang="en-US" sz="1500" dirty="0">
                <a:solidFill>
                  <a:srgbClr val="1A2B3C"/>
                </a:solidFill>
                <a:latin typeface="Consolas" pitchFamily="34" charset="0"/>
                <a:ea typeface="Consolas" pitchFamily="34" charset="-122"/>
                <a:cs typeface="Consolas" pitchFamily="34" charset="-120"/>
              </a:rPr>
              <a:t># (270) / 3 = 90.0</a:t>
            </a:r>
            <a:endParaRPr lang="en-US" sz="1500" dirty="0"/>
          </a:p>
        </p:txBody>
      </p:sp>
      <p:sp>
        <p:nvSpPr>
          <p:cNvPr id="22" name="Text 20"/>
          <p:cNvSpPr/>
          <p:nvPr/>
        </p:nvSpPr>
        <p:spPr>
          <a:xfrm>
            <a:off x="6373368" y="4828032"/>
            <a:ext cx="5120640" cy="1143000"/>
          </a:xfrm>
          <a:prstGeom prst="rect">
            <a:avLst/>
          </a:prstGeom>
          <a:noFill/>
          <a:ln/>
        </p:spPr>
        <p:txBody>
          <a:bodyPr wrap="square" lIns="0" tIns="0" rIns="0" bIns="0" rtlCol="0" anchor="ctr"/>
          <a:lstStyle/>
          <a:p>
            <a:pPr indent="0" marL="0">
              <a:buNone/>
            </a:pPr>
            <a:r>
              <a:rPr lang="en-US" sz="1600" dirty="0">
                <a:solidFill>
                  <a:srgbClr val="2A2A2A"/>
                </a:solidFill>
                <a:latin typeface="Calibri" pitchFamily="34" charset="0"/>
                <a:ea typeface="Calibri" pitchFamily="34" charset="-122"/>
                <a:cs typeface="Calibri" pitchFamily="34" charset="-120"/>
              </a:rPr>
              <a:t>The parentheses lift the sum above division. Write them even when you think you remember PEMDAS.</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6F5"/>
        </a:solidFill>
      </p:bgPr>
    </p:bg>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0D3358"/>
          </a:solidFill>
          <a:ln w="12700">
            <a:solidFill>
              <a:srgbClr val="0D3358"/>
            </a:solidFill>
            <a:prstDash val="solid"/>
          </a:ln>
        </p:spPr>
      </p:sp>
      <p:sp>
        <p:nvSpPr>
          <p:cNvPr id="3" name="Shape 1"/>
          <p:cNvSpPr/>
          <p:nvPr/>
        </p:nvSpPr>
        <p:spPr>
          <a:xfrm>
            <a:off x="0" y="475488"/>
            <a:ext cx="12191695" cy="54864"/>
          </a:xfrm>
          <a:prstGeom prst="rect">
            <a:avLst/>
          </a:prstGeom>
          <a:solidFill>
            <a:srgbClr val="E1A244"/>
          </a:solidFill>
          <a:ln w="12700">
            <a:solidFill>
              <a:srgbClr val="E1A244"/>
            </a:solidFill>
            <a:prstDash val="solid"/>
          </a:ln>
        </p:spPr>
      </p:sp>
      <p:sp>
        <p:nvSpPr>
          <p:cNvPr id="4" name="Text 2"/>
          <p:cNvSpPr/>
          <p:nvPr/>
        </p:nvSpPr>
        <p:spPr>
          <a:xfrm>
            <a:off x="411480" y="73152"/>
            <a:ext cx="6583680" cy="32918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LogosTeach  ·  Computer Science 1</a:t>
            </a:r>
            <a:endParaRPr lang="en-US" sz="1300" dirty="0"/>
          </a:p>
        </p:txBody>
      </p:sp>
      <p:sp>
        <p:nvSpPr>
          <p:cNvPr id="5" name="Text 3"/>
          <p:cNvSpPr/>
          <p:nvPr/>
        </p:nvSpPr>
        <p:spPr>
          <a:xfrm>
            <a:off x="6949440" y="73152"/>
            <a:ext cx="4846320" cy="329184"/>
          </a:xfrm>
          <a:prstGeom prst="rect">
            <a:avLst/>
          </a:prstGeom>
          <a:noFill/>
          <a:ln/>
        </p:spPr>
        <p:txBody>
          <a:bodyPr wrap="square" lIns="0" tIns="0" rIns="0" bIns="0" rtlCol="0" anchor="ctr"/>
          <a:lstStyle/>
          <a:p>
            <a:pPr algn="r" indent="0" marL="0">
              <a:buNone/>
            </a:pPr>
            <a:r>
              <a:rPr lang="en-US" sz="1300" dirty="0">
                <a:solidFill>
                  <a:srgbClr val="E1A244"/>
                </a:solidFill>
                <a:latin typeface="Calibri" pitchFamily="34" charset="0"/>
                <a:ea typeface="Calibri" pitchFamily="34" charset="-122"/>
                <a:cs typeface="Calibri" pitchFamily="34" charset="-120"/>
              </a:rPr>
              <a:t>Unit 2  ·  Order of Operations</a:t>
            </a:r>
            <a:endParaRPr lang="en-US" sz="1300" dirty="0"/>
          </a:p>
        </p:txBody>
      </p:sp>
      <p:sp>
        <p:nvSpPr>
          <p:cNvPr id="6" name="Shape 4"/>
          <p:cNvSpPr/>
          <p:nvPr/>
        </p:nvSpPr>
        <p:spPr>
          <a:xfrm>
            <a:off x="0" y="6473952"/>
            <a:ext cx="12191695" cy="384048"/>
          </a:xfrm>
          <a:prstGeom prst="rect">
            <a:avLst/>
          </a:prstGeom>
          <a:solidFill>
            <a:srgbClr val="E8EEF3"/>
          </a:solidFill>
          <a:ln w="12700">
            <a:solidFill>
              <a:srgbClr val="E8EEF3"/>
            </a:solidFill>
            <a:prstDash val="solid"/>
          </a:ln>
        </p:spPr>
      </p:sp>
      <p:sp>
        <p:nvSpPr>
          <p:cNvPr id="7" name="Shape 5"/>
          <p:cNvSpPr/>
          <p:nvPr/>
        </p:nvSpPr>
        <p:spPr>
          <a:xfrm>
            <a:off x="0" y="6473952"/>
            <a:ext cx="12191695" cy="32004"/>
          </a:xfrm>
          <a:prstGeom prst="rect">
            <a:avLst/>
          </a:prstGeom>
          <a:solidFill>
            <a:srgbClr val="E1A244"/>
          </a:solidFill>
          <a:ln w="12700">
            <a:solidFill>
              <a:srgbClr val="E1A244"/>
            </a:solidFill>
            <a:prstDash val="solid"/>
          </a:ln>
        </p:spPr>
      </p:sp>
      <p:sp>
        <p:nvSpPr>
          <p:cNvPr id="8" name="Text 6"/>
          <p:cNvSpPr/>
          <p:nvPr/>
        </p:nvSpPr>
        <p:spPr>
          <a:xfrm>
            <a:off x="411480" y="6528816"/>
            <a:ext cx="8595360" cy="274320"/>
          </a:xfrm>
          <a:prstGeom prst="rect">
            <a:avLst/>
          </a:prstGeom>
          <a:noFill/>
          <a:ln/>
        </p:spPr>
        <p:txBody>
          <a:bodyPr wrap="square" lIns="0" tIns="0" rIns="0" bIns="0" rtlCol="0" anchor="ctr"/>
          <a:lstStyle/>
          <a:p>
            <a:pPr indent="0" marL="0">
              <a:buNone/>
            </a:pPr>
            <a:r>
              <a:rPr lang="en-US" sz="1100" dirty="0">
                <a:solidFill>
                  <a:srgbClr val="5A6A7A"/>
                </a:solidFill>
                <a:latin typeface="Calibri" pitchFamily="34" charset="0"/>
                <a:ea typeface="Calibri" pitchFamily="34" charset="-122"/>
                <a:cs typeface="Calibri" pitchFamily="34" charset="-120"/>
              </a:rPr>
              <a:t>Copyright 2026 LogosTeach  ·  All Rights Reserved</a:t>
            </a:r>
            <a:endParaRPr lang="en-US" sz="1100" dirty="0"/>
          </a:p>
        </p:txBody>
      </p:sp>
      <p:sp>
        <p:nvSpPr>
          <p:cNvPr id="9" name="Text 7"/>
          <p:cNvSpPr/>
          <p:nvPr/>
        </p:nvSpPr>
        <p:spPr>
          <a:xfrm>
            <a:off x="9509760" y="6528816"/>
            <a:ext cx="2286000" cy="274320"/>
          </a:xfrm>
          <a:prstGeom prst="rect">
            <a:avLst/>
          </a:prstGeom>
          <a:noFill/>
          <a:ln/>
        </p:spPr>
        <p:txBody>
          <a:bodyPr wrap="square" lIns="0" tIns="0" rIns="0" bIns="0" rtlCol="0" anchor="ctr"/>
          <a:lstStyle/>
          <a:p>
            <a:pPr algn="r" indent="0" marL="0">
              <a:buNone/>
            </a:pPr>
            <a:r>
              <a:rPr lang="en-US" sz="1100" dirty="0">
                <a:solidFill>
                  <a:srgbClr val="0D3358"/>
                </a:solidFill>
                <a:latin typeface="Calibri" pitchFamily="34" charset="0"/>
                <a:ea typeface="Calibri" pitchFamily="34" charset="-122"/>
                <a:cs typeface="Calibri" pitchFamily="34" charset="-120"/>
              </a:rPr>
              <a:t>11  /  14</a:t>
            </a:r>
            <a:endParaRPr lang="en-US" sz="1100" dirty="0"/>
          </a:p>
        </p:txBody>
      </p:sp>
      <p:sp>
        <p:nvSpPr>
          <p:cNvPr id="10" name="Text 8"/>
          <p:cNvSpPr/>
          <p:nvPr/>
        </p:nvSpPr>
        <p:spPr>
          <a:xfrm>
            <a:off x="457200" y="658368"/>
            <a:ext cx="11247120" cy="384048"/>
          </a:xfrm>
          <a:prstGeom prst="rect">
            <a:avLst/>
          </a:prstGeom>
          <a:noFill/>
          <a:ln/>
        </p:spPr>
        <p:txBody>
          <a:bodyPr wrap="square" lIns="0" tIns="0" rIns="0" bIns="0" rtlCol="0" anchor="ctr"/>
          <a:lstStyle/>
          <a:p>
            <a:pPr indent="0" marL="0">
              <a:buNone/>
            </a:pPr>
            <a:r>
              <a:rPr lang="en-US" sz="2800" b="1" dirty="0">
                <a:solidFill>
                  <a:srgbClr val="0D3358"/>
                </a:solidFill>
                <a:latin typeface="Calibri" pitchFamily="34" charset="0"/>
                <a:ea typeface="Calibri" pitchFamily="34" charset="-122"/>
                <a:cs typeface="Calibri" pitchFamily="34" charset="-120"/>
              </a:rPr>
              <a:t>Trace One Expression by Hand</a:t>
            </a:r>
            <a:endParaRPr lang="en-US" sz="2800" dirty="0"/>
          </a:p>
        </p:txBody>
      </p:sp>
      <p:sp>
        <p:nvSpPr>
          <p:cNvPr id="11" name="Shape 9"/>
          <p:cNvSpPr/>
          <p:nvPr/>
        </p:nvSpPr>
        <p:spPr>
          <a:xfrm>
            <a:off x="457200" y="1060704"/>
            <a:ext cx="1234440" cy="50292"/>
          </a:xfrm>
          <a:prstGeom prst="rect">
            <a:avLst/>
          </a:prstGeom>
          <a:solidFill>
            <a:srgbClr val="E1A244"/>
          </a:solidFill>
          <a:ln w="12700">
            <a:solidFill>
              <a:srgbClr val="E1A244"/>
            </a:solidFill>
            <a:prstDash val="solid"/>
          </a:ln>
        </p:spPr>
      </p:sp>
      <p:sp>
        <p:nvSpPr>
          <p:cNvPr id="12" name="Shape 10"/>
          <p:cNvSpPr/>
          <p:nvPr/>
        </p:nvSpPr>
        <p:spPr>
          <a:xfrm>
            <a:off x="457200" y="1298448"/>
            <a:ext cx="11247120" cy="777240"/>
          </a:xfrm>
          <a:prstGeom prst="roundRect">
            <a:avLst>
              <a:gd name="adj" fmla="val 7059"/>
            </a:avLst>
          </a:prstGeom>
          <a:solidFill>
            <a:srgbClr val="E7F2FD"/>
          </a:solidFill>
          <a:ln w="12700">
            <a:solidFill>
              <a:srgbClr val="D3E4F6"/>
            </a:solidFill>
            <a:prstDash val="solid"/>
          </a:ln>
        </p:spPr>
      </p:sp>
      <p:sp>
        <p:nvSpPr>
          <p:cNvPr id="13" name="Text 11"/>
          <p:cNvSpPr/>
          <p:nvPr/>
        </p:nvSpPr>
        <p:spPr>
          <a:xfrm>
            <a:off x="621792" y="1408176"/>
            <a:ext cx="10917936" cy="557784"/>
          </a:xfrm>
          <a:prstGeom prst="rect">
            <a:avLst/>
          </a:prstGeom>
          <a:noFill/>
          <a:ln/>
        </p:spPr>
        <p:txBody>
          <a:bodyPr wrap="square" lIns="0" tIns="0" rIns="0" bIns="0" rtlCol="0" anchor="ctr"/>
          <a:lstStyle/>
          <a:p>
            <a:pPr indent="0" marL="0">
              <a:buNone/>
            </a:pPr>
            <a:r>
              <a:rPr lang="en-US" sz="2200" dirty="0">
                <a:solidFill>
                  <a:srgbClr val="1A2B3C"/>
                </a:solidFill>
                <a:latin typeface="Consolas" pitchFamily="34" charset="0"/>
                <a:ea typeface="Consolas" pitchFamily="34" charset="-122"/>
                <a:cs typeface="Consolas" pitchFamily="34" charset="-120"/>
              </a:rPr>
              <a:t>result = 5 + 2 * 3 ** 2 - 8 / 4</a:t>
            </a:r>
            <a:endParaRPr lang="en-US" sz="2200" dirty="0"/>
          </a:p>
        </p:txBody>
      </p:sp>
      <p:sp>
        <p:nvSpPr>
          <p:cNvPr id="14" name="Shape 12"/>
          <p:cNvSpPr/>
          <p:nvPr/>
        </p:nvSpPr>
        <p:spPr>
          <a:xfrm>
            <a:off x="457200" y="2249424"/>
            <a:ext cx="3675888" cy="2331720"/>
          </a:xfrm>
          <a:prstGeom prst="roundRect">
            <a:avLst>
              <a:gd name="adj" fmla="val 3137"/>
            </a:avLst>
          </a:prstGeom>
          <a:solidFill>
            <a:srgbClr val="FFFFFF"/>
          </a:solidFill>
          <a:ln w="12700">
            <a:solidFill>
              <a:srgbClr val="E2E8EE"/>
            </a:solidFill>
            <a:prstDash val="solid"/>
          </a:ln>
        </p:spPr>
      </p:sp>
      <p:sp>
        <p:nvSpPr>
          <p:cNvPr id="15" name="Shape 13"/>
          <p:cNvSpPr/>
          <p:nvPr/>
        </p:nvSpPr>
        <p:spPr>
          <a:xfrm>
            <a:off x="640080" y="2414016"/>
            <a:ext cx="502920" cy="384048"/>
          </a:xfrm>
          <a:prstGeom prst="roundRect">
            <a:avLst>
              <a:gd name="adj" fmla="val 11905"/>
            </a:avLst>
          </a:prstGeom>
          <a:solidFill>
            <a:srgbClr val="1A7070"/>
          </a:solidFill>
          <a:ln w="12700">
            <a:solidFill>
              <a:srgbClr val="1A7070"/>
            </a:solidFill>
            <a:prstDash val="solid"/>
          </a:ln>
        </p:spPr>
      </p:sp>
      <p:sp>
        <p:nvSpPr>
          <p:cNvPr id="16" name="Text 14"/>
          <p:cNvSpPr/>
          <p:nvPr/>
        </p:nvSpPr>
        <p:spPr>
          <a:xfrm>
            <a:off x="640080" y="2414016"/>
            <a:ext cx="502920"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7" name="Text 15"/>
          <p:cNvSpPr/>
          <p:nvPr/>
        </p:nvSpPr>
        <p:spPr>
          <a:xfrm>
            <a:off x="1243584" y="2414016"/>
            <a:ext cx="2697480" cy="384048"/>
          </a:xfrm>
          <a:prstGeom prst="rect">
            <a:avLst/>
          </a:prstGeom>
          <a:noFill/>
          <a:ln/>
        </p:spPr>
        <p:txBody>
          <a:bodyPr wrap="square" lIns="0" tIns="0" rIns="0" bIns="0" rtlCol="0" anchor="ctr"/>
          <a:lstStyle/>
          <a:p>
            <a:pPr indent="0" marL="0">
              <a:buNone/>
            </a:pPr>
            <a:r>
              <a:rPr lang="en-US" sz="1600" b="1" dirty="0">
                <a:solidFill>
                  <a:srgbClr val="0D3358"/>
                </a:solidFill>
                <a:latin typeface="Calibri" pitchFamily="34" charset="0"/>
                <a:ea typeface="Calibri" pitchFamily="34" charset="-122"/>
                <a:cs typeface="Calibri" pitchFamily="34" charset="-120"/>
              </a:rPr>
              <a:t>** first</a:t>
            </a:r>
            <a:endParaRPr lang="en-US" sz="1600" dirty="0"/>
          </a:p>
        </p:txBody>
      </p:sp>
      <p:sp>
        <p:nvSpPr>
          <p:cNvPr id="18" name="Text 16"/>
          <p:cNvSpPr/>
          <p:nvPr/>
        </p:nvSpPr>
        <p:spPr>
          <a:xfrm>
            <a:off x="640080" y="2907792"/>
            <a:ext cx="3310128" cy="502920"/>
          </a:xfrm>
          <a:prstGeom prst="rect">
            <a:avLst/>
          </a:prstGeom>
          <a:noFill/>
          <a:ln/>
        </p:spPr>
        <p:txBody>
          <a:bodyPr wrap="square" lIns="0" tIns="0" rIns="0" bIns="0" rtlCol="0" anchor="ctr"/>
          <a:lstStyle/>
          <a:p>
            <a:pPr indent="0" marL="0">
              <a:buNone/>
            </a:pPr>
            <a:r>
              <a:rPr lang="en-US" sz="1400" dirty="0">
                <a:solidFill>
                  <a:srgbClr val="1A2B3C"/>
                </a:solidFill>
                <a:latin typeface="Consolas" pitchFamily="34" charset="0"/>
                <a:ea typeface="Consolas" pitchFamily="34" charset="-122"/>
                <a:cs typeface="Consolas" pitchFamily="34" charset="-120"/>
              </a:rPr>
              <a:t>3 ** 2</a:t>
            </a:r>
            <a:endParaRPr lang="en-US" sz="1400" dirty="0"/>
          </a:p>
        </p:txBody>
      </p:sp>
      <p:sp>
        <p:nvSpPr>
          <p:cNvPr id="19" name="Text 17"/>
          <p:cNvSpPr/>
          <p:nvPr/>
        </p:nvSpPr>
        <p:spPr>
          <a:xfrm>
            <a:off x="640080" y="3401568"/>
            <a:ext cx="3310128" cy="365760"/>
          </a:xfrm>
          <a:prstGeom prst="rect">
            <a:avLst/>
          </a:prstGeom>
          <a:noFill/>
          <a:ln/>
        </p:spPr>
        <p:txBody>
          <a:bodyPr wrap="square" lIns="0" tIns="0" rIns="0" bIns="0" rtlCol="0" anchor="ctr"/>
          <a:lstStyle/>
          <a:p>
            <a:pPr indent="0" marL="0">
              <a:buNone/>
            </a:pPr>
            <a:r>
              <a:rPr lang="en-US" sz="1600" b="1" dirty="0">
                <a:solidFill>
                  <a:srgbClr val="1A7070"/>
                </a:solidFill>
                <a:latin typeface="Consolas" pitchFamily="34" charset="0"/>
                <a:ea typeface="Consolas" pitchFamily="34" charset="-122"/>
                <a:cs typeface="Consolas" pitchFamily="34" charset="-120"/>
              </a:rPr>
              <a:t>→  9</a:t>
            </a:r>
            <a:endParaRPr lang="en-US" sz="1600" dirty="0"/>
          </a:p>
        </p:txBody>
      </p:sp>
      <p:sp>
        <p:nvSpPr>
          <p:cNvPr id="20" name="Text 18"/>
          <p:cNvSpPr/>
          <p:nvPr/>
        </p:nvSpPr>
        <p:spPr>
          <a:xfrm>
            <a:off x="640080" y="3822192"/>
            <a:ext cx="3310128" cy="54864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Highest rank still open.</a:t>
            </a:r>
            <a:endParaRPr lang="en-US" sz="1400" dirty="0"/>
          </a:p>
        </p:txBody>
      </p:sp>
      <p:sp>
        <p:nvSpPr>
          <p:cNvPr id="21" name="Shape 19"/>
          <p:cNvSpPr/>
          <p:nvPr/>
        </p:nvSpPr>
        <p:spPr>
          <a:xfrm>
            <a:off x="4297680" y="2249424"/>
            <a:ext cx="3675888" cy="2331720"/>
          </a:xfrm>
          <a:prstGeom prst="roundRect">
            <a:avLst>
              <a:gd name="adj" fmla="val 3137"/>
            </a:avLst>
          </a:prstGeom>
          <a:solidFill>
            <a:srgbClr val="FFFFFF"/>
          </a:solidFill>
          <a:ln w="12700">
            <a:solidFill>
              <a:srgbClr val="E2E8EE"/>
            </a:solidFill>
            <a:prstDash val="solid"/>
          </a:ln>
        </p:spPr>
      </p:sp>
      <p:sp>
        <p:nvSpPr>
          <p:cNvPr id="22" name="Shape 20"/>
          <p:cNvSpPr/>
          <p:nvPr/>
        </p:nvSpPr>
        <p:spPr>
          <a:xfrm>
            <a:off x="4480560" y="2414016"/>
            <a:ext cx="502920" cy="384048"/>
          </a:xfrm>
          <a:prstGeom prst="roundRect">
            <a:avLst>
              <a:gd name="adj" fmla="val 11905"/>
            </a:avLst>
          </a:prstGeom>
          <a:solidFill>
            <a:srgbClr val="1A7070"/>
          </a:solidFill>
          <a:ln w="12700">
            <a:solidFill>
              <a:srgbClr val="1A7070"/>
            </a:solidFill>
            <a:prstDash val="solid"/>
          </a:ln>
        </p:spPr>
      </p:sp>
      <p:sp>
        <p:nvSpPr>
          <p:cNvPr id="23" name="Text 21"/>
          <p:cNvSpPr/>
          <p:nvPr/>
        </p:nvSpPr>
        <p:spPr>
          <a:xfrm>
            <a:off x="4480560" y="2414016"/>
            <a:ext cx="502920"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24" name="Text 22"/>
          <p:cNvSpPr/>
          <p:nvPr/>
        </p:nvSpPr>
        <p:spPr>
          <a:xfrm>
            <a:off x="5084064" y="2414016"/>
            <a:ext cx="2697480" cy="384048"/>
          </a:xfrm>
          <a:prstGeom prst="rect">
            <a:avLst/>
          </a:prstGeom>
          <a:noFill/>
          <a:ln/>
        </p:spPr>
        <p:txBody>
          <a:bodyPr wrap="square" lIns="0" tIns="0" rIns="0" bIns="0" rtlCol="0" anchor="ctr"/>
          <a:lstStyle/>
          <a:p>
            <a:pPr indent="0" marL="0">
              <a:buNone/>
            </a:pPr>
            <a:r>
              <a:rPr lang="en-US" sz="1600" b="1" dirty="0">
                <a:solidFill>
                  <a:srgbClr val="0D3358"/>
                </a:solidFill>
                <a:latin typeface="Calibri" pitchFamily="34" charset="0"/>
                <a:ea typeface="Calibri" pitchFamily="34" charset="-122"/>
                <a:cs typeface="Calibri" pitchFamily="34" charset="-120"/>
              </a:rPr>
              <a:t>* and /</a:t>
            </a:r>
            <a:endParaRPr lang="en-US" sz="1600" dirty="0"/>
          </a:p>
        </p:txBody>
      </p:sp>
      <p:sp>
        <p:nvSpPr>
          <p:cNvPr id="25" name="Text 23"/>
          <p:cNvSpPr/>
          <p:nvPr/>
        </p:nvSpPr>
        <p:spPr>
          <a:xfrm>
            <a:off x="4480560" y="2907792"/>
            <a:ext cx="3310128" cy="502920"/>
          </a:xfrm>
          <a:prstGeom prst="rect">
            <a:avLst/>
          </a:prstGeom>
          <a:noFill/>
          <a:ln/>
        </p:spPr>
        <p:txBody>
          <a:bodyPr wrap="square" lIns="0" tIns="0" rIns="0" bIns="0" rtlCol="0" anchor="ctr"/>
          <a:lstStyle/>
          <a:p>
            <a:pPr indent="0" marL="0">
              <a:buNone/>
            </a:pPr>
            <a:r>
              <a:rPr lang="en-US" sz="1400" dirty="0">
                <a:solidFill>
                  <a:srgbClr val="1A2B3C"/>
                </a:solidFill>
                <a:latin typeface="Consolas" pitchFamily="34" charset="0"/>
                <a:ea typeface="Consolas" pitchFamily="34" charset="-122"/>
                <a:cs typeface="Consolas" pitchFamily="34" charset="-120"/>
              </a:rPr>
              <a:t>2 * 9    and    8 / 4</a:t>
            </a:r>
            <a:endParaRPr lang="en-US" sz="1400" dirty="0"/>
          </a:p>
        </p:txBody>
      </p:sp>
      <p:sp>
        <p:nvSpPr>
          <p:cNvPr id="26" name="Text 24"/>
          <p:cNvSpPr/>
          <p:nvPr/>
        </p:nvSpPr>
        <p:spPr>
          <a:xfrm>
            <a:off x="4480560" y="3401568"/>
            <a:ext cx="3310128" cy="365760"/>
          </a:xfrm>
          <a:prstGeom prst="rect">
            <a:avLst/>
          </a:prstGeom>
          <a:noFill/>
          <a:ln/>
        </p:spPr>
        <p:txBody>
          <a:bodyPr wrap="square" lIns="0" tIns="0" rIns="0" bIns="0" rtlCol="0" anchor="ctr"/>
          <a:lstStyle/>
          <a:p>
            <a:pPr indent="0" marL="0">
              <a:buNone/>
            </a:pPr>
            <a:r>
              <a:rPr lang="en-US" sz="1600" b="1" dirty="0">
                <a:solidFill>
                  <a:srgbClr val="1A7070"/>
                </a:solidFill>
                <a:latin typeface="Consolas" pitchFamily="34" charset="0"/>
                <a:ea typeface="Consolas" pitchFamily="34" charset="-122"/>
                <a:cs typeface="Consolas" pitchFamily="34" charset="-120"/>
              </a:rPr>
              <a:t>→  18    and    2.0</a:t>
            </a:r>
            <a:endParaRPr lang="en-US" sz="1600" dirty="0"/>
          </a:p>
        </p:txBody>
      </p:sp>
      <p:sp>
        <p:nvSpPr>
          <p:cNvPr id="27" name="Text 25"/>
          <p:cNvSpPr/>
          <p:nvPr/>
        </p:nvSpPr>
        <p:spPr>
          <a:xfrm>
            <a:off x="4480560" y="3822192"/>
            <a:ext cx="3310128" cy="54864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Same rank, left to right.</a:t>
            </a:r>
            <a:endParaRPr lang="en-US" sz="1400" dirty="0"/>
          </a:p>
        </p:txBody>
      </p:sp>
      <p:sp>
        <p:nvSpPr>
          <p:cNvPr id="28" name="Shape 26"/>
          <p:cNvSpPr/>
          <p:nvPr/>
        </p:nvSpPr>
        <p:spPr>
          <a:xfrm>
            <a:off x="8138160" y="2249424"/>
            <a:ext cx="3675888" cy="2331720"/>
          </a:xfrm>
          <a:prstGeom prst="roundRect">
            <a:avLst>
              <a:gd name="adj" fmla="val 3137"/>
            </a:avLst>
          </a:prstGeom>
          <a:solidFill>
            <a:srgbClr val="FFFFFF"/>
          </a:solidFill>
          <a:ln w="12700">
            <a:solidFill>
              <a:srgbClr val="E2E8EE"/>
            </a:solidFill>
            <a:prstDash val="solid"/>
          </a:ln>
        </p:spPr>
      </p:sp>
      <p:sp>
        <p:nvSpPr>
          <p:cNvPr id="29" name="Shape 27"/>
          <p:cNvSpPr/>
          <p:nvPr/>
        </p:nvSpPr>
        <p:spPr>
          <a:xfrm>
            <a:off x="8321040" y="2414016"/>
            <a:ext cx="502920" cy="384048"/>
          </a:xfrm>
          <a:prstGeom prst="roundRect">
            <a:avLst>
              <a:gd name="adj" fmla="val 11905"/>
            </a:avLst>
          </a:prstGeom>
          <a:solidFill>
            <a:srgbClr val="1A7070"/>
          </a:solidFill>
          <a:ln w="12700">
            <a:solidFill>
              <a:srgbClr val="1A7070"/>
            </a:solidFill>
            <a:prstDash val="solid"/>
          </a:ln>
        </p:spPr>
      </p:sp>
      <p:sp>
        <p:nvSpPr>
          <p:cNvPr id="30" name="Text 28"/>
          <p:cNvSpPr/>
          <p:nvPr/>
        </p:nvSpPr>
        <p:spPr>
          <a:xfrm>
            <a:off x="8321040" y="2414016"/>
            <a:ext cx="502920"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31" name="Text 29"/>
          <p:cNvSpPr/>
          <p:nvPr/>
        </p:nvSpPr>
        <p:spPr>
          <a:xfrm>
            <a:off x="8924544" y="2414016"/>
            <a:ext cx="2697480" cy="384048"/>
          </a:xfrm>
          <a:prstGeom prst="rect">
            <a:avLst/>
          </a:prstGeom>
          <a:noFill/>
          <a:ln/>
        </p:spPr>
        <p:txBody>
          <a:bodyPr wrap="square" lIns="0" tIns="0" rIns="0" bIns="0" rtlCol="0" anchor="ctr"/>
          <a:lstStyle/>
          <a:p>
            <a:pPr indent="0" marL="0">
              <a:buNone/>
            </a:pPr>
            <a:r>
              <a:rPr lang="en-US" sz="1600" b="1" dirty="0">
                <a:solidFill>
                  <a:srgbClr val="0D3358"/>
                </a:solidFill>
                <a:latin typeface="Calibri" pitchFamily="34" charset="0"/>
                <a:ea typeface="Calibri" pitchFamily="34" charset="-122"/>
                <a:cs typeface="Calibri" pitchFamily="34" charset="-120"/>
              </a:rPr>
              <a:t>+ and −</a:t>
            </a:r>
            <a:endParaRPr lang="en-US" sz="1600" dirty="0"/>
          </a:p>
        </p:txBody>
      </p:sp>
      <p:sp>
        <p:nvSpPr>
          <p:cNvPr id="32" name="Text 30"/>
          <p:cNvSpPr/>
          <p:nvPr/>
        </p:nvSpPr>
        <p:spPr>
          <a:xfrm>
            <a:off x="8321040" y="2907792"/>
            <a:ext cx="3310128" cy="502920"/>
          </a:xfrm>
          <a:prstGeom prst="rect">
            <a:avLst/>
          </a:prstGeom>
          <a:noFill/>
          <a:ln/>
        </p:spPr>
        <p:txBody>
          <a:bodyPr wrap="square" lIns="0" tIns="0" rIns="0" bIns="0" rtlCol="0" anchor="ctr"/>
          <a:lstStyle/>
          <a:p>
            <a:pPr indent="0" marL="0">
              <a:buNone/>
            </a:pPr>
            <a:r>
              <a:rPr lang="en-US" sz="1400" dirty="0">
                <a:solidFill>
                  <a:srgbClr val="1A2B3C"/>
                </a:solidFill>
                <a:latin typeface="Consolas" pitchFamily="34" charset="0"/>
                <a:ea typeface="Consolas" pitchFamily="34" charset="-122"/>
                <a:cs typeface="Consolas" pitchFamily="34" charset="-120"/>
              </a:rPr>
              <a:t>5 + 18 - 2.0</a:t>
            </a:r>
            <a:endParaRPr lang="en-US" sz="1400" dirty="0"/>
          </a:p>
        </p:txBody>
      </p:sp>
      <p:sp>
        <p:nvSpPr>
          <p:cNvPr id="33" name="Text 31"/>
          <p:cNvSpPr/>
          <p:nvPr/>
        </p:nvSpPr>
        <p:spPr>
          <a:xfrm>
            <a:off x="8321040" y="3401568"/>
            <a:ext cx="3310128" cy="365760"/>
          </a:xfrm>
          <a:prstGeom prst="rect">
            <a:avLst/>
          </a:prstGeom>
          <a:noFill/>
          <a:ln/>
        </p:spPr>
        <p:txBody>
          <a:bodyPr wrap="square" lIns="0" tIns="0" rIns="0" bIns="0" rtlCol="0" anchor="ctr"/>
          <a:lstStyle/>
          <a:p>
            <a:pPr indent="0" marL="0">
              <a:buNone/>
            </a:pPr>
            <a:r>
              <a:rPr lang="en-US" sz="1600" b="1" dirty="0">
                <a:solidFill>
                  <a:srgbClr val="1A7070"/>
                </a:solidFill>
                <a:latin typeface="Consolas" pitchFamily="34" charset="0"/>
                <a:ea typeface="Consolas" pitchFamily="34" charset="-122"/>
                <a:cs typeface="Consolas" pitchFamily="34" charset="-120"/>
              </a:rPr>
              <a:t>→  21.0</a:t>
            </a:r>
            <a:endParaRPr lang="en-US" sz="1600" dirty="0"/>
          </a:p>
        </p:txBody>
      </p:sp>
      <p:sp>
        <p:nvSpPr>
          <p:cNvPr id="34" name="Text 32"/>
          <p:cNvSpPr/>
          <p:nvPr/>
        </p:nvSpPr>
        <p:spPr>
          <a:xfrm>
            <a:off x="8321040" y="3822192"/>
            <a:ext cx="3310128" cy="54864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Same rank, left to right.</a:t>
            </a:r>
            <a:endParaRPr lang="en-US" sz="1400" dirty="0"/>
          </a:p>
        </p:txBody>
      </p:sp>
      <p:sp>
        <p:nvSpPr>
          <p:cNvPr id="35" name="Shape 33"/>
          <p:cNvSpPr/>
          <p:nvPr/>
        </p:nvSpPr>
        <p:spPr>
          <a:xfrm>
            <a:off x="457200" y="4736592"/>
            <a:ext cx="11247120" cy="1481328"/>
          </a:xfrm>
          <a:prstGeom prst="roundRect">
            <a:avLst>
              <a:gd name="adj" fmla="val 4938"/>
            </a:avLst>
          </a:prstGeom>
          <a:solidFill>
            <a:srgbClr val="FBF3E2"/>
          </a:solidFill>
          <a:ln w="12700">
            <a:solidFill>
              <a:srgbClr val="E8D9B8"/>
            </a:solidFill>
            <a:prstDash val="solid"/>
          </a:ln>
        </p:spPr>
      </p:sp>
      <p:sp>
        <p:nvSpPr>
          <p:cNvPr id="36" name="Text 34"/>
          <p:cNvSpPr/>
          <p:nvPr/>
        </p:nvSpPr>
        <p:spPr>
          <a:xfrm>
            <a:off x="658368" y="4864608"/>
            <a:ext cx="10881360" cy="292608"/>
          </a:xfrm>
          <a:prstGeom prst="rect">
            <a:avLst/>
          </a:prstGeom>
          <a:noFill/>
          <a:ln/>
        </p:spPr>
        <p:txBody>
          <a:bodyPr wrap="square" lIns="0" tIns="0" rIns="0" bIns="0" rtlCol="0" anchor="ctr"/>
          <a:lstStyle/>
          <a:p>
            <a:pPr indent="0" marL="0">
              <a:buNone/>
            </a:pPr>
            <a:r>
              <a:rPr lang="en-US" sz="1500" b="1" dirty="0">
                <a:solidFill>
                  <a:srgbClr val="0D3358"/>
                </a:solidFill>
                <a:latin typeface="Calibri" pitchFamily="34" charset="0"/>
                <a:ea typeface="Calibri" pitchFamily="34" charset="-122"/>
                <a:cs typeface="Calibri" pitchFamily="34" charset="-120"/>
              </a:rPr>
              <a:t>Now change the grouping and the story changes.</a:t>
            </a:r>
            <a:endParaRPr lang="en-US" sz="1500" dirty="0"/>
          </a:p>
        </p:txBody>
      </p:sp>
      <p:sp>
        <p:nvSpPr>
          <p:cNvPr id="37" name="Text 35"/>
          <p:cNvSpPr/>
          <p:nvPr/>
        </p:nvSpPr>
        <p:spPr>
          <a:xfrm>
            <a:off x="658368" y="5212080"/>
            <a:ext cx="10881360" cy="365760"/>
          </a:xfrm>
          <a:prstGeom prst="rect">
            <a:avLst/>
          </a:prstGeom>
          <a:noFill/>
          <a:ln/>
        </p:spPr>
        <p:txBody>
          <a:bodyPr wrap="square" lIns="0" tIns="0" rIns="0" bIns="0" rtlCol="0" anchor="ctr"/>
          <a:lstStyle/>
          <a:p>
            <a:pPr indent="0" marL="0">
              <a:buNone/>
            </a:pPr>
            <a:r>
              <a:rPr lang="en-US" sz="1600" dirty="0">
                <a:solidFill>
                  <a:srgbClr val="1A2B3C"/>
                </a:solidFill>
                <a:latin typeface="Consolas" pitchFamily="34" charset="0"/>
                <a:ea typeface="Consolas" pitchFamily="34" charset="-122"/>
                <a:cs typeface="Consolas" pitchFamily="34" charset="-120"/>
              </a:rPr>
              <a:t>(5 + 2) * (3 ** 2 - 8) / 4   →   7 * (9 - 8) / 4   →   7 * 1 / 4   →   1.75</a:t>
            </a:r>
            <a:endParaRPr lang="en-US" sz="1600" dirty="0"/>
          </a:p>
        </p:txBody>
      </p:sp>
      <p:sp>
        <p:nvSpPr>
          <p:cNvPr id="38" name="Text 36"/>
          <p:cNvSpPr/>
          <p:nvPr/>
        </p:nvSpPr>
        <p:spPr>
          <a:xfrm>
            <a:off x="658368" y="5632704"/>
            <a:ext cx="10881360" cy="420624"/>
          </a:xfrm>
          <a:prstGeom prst="rect">
            <a:avLst/>
          </a:prstGeom>
          <a:noFill/>
          <a:ln/>
        </p:spPr>
        <p:txBody>
          <a:bodyPr wrap="square" lIns="0" tIns="0" rIns="0" bIns="0" rtlCol="0" anchor="ctr"/>
          <a:lstStyle/>
          <a:p>
            <a:pPr indent="0" marL="0">
              <a:buNone/>
            </a:pPr>
            <a:r>
              <a:rPr lang="en-US" sz="1500" dirty="0">
                <a:solidFill>
                  <a:srgbClr val="2A2A2A"/>
                </a:solidFill>
                <a:latin typeface="Calibri" pitchFamily="34" charset="0"/>
                <a:ea typeface="Calibri" pitchFamily="34" charset="-122"/>
                <a:cs typeface="Calibri" pitchFamily="34" charset="-120"/>
              </a:rPr>
              <a:t>Predict the value on paper. Then run print(result). If the two disagree, your ranking — not Python — is the thing to fix.</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6F5"/>
        </a:solidFill>
      </p:bgPr>
    </p:bg>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0D3358"/>
          </a:solidFill>
          <a:ln w="12700">
            <a:solidFill>
              <a:srgbClr val="0D3358"/>
            </a:solidFill>
            <a:prstDash val="solid"/>
          </a:ln>
        </p:spPr>
      </p:sp>
      <p:sp>
        <p:nvSpPr>
          <p:cNvPr id="3" name="Shape 1"/>
          <p:cNvSpPr/>
          <p:nvPr/>
        </p:nvSpPr>
        <p:spPr>
          <a:xfrm>
            <a:off x="0" y="475488"/>
            <a:ext cx="12191695" cy="54864"/>
          </a:xfrm>
          <a:prstGeom prst="rect">
            <a:avLst/>
          </a:prstGeom>
          <a:solidFill>
            <a:srgbClr val="E1A244"/>
          </a:solidFill>
          <a:ln w="12700">
            <a:solidFill>
              <a:srgbClr val="E1A244"/>
            </a:solidFill>
            <a:prstDash val="solid"/>
          </a:ln>
        </p:spPr>
      </p:sp>
      <p:sp>
        <p:nvSpPr>
          <p:cNvPr id="4" name="Text 2"/>
          <p:cNvSpPr/>
          <p:nvPr/>
        </p:nvSpPr>
        <p:spPr>
          <a:xfrm>
            <a:off x="411480" y="73152"/>
            <a:ext cx="6583680" cy="32918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LogosTeach  ·  Computer Science 1</a:t>
            </a:r>
            <a:endParaRPr lang="en-US" sz="1300" dirty="0"/>
          </a:p>
        </p:txBody>
      </p:sp>
      <p:sp>
        <p:nvSpPr>
          <p:cNvPr id="5" name="Text 3"/>
          <p:cNvSpPr/>
          <p:nvPr/>
        </p:nvSpPr>
        <p:spPr>
          <a:xfrm>
            <a:off x="6949440" y="73152"/>
            <a:ext cx="4846320" cy="329184"/>
          </a:xfrm>
          <a:prstGeom prst="rect">
            <a:avLst/>
          </a:prstGeom>
          <a:noFill/>
          <a:ln/>
        </p:spPr>
        <p:txBody>
          <a:bodyPr wrap="square" lIns="0" tIns="0" rIns="0" bIns="0" rtlCol="0" anchor="ctr"/>
          <a:lstStyle/>
          <a:p>
            <a:pPr algn="r" indent="0" marL="0">
              <a:buNone/>
            </a:pPr>
            <a:r>
              <a:rPr lang="en-US" sz="1300" dirty="0">
                <a:solidFill>
                  <a:srgbClr val="E1A244"/>
                </a:solidFill>
                <a:latin typeface="Calibri" pitchFamily="34" charset="0"/>
                <a:ea typeface="Calibri" pitchFamily="34" charset="-122"/>
                <a:cs typeface="Calibri" pitchFamily="34" charset="-120"/>
              </a:rPr>
              <a:t>Unit 2  ·  Order of Operations</a:t>
            </a:r>
            <a:endParaRPr lang="en-US" sz="1300" dirty="0"/>
          </a:p>
        </p:txBody>
      </p:sp>
      <p:sp>
        <p:nvSpPr>
          <p:cNvPr id="6" name="Shape 4"/>
          <p:cNvSpPr/>
          <p:nvPr/>
        </p:nvSpPr>
        <p:spPr>
          <a:xfrm>
            <a:off x="0" y="6473952"/>
            <a:ext cx="12191695" cy="384048"/>
          </a:xfrm>
          <a:prstGeom prst="rect">
            <a:avLst/>
          </a:prstGeom>
          <a:solidFill>
            <a:srgbClr val="E8EEF3"/>
          </a:solidFill>
          <a:ln w="12700">
            <a:solidFill>
              <a:srgbClr val="E8EEF3"/>
            </a:solidFill>
            <a:prstDash val="solid"/>
          </a:ln>
        </p:spPr>
      </p:sp>
      <p:sp>
        <p:nvSpPr>
          <p:cNvPr id="7" name="Shape 5"/>
          <p:cNvSpPr/>
          <p:nvPr/>
        </p:nvSpPr>
        <p:spPr>
          <a:xfrm>
            <a:off x="0" y="6473952"/>
            <a:ext cx="12191695" cy="32004"/>
          </a:xfrm>
          <a:prstGeom prst="rect">
            <a:avLst/>
          </a:prstGeom>
          <a:solidFill>
            <a:srgbClr val="E1A244"/>
          </a:solidFill>
          <a:ln w="12700">
            <a:solidFill>
              <a:srgbClr val="E1A244"/>
            </a:solidFill>
            <a:prstDash val="solid"/>
          </a:ln>
        </p:spPr>
      </p:sp>
      <p:sp>
        <p:nvSpPr>
          <p:cNvPr id="8" name="Text 6"/>
          <p:cNvSpPr/>
          <p:nvPr/>
        </p:nvSpPr>
        <p:spPr>
          <a:xfrm>
            <a:off x="411480" y="6528816"/>
            <a:ext cx="8595360" cy="274320"/>
          </a:xfrm>
          <a:prstGeom prst="rect">
            <a:avLst/>
          </a:prstGeom>
          <a:noFill/>
          <a:ln/>
        </p:spPr>
        <p:txBody>
          <a:bodyPr wrap="square" lIns="0" tIns="0" rIns="0" bIns="0" rtlCol="0" anchor="ctr"/>
          <a:lstStyle/>
          <a:p>
            <a:pPr indent="0" marL="0">
              <a:buNone/>
            </a:pPr>
            <a:r>
              <a:rPr lang="en-US" sz="1100" dirty="0">
                <a:solidFill>
                  <a:srgbClr val="5A6A7A"/>
                </a:solidFill>
                <a:latin typeface="Calibri" pitchFamily="34" charset="0"/>
                <a:ea typeface="Calibri" pitchFamily="34" charset="-122"/>
                <a:cs typeface="Calibri" pitchFamily="34" charset="-120"/>
              </a:rPr>
              <a:t>Copyright 2026 LogosTeach  ·  All Rights Reserved</a:t>
            </a:r>
            <a:endParaRPr lang="en-US" sz="1100" dirty="0"/>
          </a:p>
        </p:txBody>
      </p:sp>
      <p:sp>
        <p:nvSpPr>
          <p:cNvPr id="9" name="Text 7"/>
          <p:cNvSpPr/>
          <p:nvPr/>
        </p:nvSpPr>
        <p:spPr>
          <a:xfrm>
            <a:off x="9509760" y="6528816"/>
            <a:ext cx="2286000" cy="274320"/>
          </a:xfrm>
          <a:prstGeom prst="rect">
            <a:avLst/>
          </a:prstGeom>
          <a:noFill/>
          <a:ln/>
        </p:spPr>
        <p:txBody>
          <a:bodyPr wrap="square" lIns="0" tIns="0" rIns="0" bIns="0" rtlCol="0" anchor="ctr"/>
          <a:lstStyle/>
          <a:p>
            <a:pPr algn="r" indent="0" marL="0">
              <a:buNone/>
            </a:pPr>
            <a:r>
              <a:rPr lang="en-US" sz="1100" dirty="0">
                <a:solidFill>
                  <a:srgbClr val="0D3358"/>
                </a:solidFill>
                <a:latin typeface="Calibri" pitchFamily="34" charset="0"/>
                <a:ea typeface="Calibri" pitchFamily="34" charset="-122"/>
                <a:cs typeface="Calibri" pitchFamily="34" charset="-120"/>
              </a:rPr>
              <a:t>12  /  14</a:t>
            </a:r>
            <a:endParaRPr lang="en-US" sz="1100" dirty="0"/>
          </a:p>
        </p:txBody>
      </p:sp>
      <p:sp>
        <p:nvSpPr>
          <p:cNvPr id="10" name="Text 8"/>
          <p:cNvSpPr/>
          <p:nvPr/>
        </p:nvSpPr>
        <p:spPr>
          <a:xfrm>
            <a:off x="457200" y="658368"/>
            <a:ext cx="11247120" cy="384048"/>
          </a:xfrm>
          <a:prstGeom prst="rect">
            <a:avLst/>
          </a:prstGeom>
          <a:noFill/>
          <a:ln/>
        </p:spPr>
        <p:txBody>
          <a:bodyPr wrap="square" lIns="0" tIns="0" rIns="0" bIns="0" rtlCol="0" anchor="ctr"/>
          <a:lstStyle/>
          <a:p>
            <a:pPr indent="0" marL="0">
              <a:buNone/>
            </a:pPr>
            <a:r>
              <a:rPr lang="en-US" sz="2800" b="1" dirty="0">
                <a:solidFill>
                  <a:srgbClr val="0D3358"/>
                </a:solidFill>
                <a:latin typeface="Calibri" pitchFamily="34" charset="0"/>
                <a:ea typeface="Calibri" pitchFamily="34" charset="-122"/>
                <a:cs typeface="Calibri" pitchFamily="34" charset="-120"/>
              </a:rPr>
              <a:t>Mistakes to Watch For</a:t>
            </a:r>
            <a:endParaRPr lang="en-US" sz="2800" dirty="0"/>
          </a:p>
        </p:txBody>
      </p:sp>
      <p:sp>
        <p:nvSpPr>
          <p:cNvPr id="11" name="Shape 9"/>
          <p:cNvSpPr/>
          <p:nvPr/>
        </p:nvSpPr>
        <p:spPr>
          <a:xfrm>
            <a:off x="457200" y="1060704"/>
            <a:ext cx="1234440" cy="50292"/>
          </a:xfrm>
          <a:prstGeom prst="rect">
            <a:avLst/>
          </a:prstGeom>
          <a:solidFill>
            <a:srgbClr val="E1A244"/>
          </a:solidFill>
          <a:ln w="12700">
            <a:solidFill>
              <a:srgbClr val="E1A244"/>
            </a:solidFill>
            <a:prstDash val="solid"/>
          </a:ln>
        </p:spPr>
      </p:sp>
      <p:sp>
        <p:nvSpPr>
          <p:cNvPr id="12" name="Shape 10"/>
          <p:cNvSpPr/>
          <p:nvPr/>
        </p:nvSpPr>
        <p:spPr>
          <a:xfrm>
            <a:off x="457200" y="1280160"/>
            <a:ext cx="11247120" cy="896112"/>
          </a:xfrm>
          <a:prstGeom prst="roundRect">
            <a:avLst>
              <a:gd name="adj" fmla="val 8163"/>
            </a:avLst>
          </a:prstGeom>
          <a:solidFill>
            <a:srgbClr val="FFFFFF"/>
          </a:solidFill>
          <a:ln w="12700">
            <a:solidFill>
              <a:srgbClr val="E2E8EE"/>
            </a:solidFill>
            <a:prstDash val="solid"/>
          </a:ln>
        </p:spPr>
      </p:sp>
      <p:sp>
        <p:nvSpPr>
          <p:cNvPr id="13" name="Text 11"/>
          <p:cNvSpPr/>
          <p:nvPr/>
        </p:nvSpPr>
        <p:spPr>
          <a:xfrm>
            <a:off x="640080" y="1389888"/>
            <a:ext cx="3291840" cy="676656"/>
          </a:xfrm>
          <a:prstGeom prst="rect">
            <a:avLst/>
          </a:prstGeom>
          <a:noFill/>
          <a:ln/>
        </p:spPr>
        <p:txBody>
          <a:bodyPr wrap="square" lIns="0" tIns="0" rIns="0" bIns="0" rtlCol="0" anchor="ctr"/>
          <a:lstStyle/>
          <a:p>
            <a:pPr indent="0" marL="0">
              <a:buNone/>
            </a:pPr>
            <a:r>
              <a:rPr lang="en-US" sz="1600" b="1" dirty="0">
                <a:solidFill>
                  <a:srgbClr val="0D3358"/>
                </a:solidFill>
                <a:latin typeface="Calibri" pitchFamily="34" charset="0"/>
                <a:ea typeface="Calibri" pitchFamily="34" charset="-122"/>
                <a:cs typeface="Calibri" pitchFamily="34" charset="-120"/>
              </a:rPr>
              <a:t>Treating + like *</a:t>
            </a:r>
            <a:endParaRPr lang="en-US" sz="1600" dirty="0"/>
          </a:p>
        </p:txBody>
      </p:sp>
      <p:sp>
        <p:nvSpPr>
          <p:cNvPr id="14" name="Text 12"/>
          <p:cNvSpPr/>
          <p:nvPr/>
        </p:nvSpPr>
        <p:spPr>
          <a:xfrm>
            <a:off x="3977640" y="1389888"/>
            <a:ext cx="3566160" cy="676656"/>
          </a:xfrm>
          <a:prstGeom prst="rect">
            <a:avLst/>
          </a:prstGeom>
          <a:noFill/>
          <a:ln/>
        </p:spPr>
        <p:txBody>
          <a:bodyPr wrap="square" lIns="0" tIns="0" rIns="0" bIns="0" rtlCol="0" anchor="ctr"/>
          <a:lstStyle/>
          <a:p>
            <a:pPr indent="0" marL="0">
              <a:buNone/>
            </a:pPr>
            <a:r>
              <a:rPr lang="en-US" sz="1400" dirty="0">
                <a:solidFill>
                  <a:srgbClr val="1A2B3C"/>
                </a:solidFill>
                <a:latin typeface="Consolas" pitchFamily="34" charset="0"/>
                <a:ea typeface="Consolas" pitchFamily="34" charset="-122"/>
                <a:cs typeface="Consolas" pitchFamily="34" charset="-120"/>
              </a:rPr>
              <a:t>print(1 + 2 * 3)</a:t>
            </a:r>
            <a:endParaRPr lang="en-US" sz="1400" dirty="0"/>
          </a:p>
        </p:txBody>
      </p:sp>
      <p:sp>
        <p:nvSpPr>
          <p:cNvPr id="15" name="Text 13"/>
          <p:cNvSpPr/>
          <p:nvPr/>
        </p:nvSpPr>
        <p:spPr>
          <a:xfrm>
            <a:off x="7589520" y="1389888"/>
            <a:ext cx="1188720" cy="676656"/>
          </a:xfrm>
          <a:prstGeom prst="rect">
            <a:avLst/>
          </a:prstGeom>
          <a:noFill/>
          <a:ln/>
        </p:spPr>
        <p:txBody>
          <a:bodyPr wrap="square" lIns="0" tIns="0" rIns="0" bIns="0" rtlCol="0" anchor="ctr"/>
          <a:lstStyle/>
          <a:p>
            <a:pPr indent="0" marL="0">
              <a:buNone/>
            </a:pPr>
            <a:r>
              <a:rPr lang="en-US" sz="1500" b="1" dirty="0">
                <a:solidFill>
                  <a:srgbClr val="A64936"/>
                </a:solidFill>
                <a:latin typeface="Consolas" pitchFamily="34" charset="0"/>
                <a:ea typeface="Consolas" pitchFamily="34" charset="-122"/>
                <a:cs typeface="Consolas" pitchFamily="34" charset="-120"/>
              </a:rPr>
              <a:t>7</a:t>
            </a:r>
            <a:endParaRPr lang="en-US" sz="1500" dirty="0"/>
          </a:p>
        </p:txBody>
      </p:sp>
      <p:sp>
        <p:nvSpPr>
          <p:cNvPr id="16" name="Text 14"/>
          <p:cNvSpPr/>
          <p:nvPr/>
        </p:nvSpPr>
        <p:spPr>
          <a:xfrm>
            <a:off x="8732520" y="1389888"/>
            <a:ext cx="2788920" cy="676656"/>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Not 9. Multiplication still outranks addition.</a:t>
            </a:r>
            <a:endParaRPr lang="en-US" sz="1300" dirty="0"/>
          </a:p>
        </p:txBody>
      </p:sp>
      <p:sp>
        <p:nvSpPr>
          <p:cNvPr id="17" name="Shape 15"/>
          <p:cNvSpPr/>
          <p:nvPr/>
        </p:nvSpPr>
        <p:spPr>
          <a:xfrm>
            <a:off x="457200" y="2267712"/>
            <a:ext cx="11247120" cy="896112"/>
          </a:xfrm>
          <a:prstGeom prst="roundRect">
            <a:avLst>
              <a:gd name="adj" fmla="val 8163"/>
            </a:avLst>
          </a:prstGeom>
          <a:solidFill>
            <a:srgbClr val="F8EBE7"/>
          </a:solidFill>
          <a:ln w="12700">
            <a:solidFill>
              <a:srgbClr val="E8C8BF"/>
            </a:solidFill>
            <a:prstDash val="solid"/>
          </a:ln>
        </p:spPr>
      </p:sp>
      <p:sp>
        <p:nvSpPr>
          <p:cNvPr id="18" name="Text 16"/>
          <p:cNvSpPr/>
          <p:nvPr/>
        </p:nvSpPr>
        <p:spPr>
          <a:xfrm>
            <a:off x="640080" y="2377440"/>
            <a:ext cx="3291840" cy="676656"/>
          </a:xfrm>
          <a:prstGeom prst="rect">
            <a:avLst/>
          </a:prstGeom>
          <a:noFill/>
          <a:ln/>
        </p:spPr>
        <p:txBody>
          <a:bodyPr wrap="square" lIns="0" tIns="0" rIns="0" bIns="0" rtlCol="0" anchor="ctr"/>
          <a:lstStyle/>
          <a:p>
            <a:pPr indent="0" marL="0">
              <a:buNone/>
            </a:pPr>
            <a:r>
              <a:rPr lang="en-US" sz="1600" b="1" dirty="0">
                <a:solidFill>
                  <a:srgbClr val="0D3358"/>
                </a:solidFill>
                <a:latin typeface="Calibri" pitchFamily="34" charset="0"/>
                <a:ea typeface="Calibri" pitchFamily="34" charset="-122"/>
                <a:cs typeface="Calibri" pitchFamily="34" charset="-120"/>
              </a:rPr>
              <a:t>Forgetting left-to-right</a:t>
            </a:r>
            <a:endParaRPr lang="en-US" sz="1600" dirty="0"/>
          </a:p>
        </p:txBody>
      </p:sp>
      <p:sp>
        <p:nvSpPr>
          <p:cNvPr id="19" name="Text 17"/>
          <p:cNvSpPr/>
          <p:nvPr/>
        </p:nvSpPr>
        <p:spPr>
          <a:xfrm>
            <a:off x="3977640" y="2377440"/>
            <a:ext cx="3566160" cy="676656"/>
          </a:xfrm>
          <a:prstGeom prst="rect">
            <a:avLst/>
          </a:prstGeom>
          <a:noFill/>
          <a:ln/>
        </p:spPr>
        <p:txBody>
          <a:bodyPr wrap="square" lIns="0" tIns="0" rIns="0" bIns="0" rtlCol="0" anchor="ctr"/>
          <a:lstStyle/>
          <a:p>
            <a:pPr indent="0" marL="0">
              <a:buNone/>
            </a:pPr>
            <a:r>
              <a:rPr lang="en-US" sz="1400" dirty="0">
                <a:solidFill>
                  <a:srgbClr val="1A2B3C"/>
                </a:solidFill>
                <a:latin typeface="Consolas" pitchFamily="34" charset="0"/>
                <a:ea typeface="Consolas" pitchFamily="34" charset="-122"/>
                <a:cs typeface="Consolas" pitchFamily="34" charset="-120"/>
              </a:rPr>
              <a:t>print(10 / 2 * 5)</a:t>
            </a:r>
            <a:endParaRPr lang="en-US" sz="1400" dirty="0"/>
          </a:p>
        </p:txBody>
      </p:sp>
      <p:sp>
        <p:nvSpPr>
          <p:cNvPr id="20" name="Text 18"/>
          <p:cNvSpPr/>
          <p:nvPr/>
        </p:nvSpPr>
        <p:spPr>
          <a:xfrm>
            <a:off x="7589520" y="2377440"/>
            <a:ext cx="1188720" cy="676656"/>
          </a:xfrm>
          <a:prstGeom prst="rect">
            <a:avLst/>
          </a:prstGeom>
          <a:noFill/>
          <a:ln/>
        </p:spPr>
        <p:txBody>
          <a:bodyPr wrap="square" lIns="0" tIns="0" rIns="0" bIns="0" rtlCol="0" anchor="ctr"/>
          <a:lstStyle/>
          <a:p>
            <a:pPr indent="0" marL="0">
              <a:buNone/>
            </a:pPr>
            <a:r>
              <a:rPr lang="en-US" sz="1500" b="1" dirty="0">
                <a:solidFill>
                  <a:srgbClr val="A64936"/>
                </a:solidFill>
                <a:latin typeface="Consolas" pitchFamily="34" charset="0"/>
                <a:ea typeface="Consolas" pitchFamily="34" charset="-122"/>
                <a:cs typeface="Consolas" pitchFamily="34" charset="-120"/>
              </a:rPr>
              <a:t>25.0</a:t>
            </a:r>
            <a:endParaRPr lang="en-US" sz="1500" dirty="0"/>
          </a:p>
        </p:txBody>
      </p:sp>
      <p:sp>
        <p:nvSpPr>
          <p:cNvPr id="21" name="Text 19"/>
          <p:cNvSpPr/>
          <p:nvPr/>
        </p:nvSpPr>
        <p:spPr>
          <a:xfrm>
            <a:off x="8732520" y="2377440"/>
            <a:ext cx="2788920" cy="676656"/>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Not 1.0. Write 10 / (2 * 5) if that is the intent.</a:t>
            </a:r>
            <a:endParaRPr lang="en-US" sz="1300" dirty="0"/>
          </a:p>
        </p:txBody>
      </p:sp>
      <p:sp>
        <p:nvSpPr>
          <p:cNvPr id="22" name="Shape 20"/>
          <p:cNvSpPr/>
          <p:nvPr/>
        </p:nvSpPr>
        <p:spPr>
          <a:xfrm>
            <a:off x="457200" y="3255264"/>
            <a:ext cx="11247120" cy="896112"/>
          </a:xfrm>
          <a:prstGeom prst="roundRect">
            <a:avLst>
              <a:gd name="adj" fmla="val 8163"/>
            </a:avLst>
          </a:prstGeom>
          <a:solidFill>
            <a:srgbClr val="FFFFFF"/>
          </a:solidFill>
          <a:ln w="12700">
            <a:solidFill>
              <a:srgbClr val="E2E8EE"/>
            </a:solidFill>
            <a:prstDash val="solid"/>
          </a:ln>
        </p:spPr>
      </p:sp>
      <p:sp>
        <p:nvSpPr>
          <p:cNvPr id="23" name="Text 21"/>
          <p:cNvSpPr/>
          <p:nvPr/>
        </p:nvSpPr>
        <p:spPr>
          <a:xfrm>
            <a:off x="640080" y="3364992"/>
            <a:ext cx="3291840" cy="676656"/>
          </a:xfrm>
          <a:prstGeom prst="rect">
            <a:avLst/>
          </a:prstGeom>
          <a:noFill/>
          <a:ln/>
        </p:spPr>
        <p:txBody>
          <a:bodyPr wrap="square" lIns="0" tIns="0" rIns="0" bIns="0" rtlCol="0" anchor="ctr"/>
          <a:lstStyle/>
          <a:p>
            <a:pPr indent="0" marL="0">
              <a:buNone/>
            </a:pPr>
            <a:r>
              <a:rPr lang="en-US" sz="1600" b="1" dirty="0">
                <a:solidFill>
                  <a:srgbClr val="0D3358"/>
                </a:solidFill>
                <a:latin typeface="Calibri" pitchFamily="34" charset="0"/>
                <a:ea typeface="Calibri" pitchFamily="34" charset="-122"/>
                <a:cs typeface="Calibri" pitchFamily="34" charset="-120"/>
              </a:rPr>
              <a:t>Missing average parentheses</a:t>
            </a:r>
            <a:endParaRPr lang="en-US" sz="1600" dirty="0"/>
          </a:p>
        </p:txBody>
      </p:sp>
      <p:sp>
        <p:nvSpPr>
          <p:cNvPr id="24" name="Text 22"/>
          <p:cNvSpPr/>
          <p:nvPr/>
        </p:nvSpPr>
        <p:spPr>
          <a:xfrm>
            <a:off x="3977640" y="3364992"/>
            <a:ext cx="3566160" cy="676656"/>
          </a:xfrm>
          <a:prstGeom prst="rect">
            <a:avLst/>
          </a:prstGeom>
          <a:noFill/>
          <a:ln/>
        </p:spPr>
        <p:txBody>
          <a:bodyPr wrap="square" lIns="0" tIns="0" rIns="0" bIns="0" rtlCol="0" anchor="ctr"/>
          <a:lstStyle/>
          <a:p>
            <a:pPr indent="0" marL="0">
              <a:buNone/>
            </a:pPr>
            <a:r>
              <a:rPr lang="en-US" sz="1400" dirty="0">
                <a:solidFill>
                  <a:srgbClr val="1A2B3C"/>
                </a:solidFill>
                <a:latin typeface="Consolas" pitchFamily="34" charset="0"/>
                <a:ea typeface="Consolas" pitchFamily="34" charset="-122"/>
                <a:cs typeface="Consolas" pitchFamily="34" charset="-120"/>
              </a:rPr>
              <a:t>80 + 90 + 100 / 3</a:t>
            </a:r>
            <a:endParaRPr lang="en-US" sz="1400" dirty="0"/>
          </a:p>
        </p:txBody>
      </p:sp>
      <p:sp>
        <p:nvSpPr>
          <p:cNvPr id="25" name="Text 23"/>
          <p:cNvSpPr/>
          <p:nvPr/>
        </p:nvSpPr>
        <p:spPr>
          <a:xfrm>
            <a:off x="7589520" y="3364992"/>
            <a:ext cx="1188720" cy="676656"/>
          </a:xfrm>
          <a:prstGeom prst="rect">
            <a:avLst/>
          </a:prstGeom>
          <a:noFill/>
          <a:ln/>
        </p:spPr>
        <p:txBody>
          <a:bodyPr wrap="square" lIns="0" tIns="0" rIns="0" bIns="0" rtlCol="0" anchor="ctr"/>
          <a:lstStyle/>
          <a:p>
            <a:pPr indent="0" marL="0">
              <a:buNone/>
            </a:pPr>
            <a:r>
              <a:rPr lang="en-US" sz="1500" b="1" dirty="0">
                <a:solidFill>
                  <a:srgbClr val="A64936"/>
                </a:solidFill>
                <a:latin typeface="Consolas" pitchFamily="34" charset="0"/>
                <a:ea typeface="Consolas" pitchFamily="34" charset="-122"/>
                <a:cs typeface="Consolas" pitchFamily="34" charset="-120"/>
              </a:rPr>
              <a:t>203.3...</a:t>
            </a:r>
            <a:endParaRPr lang="en-US" sz="1500" dirty="0"/>
          </a:p>
        </p:txBody>
      </p:sp>
      <p:sp>
        <p:nvSpPr>
          <p:cNvPr id="26" name="Text 24"/>
          <p:cNvSpPr/>
          <p:nvPr/>
        </p:nvSpPr>
        <p:spPr>
          <a:xfrm>
            <a:off x="8732520" y="3364992"/>
            <a:ext cx="2788920" cy="676656"/>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Sum first: (80 + 90 + 100) / 3.</a:t>
            </a:r>
            <a:endParaRPr lang="en-US" sz="1300" dirty="0"/>
          </a:p>
        </p:txBody>
      </p:sp>
      <p:sp>
        <p:nvSpPr>
          <p:cNvPr id="27" name="Shape 25"/>
          <p:cNvSpPr/>
          <p:nvPr/>
        </p:nvSpPr>
        <p:spPr>
          <a:xfrm>
            <a:off x="457200" y="4242816"/>
            <a:ext cx="11247120" cy="896112"/>
          </a:xfrm>
          <a:prstGeom prst="roundRect">
            <a:avLst>
              <a:gd name="adj" fmla="val 8163"/>
            </a:avLst>
          </a:prstGeom>
          <a:solidFill>
            <a:srgbClr val="F8EBE7"/>
          </a:solidFill>
          <a:ln w="12700">
            <a:solidFill>
              <a:srgbClr val="E8C8BF"/>
            </a:solidFill>
            <a:prstDash val="solid"/>
          </a:ln>
        </p:spPr>
      </p:sp>
      <p:sp>
        <p:nvSpPr>
          <p:cNvPr id="28" name="Text 26"/>
          <p:cNvSpPr/>
          <p:nvPr/>
        </p:nvSpPr>
        <p:spPr>
          <a:xfrm>
            <a:off x="640080" y="4352544"/>
            <a:ext cx="3291840" cy="676656"/>
          </a:xfrm>
          <a:prstGeom prst="rect">
            <a:avLst/>
          </a:prstGeom>
          <a:noFill/>
          <a:ln/>
        </p:spPr>
        <p:txBody>
          <a:bodyPr wrap="square" lIns="0" tIns="0" rIns="0" bIns="0" rtlCol="0" anchor="ctr"/>
          <a:lstStyle/>
          <a:p>
            <a:pPr indent="0" marL="0">
              <a:buNone/>
            </a:pPr>
            <a:r>
              <a:rPr lang="en-US" sz="1600" b="1" dirty="0">
                <a:solidFill>
                  <a:srgbClr val="0D3358"/>
                </a:solidFill>
                <a:latin typeface="Calibri" pitchFamily="34" charset="0"/>
                <a:ea typeface="Calibri" pitchFamily="34" charset="-122"/>
                <a:cs typeface="Calibri" pitchFamily="34" charset="-120"/>
              </a:rPr>
              <a:t>Misreading stacked powers</a:t>
            </a:r>
            <a:endParaRPr lang="en-US" sz="1600" dirty="0"/>
          </a:p>
        </p:txBody>
      </p:sp>
      <p:sp>
        <p:nvSpPr>
          <p:cNvPr id="29" name="Text 27"/>
          <p:cNvSpPr/>
          <p:nvPr/>
        </p:nvSpPr>
        <p:spPr>
          <a:xfrm>
            <a:off x="3977640" y="4352544"/>
            <a:ext cx="3566160" cy="676656"/>
          </a:xfrm>
          <a:prstGeom prst="rect">
            <a:avLst/>
          </a:prstGeom>
          <a:noFill/>
          <a:ln/>
        </p:spPr>
        <p:txBody>
          <a:bodyPr wrap="square" lIns="0" tIns="0" rIns="0" bIns="0" rtlCol="0" anchor="ctr"/>
          <a:lstStyle/>
          <a:p>
            <a:pPr indent="0" marL="0">
              <a:buNone/>
            </a:pPr>
            <a:r>
              <a:rPr lang="en-US" sz="1400" dirty="0">
                <a:solidFill>
                  <a:srgbClr val="1A2B3C"/>
                </a:solidFill>
                <a:latin typeface="Consolas" pitchFamily="34" charset="0"/>
                <a:ea typeface="Consolas" pitchFamily="34" charset="-122"/>
                <a:cs typeface="Consolas" pitchFamily="34" charset="-120"/>
              </a:rPr>
              <a:t>print(2 ** 3 ** 2)</a:t>
            </a:r>
            <a:endParaRPr lang="en-US" sz="1400" dirty="0"/>
          </a:p>
        </p:txBody>
      </p:sp>
      <p:sp>
        <p:nvSpPr>
          <p:cNvPr id="30" name="Text 28"/>
          <p:cNvSpPr/>
          <p:nvPr/>
        </p:nvSpPr>
        <p:spPr>
          <a:xfrm>
            <a:off x="7589520" y="4352544"/>
            <a:ext cx="1188720" cy="676656"/>
          </a:xfrm>
          <a:prstGeom prst="rect">
            <a:avLst/>
          </a:prstGeom>
          <a:noFill/>
          <a:ln/>
        </p:spPr>
        <p:txBody>
          <a:bodyPr wrap="square" lIns="0" tIns="0" rIns="0" bIns="0" rtlCol="0" anchor="ctr"/>
          <a:lstStyle/>
          <a:p>
            <a:pPr indent="0" marL="0">
              <a:buNone/>
            </a:pPr>
            <a:r>
              <a:rPr lang="en-US" sz="1500" b="1" dirty="0">
                <a:solidFill>
                  <a:srgbClr val="A64936"/>
                </a:solidFill>
                <a:latin typeface="Consolas" pitchFamily="34" charset="0"/>
                <a:ea typeface="Consolas" pitchFamily="34" charset="-122"/>
                <a:cs typeface="Consolas" pitchFamily="34" charset="-120"/>
              </a:rPr>
              <a:t>512</a:t>
            </a:r>
            <a:endParaRPr lang="en-US" sz="1500" dirty="0"/>
          </a:p>
        </p:txBody>
      </p:sp>
      <p:sp>
        <p:nvSpPr>
          <p:cNvPr id="31" name="Text 29"/>
          <p:cNvSpPr/>
          <p:nvPr/>
        </p:nvSpPr>
        <p:spPr>
          <a:xfrm>
            <a:off x="8732520" y="4352544"/>
            <a:ext cx="2788920" cy="676656"/>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Right to left. (2 ** 3) ** 2 is 64.</a:t>
            </a:r>
            <a:endParaRPr lang="en-US" sz="1300" dirty="0"/>
          </a:p>
        </p:txBody>
      </p:sp>
      <p:sp>
        <p:nvSpPr>
          <p:cNvPr id="32" name="Shape 30"/>
          <p:cNvSpPr/>
          <p:nvPr/>
        </p:nvSpPr>
        <p:spPr>
          <a:xfrm>
            <a:off x="457200" y="5230368"/>
            <a:ext cx="11247120" cy="896112"/>
          </a:xfrm>
          <a:prstGeom prst="roundRect">
            <a:avLst>
              <a:gd name="adj" fmla="val 8163"/>
            </a:avLst>
          </a:prstGeom>
          <a:solidFill>
            <a:srgbClr val="FFFFFF"/>
          </a:solidFill>
          <a:ln w="12700">
            <a:solidFill>
              <a:srgbClr val="E2E8EE"/>
            </a:solidFill>
            <a:prstDash val="solid"/>
          </a:ln>
        </p:spPr>
      </p:sp>
      <p:sp>
        <p:nvSpPr>
          <p:cNvPr id="33" name="Text 31"/>
          <p:cNvSpPr/>
          <p:nvPr/>
        </p:nvSpPr>
        <p:spPr>
          <a:xfrm>
            <a:off x="640080" y="5340096"/>
            <a:ext cx="3291840" cy="676656"/>
          </a:xfrm>
          <a:prstGeom prst="rect">
            <a:avLst/>
          </a:prstGeom>
          <a:noFill/>
          <a:ln/>
        </p:spPr>
        <p:txBody>
          <a:bodyPr wrap="square" lIns="0" tIns="0" rIns="0" bIns="0" rtlCol="0" anchor="ctr"/>
          <a:lstStyle/>
          <a:p>
            <a:pPr indent="0" marL="0">
              <a:buNone/>
            </a:pPr>
            <a:r>
              <a:rPr lang="en-US" sz="1600" b="1" dirty="0">
                <a:solidFill>
                  <a:srgbClr val="0D3358"/>
                </a:solidFill>
                <a:latin typeface="Calibri" pitchFamily="34" charset="0"/>
                <a:ea typeface="Calibri" pitchFamily="34" charset="-122"/>
                <a:cs typeface="Calibri" pitchFamily="34" charset="-120"/>
              </a:rPr>
              <a:t>Mixing ** with *</a:t>
            </a:r>
            <a:endParaRPr lang="en-US" sz="1600" dirty="0"/>
          </a:p>
        </p:txBody>
      </p:sp>
      <p:sp>
        <p:nvSpPr>
          <p:cNvPr id="34" name="Text 32"/>
          <p:cNvSpPr/>
          <p:nvPr/>
        </p:nvSpPr>
        <p:spPr>
          <a:xfrm>
            <a:off x="3977640" y="5340096"/>
            <a:ext cx="3566160" cy="676656"/>
          </a:xfrm>
          <a:prstGeom prst="rect">
            <a:avLst/>
          </a:prstGeom>
          <a:noFill/>
          <a:ln/>
        </p:spPr>
        <p:txBody>
          <a:bodyPr wrap="square" lIns="0" tIns="0" rIns="0" bIns="0" rtlCol="0" anchor="ctr"/>
          <a:lstStyle/>
          <a:p>
            <a:pPr indent="0" marL="0">
              <a:buNone/>
            </a:pPr>
            <a:r>
              <a:rPr lang="en-US" sz="1400" dirty="0">
                <a:solidFill>
                  <a:srgbClr val="1A2B3C"/>
                </a:solidFill>
                <a:latin typeface="Consolas" pitchFamily="34" charset="0"/>
                <a:ea typeface="Consolas" pitchFamily="34" charset="-122"/>
                <a:cs typeface="Consolas" pitchFamily="34" charset="-120"/>
              </a:rPr>
              <a:t>print(2 ** 3 * 2)</a:t>
            </a:r>
            <a:endParaRPr lang="en-US" sz="1400" dirty="0"/>
          </a:p>
        </p:txBody>
      </p:sp>
      <p:sp>
        <p:nvSpPr>
          <p:cNvPr id="35" name="Text 33"/>
          <p:cNvSpPr/>
          <p:nvPr/>
        </p:nvSpPr>
        <p:spPr>
          <a:xfrm>
            <a:off x="7589520" y="5340096"/>
            <a:ext cx="1188720" cy="676656"/>
          </a:xfrm>
          <a:prstGeom prst="rect">
            <a:avLst/>
          </a:prstGeom>
          <a:noFill/>
          <a:ln/>
        </p:spPr>
        <p:txBody>
          <a:bodyPr wrap="square" lIns="0" tIns="0" rIns="0" bIns="0" rtlCol="0" anchor="ctr"/>
          <a:lstStyle/>
          <a:p>
            <a:pPr indent="0" marL="0">
              <a:buNone/>
            </a:pPr>
            <a:r>
              <a:rPr lang="en-US" sz="1500" b="1" dirty="0">
                <a:solidFill>
                  <a:srgbClr val="A64936"/>
                </a:solidFill>
                <a:latin typeface="Consolas" pitchFamily="34" charset="0"/>
                <a:ea typeface="Consolas" pitchFamily="34" charset="-122"/>
                <a:cs typeface="Consolas" pitchFamily="34" charset="-120"/>
              </a:rPr>
              <a:t>16</a:t>
            </a:r>
            <a:endParaRPr lang="en-US" sz="1500" dirty="0"/>
          </a:p>
        </p:txBody>
      </p:sp>
      <p:sp>
        <p:nvSpPr>
          <p:cNvPr id="36" name="Text 34"/>
          <p:cNvSpPr/>
          <p:nvPr/>
        </p:nvSpPr>
        <p:spPr>
          <a:xfrm>
            <a:off x="8732520" y="5340096"/>
            <a:ext cx="2788920" cy="676656"/>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(2 ** 3) * 2, not 2 ** 6.</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6F5"/>
        </a:solidFill>
      </p:bgPr>
    </p:bg>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0D3358"/>
          </a:solidFill>
          <a:ln w="12700">
            <a:solidFill>
              <a:srgbClr val="0D3358"/>
            </a:solidFill>
            <a:prstDash val="solid"/>
          </a:ln>
        </p:spPr>
      </p:sp>
      <p:sp>
        <p:nvSpPr>
          <p:cNvPr id="3" name="Shape 1"/>
          <p:cNvSpPr/>
          <p:nvPr/>
        </p:nvSpPr>
        <p:spPr>
          <a:xfrm>
            <a:off x="0" y="475488"/>
            <a:ext cx="12191695" cy="54864"/>
          </a:xfrm>
          <a:prstGeom prst="rect">
            <a:avLst/>
          </a:prstGeom>
          <a:solidFill>
            <a:srgbClr val="E1A244"/>
          </a:solidFill>
          <a:ln w="12700">
            <a:solidFill>
              <a:srgbClr val="E1A244"/>
            </a:solidFill>
            <a:prstDash val="solid"/>
          </a:ln>
        </p:spPr>
      </p:sp>
      <p:sp>
        <p:nvSpPr>
          <p:cNvPr id="4" name="Text 2"/>
          <p:cNvSpPr/>
          <p:nvPr/>
        </p:nvSpPr>
        <p:spPr>
          <a:xfrm>
            <a:off x="411480" y="73152"/>
            <a:ext cx="6583680" cy="32918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LogosTeach  ·  Computer Science 1</a:t>
            </a:r>
            <a:endParaRPr lang="en-US" sz="1300" dirty="0"/>
          </a:p>
        </p:txBody>
      </p:sp>
      <p:sp>
        <p:nvSpPr>
          <p:cNvPr id="5" name="Text 3"/>
          <p:cNvSpPr/>
          <p:nvPr/>
        </p:nvSpPr>
        <p:spPr>
          <a:xfrm>
            <a:off x="6949440" y="73152"/>
            <a:ext cx="4846320" cy="329184"/>
          </a:xfrm>
          <a:prstGeom prst="rect">
            <a:avLst/>
          </a:prstGeom>
          <a:noFill/>
          <a:ln/>
        </p:spPr>
        <p:txBody>
          <a:bodyPr wrap="square" lIns="0" tIns="0" rIns="0" bIns="0" rtlCol="0" anchor="ctr"/>
          <a:lstStyle/>
          <a:p>
            <a:pPr algn="r" indent="0" marL="0">
              <a:buNone/>
            </a:pPr>
            <a:r>
              <a:rPr lang="en-US" sz="1300" dirty="0">
                <a:solidFill>
                  <a:srgbClr val="E1A244"/>
                </a:solidFill>
                <a:latin typeface="Calibri" pitchFamily="34" charset="0"/>
                <a:ea typeface="Calibri" pitchFamily="34" charset="-122"/>
                <a:cs typeface="Calibri" pitchFamily="34" charset="-120"/>
              </a:rPr>
              <a:t>Unit 2  ·  Order of Operations</a:t>
            </a:r>
            <a:endParaRPr lang="en-US" sz="1300" dirty="0"/>
          </a:p>
        </p:txBody>
      </p:sp>
      <p:sp>
        <p:nvSpPr>
          <p:cNvPr id="6" name="Shape 4"/>
          <p:cNvSpPr/>
          <p:nvPr/>
        </p:nvSpPr>
        <p:spPr>
          <a:xfrm>
            <a:off x="0" y="6473952"/>
            <a:ext cx="12191695" cy="384048"/>
          </a:xfrm>
          <a:prstGeom prst="rect">
            <a:avLst/>
          </a:prstGeom>
          <a:solidFill>
            <a:srgbClr val="E8EEF3"/>
          </a:solidFill>
          <a:ln w="12700">
            <a:solidFill>
              <a:srgbClr val="E8EEF3"/>
            </a:solidFill>
            <a:prstDash val="solid"/>
          </a:ln>
        </p:spPr>
      </p:sp>
      <p:sp>
        <p:nvSpPr>
          <p:cNvPr id="7" name="Shape 5"/>
          <p:cNvSpPr/>
          <p:nvPr/>
        </p:nvSpPr>
        <p:spPr>
          <a:xfrm>
            <a:off x="0" y="6473952"/>
            <a:ext cx="12191695" cy="32004"/>
          </a:xfrm>
          <a:prstGeom prst="rect">
            <a:avLst/>
          </a:prstGeom>
          <a:solidFill>
            <a:srgbClr val="E1A244"/>
          </a:solidFill>
          <a:ln w="12700">
            <a:solidFill>
              <a:srgbClr val="E1A244"/>
            </a:solidFill>
            <a:prstDash val="solid"/>
          </a:ln>
        </p:spPr>
      </p:sp>
      <p:sp>
        <p:nvSpPr>
          <p:cNvPr id="8" name="Text 6"/>
          <p:cNvSpPr/>
          <p:nvPr/>
        </p:nvSpPr>
        <p:spPr>
          <a:xfrm>
            <a:off x="411480" y="6528816"/>
            <a:ext cx="8595360" cy="274320"/>
          </a:xfrm>
          <a:prstGeom prst="rect">
            <a:avLst/>
          </a:prstGeom>
          <a:noFill/>
          <a:ln/>
        </p:spPr>
        <p:txBody>
          <a:bodyPr wrap="square" lIns="0" tIns="0" rIns="0" bIns="0" rtlCol="0" anchor="ctr"/>
          <a:lstStyle/>
          <a:p>
            <a:pPr indent="0" marL="0">
              <a:buNone/>
            </a:pPr>
            <a:r>
              <a:rPr lang="en-US" sz="1100" dirty="0">
                <a:solidFill>
                  <a:srgbClr val="5A6A7A"/>
                </a:solidFill>
                <a:latin typeface="Calibri" pitchFamily="34" charset="0"/>
                <a:ea typeface="Calibri" pitchFamily="34" charset="-122"/>
                <a:cs typeface="Calibri" pitchFamily="34" charset="-120"/>
              </a:rPr>
              <a:t>Copyright 2026 LogosTeach  ·  All Rights Reserved</a:t>
            </a:r>
            <a:endParaRPr lang="en-US" sz="1100" dirty="0"/>
          </a:p>
        </p:txBody>
      </p:sp>
      <p:sp>
        <p:nvSpPr>
          <p:cNvPr id="9" name="Text 7"/>
          <p:cNvSpPr/>
          <p:nvPr/>
        </p:nvSpPr>
        <p:spPr>
          <a:xfrm>
            <a:off x="9509760" y="6528816"/>
            <a:ext cx="2286000" cy="274320"/>
          </a:xfrm>
          <a:prstGeom prst="rect">
            <a:avLst/>
          </a:prstGeom>
          <a:noFill/>
          <a:ln/>
        </p:spPr>
        <p:txBody>
          <a:bodyPr wrap="square" lIns="0" tIns="0" rIns="0" bIns="0" rtlCol="0" anchor="ctr"/>
          <a:lstStyle/>
          <a:p>
            <a:pPr algn="r" indent="0" marL="0">
              <a:buNone/>
            </a:pPr>
            <a:r>
              <a:rPr lang="en-US" sz="1100" dirty="0">
                <a:solidFill>
                  <a:srgbClr val="0D3358"/>
                </a:solidFill>
                <a:latin typeface="Calibri" pitchFamily="34" charset="0"/>
                <a:ea typeface="Calibri" pitchFamily="34" charset="-122"/>
                <a:cs typeface="Calibri" pitchFamily="34" charset="-120"/>
              </a:rPr>
              <a:t>13  /  14</a:t>
            </a:r>
            <a:endParaRPr lang="en-US" sz="1100" dirty="0"/>
          </a:p>
        </p:txBody>
      </p:sp>
      <p:sp>
        <p:nvSpPr>
          <p:cNvPr id="10" name="Text 8"/>
          <p:cNvSpPr/>
          <p:nvPr/>
        </p:nvSpPr>
        <p:spPr>
          <a:xfrm>
            <a:off x="457200" y="658368"/>
            <a:ext cx="11247120" cy="384048"/>
          </a:xfrm>
          <a:prstGeom prst="rect">
            <a:avLst/>
          </a:prstGeom>
          <a:noFill/>
          <a:ln/>
        </p:spPr>
        <p:txBody>
          <a:bodyPr wrap="square" lIns="0" tIns="0" rIns="0" bIns="0" rtlCol="0" anchor="ctr"/>
          <a:lstStyle/>
          <a:p>
            <a:pPr indent="0" marL="0">
              <a:buNone/>
            </a:pPr>
            <a:r>
              <a:rPr lang="en-US" sz="2800" b="1" dirty="0">
                <a:solidFill>
                  <a:srgbClr val="0D3358"/>
                </a:solidFill>
                <a:latin typeface="Calibri" pitchFamily="34" charset="0"/>
                <a:ea typeface="Calibri" pitchFamily="34" charset="-122"/>
                <a:cs typeface="Calibri" pitchFamily="34" charset="-120"/>
              </a:rPr>
              <a:t>Some Steps Must Wait</a:t>
            </a:r>
            <a:endParaRPr lang="en-US" sz="2800" dirty="0"/>
          </a:p>
        </p:txBody>
      </p:sp>
      <p:sp>
        <p:nvSpPr>
          <p:cNvPr id="11" name="Shape 9"/>
          <p:cNvSpPr/>
          <p:nvPr/>
        </p:nvSpPr>
        <p:spPr>
          <a:xfrm>
            <a:off x="457200" y="1060704"/>
            <a:ext cx="1234440" cy="50292"/>
          </a:xfrm>
          <a:prstGeom prst="rect">
            <a:avLst/>
          </a:prstGeom>
          <a:solidFill>
            <a:srgbClr val="E1A244"/>
          </a:solidFill>
          <a:ln w="12700">
            <a:solidFill>
              <a:srgbClr val="E1A244"/>
            </a:solidFill>
            <a:prstDash val="solid"/>
          </a:ln>
        </p:spPr>
      </p:sp>
      <p:sp>
        <p:nvSpPr>
          <p:cNvPr id="12" name="Shape 10"/>
          <p:cNvSpPr/>
          <p:nvPr/>
        </p:nvSpPr>
        <p:spPr>
          <a:xfrm>
            <a:off x="457200" y="1353312"/>
            <a:ext cx="11247120" cy="2011680"/>
          </a:xfrm>
          <a:prstGeom prst="roundRect">
            <a:avLst>
              <a:gd name="adj" fmla="val 3636"/>
            </a:avLst>
          </a:prstGeom>
          <a:solidFill>
            <a:srgbClr val="FFF9F0"/>
          </a:solidFill>
          <a:ln w="12700">
            <a:solidFill>
              <a:srgbClr val="E8D9B8"/>
            </a:solidFill>
            <a:prstDash val="solid"/>
          </a:ln>
        </p:spPr>
      </p:sp>
      <p:sp>
        <p:nvSpPr>
          <p:cNvPr id="13" name="Text 11"/>
          <p:cNvSpPr/>
          <p:nvPr/>
        </p:nvSpPr>
        <p:spPr>
          <a:xfrm>
            <a:off x="731520" y="1554480"/>
            <a:ext cx="10698480" cy="1097280"/>
          </a:xfrm>
          <a:prstGeom prst="rect">
            <a:avLst/>
          </a:prstGeom>
          <a:noFill/>
          <a:ln/>
        </p:spPr>
        <p:txBody>
          <a:bodyPr wrap="square" lIns="0" tIns="0" rIns="0" bIns="0" rtlCol="0" anchor="ctr"/>
          <a:lstStyle/>
          <a:p>
            <a:pPr indent="0" marL="0">
              <a:buNone/>
            </a:pPr>
            <a:r>
              <a:rPr lang="en-US" sz="2400" i="1" dirty="0">
                <a:solidFill>
                  <a:srgbClr val="0D3358"/>
                </a:solidFill>
                <a:latin typeface="Calibri" pitchFamily="34" charset="0"/>
                <a:ea typeface="Calibri" pitchFamily="34" charset="-122"/>
                <a:cs typeface="Calibri" pitchFamily="34" charset="-120"/>
              </a:rPr>
              <a:t>I still have many things to say to you, but you cannot bear them now.</a:t>
            </a:r>
            <a:endParaRPr lang="en-US" sz="2400" dirty="0"/>
          </a:p>
        </p:txBody>
      </p:sp>
      <p:sp>
        <p:nvSpPr>
          <p:cNvPr id="14" name="Text 12"/>
          <p:cNvSpPr/>
          <p:nvPr/>
        </p:nvSpPr>
        <p:spPr>
          <a:xfrm>
            <a:off x="731520" y="2743200"/>
            <a:ext cx="10698480" cy="365760"/>
          </a:xfrm>
          <a:prstGeom prst="rect">
            <a:avLst/>
          </a:prstGeom>
          <a:noFill/>
          <a:ln/>
        </p:spPr>
        <p:txBody>
          <a:bodyPr wrap="square" lIns="0" tIns="0" rIns="0" bIns="0" rtlCol="0" anchor="ctr"/>
          <a:lstStyle/>
          <a:p>
            <a:pPr indent="0" marL="0">
              <a:buNone/>
            </a:pPr>
            <a:r>
              <a:rPr lang="en-US" sz="1400" b="1" dirty="0">
                <a:solidFill>
                  <a:srgbClr val="1A7070"/>
                </a:solidFill>
                <a:latin typeface="Calibri" pitchFamily="34" charset="0"/>
                <a:ea typeface="Calibri" pitchFamily="34" charset="-122"/>
                <a:cs typeface="Calibri" pitchFamily="34" charset="-120"/>
              </a:rPr>
              <a:t>John 16:12  ·  NKJV</a:t>
            </a:r>
            <a:endParaRPr lang="en-US" sz="1400" dirty="0"/>
          </a:p>
        </p:txBody>
      </p:sp>
      <p:sp>
        <p:nvSpPr>
          <p:cNvPr id="15" name="Shape 13"/>
          <p:cNvSpPr/>
          <p:nvPr/>
        </p:nvSpPr>
        <p:spPr>
          <a:xfrm>
            <a:off x="457200" y="3547872"/>
            <a:ext cx="5532120" cy="2651760"/>
          </a:xfrm>
          <a:prstGeom prst="roundRect">
            <a:avLst>
              <a:gd name="adj" fmla="val 2759"/>
            </a:avLst>
          </a:prstGeom>
          <a:solidFill>
            <a:srgbClr val="FFFFFF"/>
          </a:solidFill>
          <a:ln w="12700">
            <a:solidFill>
              <a:srgbClr val="E2E8EE"/>
            </a:solidFill>
            <a:prstDash val="solid"/>
          </a:ln>
        </p:spPr>
      </p:sp>
      <p:sp>
        <p:nvSpPr>
          <p:cNvPr id="16" name="Shape 14"/>
          <p:cNvSpPr/>
          <p:nvPr/>
        </p:nvSpPr>
        <p:spPr>
          <a:xfrm>
            <a:off x="457200" y="3547872"/>
            <a:ext cx="109728" cy="2651760"/>
          </a:xfrm>
          <a:prstGeom prst="rect">
            <a:avLst/>
          </a:prstGeom>
          <a:solidFill>
            <a:srgbClr val="1A7070"/>
          </a:solidFill>
          <a:ln w="12700">
            <a:solidFill>
              <a:srgbClr val="1A7070"/>
            </a:solidFill>
            <a:prstDash val="solid"/>
          </a:ln>
        </p:spPr>
      </p:sp>
      <p:sp>
        <p:nvSpPr>
          <p:cNvPr id="17" name="Text 15"/>
          <p:cNvSpPr/>
          <p:nvPr/>
        </p:nvSpPr>
        <p:spPr>
          <a:xfrm>
            <a:off x="749808" y="3712464"/>
            <a:ext cx="5029200" cy="274320"/>
          </a:xfrm>
          <a:prstGeom prst="rect">
            <a:avLst/>
          </a:prstGeom>
          <a:noFill/>
          <a:ln/>
        </p:spPr>
        <p:txBody>
          <a:bodyPr wrap="square" lIns="0" tIns="0" rIns="0" bIns="0" rtlCol="0" anchor="ctr"/>
          <a:lstStyle/>
          <a:p>
            <a:pPr indent="0" marL="0">
              <a:buNone/>
            </a:pPr>
            <a:r>
              <a:rPr lang="en-US" sz="1300" b="1" dirty="0">
                <a:solidFill>
                  <a:srgbClr val="1A7070"/>
                </a:solidFill>
                <a:latin typeface="Calibri" pitchFamily="34" charset="0"/>
                <a:ea typeface="Calibri" pitchFamily="34" charset="-122"/>
                <a:cs typeface="Calibri" pitchFamily="34" charset="-120"/>
              </a:rPr>
              <a:t>IN THE EXPRESSION</a:t>
            </a:r>
            <a:endParaRPr lang="en-US" sz="1300" dirty="0"/>
          </a:p>
        </p:txBody>
      </p:sp>
      <p:sp>
        <p:nvSpPr>
          <p:cNvPr id="18" name="Text 16"/>
          <p:cNvSpPr/>
          <p:nvPr/>
        </p:nvSpPr>
        <p:spPr>
          <a:xfrm>
            <a:off x="749808" y="4059936"/>
            <a:ext cx="5029200" cy="1920240"/>
          </a:xfrm>
          <a:prstGeom prst="rect">
            <a:avLst/>
          </a:prstGeom>
          <a:noFill/>
          <a:ln/>
        </p:spPr>
        <p:txBody>
          <a:bodyPr wrap="square" lIns="0" tIns="0" rIns="0" bIns="0" rtlCol="0" anchor="ctr"/>
          <a:lstStyle/>
          <a:p>
            <a:pPr indent="0" marL="0">
              <a:buNone/>
            </a:pPr>
            <a:r>
              <a:rPr lang="en-US" sz="1600" dirty="0">
                <a:solidFill>
                  <a:srgbClr val="2A2A2A"/>
                </a:solidFill>
                <a:latin typeface="Calibri" pitchFamily="34" charset="0"/>
                <a:ea typeface="Calibri" pitchFamily="34" charset="-122"/>
                <a:cs typeface="Calibri" pitchFamily="34" charset="-120"/>
              </a:rPr>
              <a:t>Addition waits. The multiply, the power, and the grouping finish first. Skip a required step and the result is simply wrong.</a:t>
            </a:r>
            <a:endParaRPr lang="en-US" sz="1600" dirty="0"/>
          </a:p>
        </p:txBody>
      </p:sp>
      <p:sp>
        <p:nvSpPr>
          <p:cNvPr id="19" name="Shape 17"/>
          <p:cNvSpPr/>
          <p:nvPr/>
        </p:nvSpPr>
        <p:spPr>
          <a:xfrm>
            <a:off x="6172200" y="3547872"/>
            <a:ext cx="5532120" cy="2651760"/>
          </a:xfrm>
          <a:prstGeom prst="roundRect">
            <a:avLst>
              <a:gd name="adj" fmla="val 2759"/>
            </a:avLst>
          </a:prstGeom>
          <a:solidFill>
            <a:srgbClr val="FFFFFF"/>
          </a:solidFill>
          <a:ln w="12700">
            <a:solidFill>
              <a:srgbClr val="E2E8EE"/>
            </a:solidFill>
            <a:prstDash val="solid"/>
          </a:ln>
        </p:spPr>
      </p:sp>
      <p:sp>
        <p:nvSpPr>
          <p:cNvPr id="20" name="Shape 18"/>
          <p:cNvSpPr/>
          <p:nvPr/>
        </p:nvSpPr>
        <p:spPr>
          <a:xfrm>
            <a:off x="6172200" y="3547872"/>
            <a:ext cx="109728" cy="2651760"/>
          </a:xfrm>
          <a:prstGeom prst="rect">
            <a:avLst/>
          </a:prstGeom>
          <a:solidFill>
            <a:srgbClr val="D08F3C"/>
          </a:solidFill>
          <a:ln w="12700">
            <a:solidFill>
              <a:srgbClr val="D08F3C"/>
            </a:solidFill>
            <a:prstDash val="solid"/>
          </a:ln>
        </p:spPr>
      </p:sp>
      <p:sp>
        <p:nvSpPr>
          <p:cNvPr id="21" name="Text 19"/>
          <p:cNvSpPr/>
          <p:nvPr/>
        </p:nvSpPr>
        <p:spPr>
          <a:xfrm>
            <a:off x="6464808" y="3712464"/>
            <a:ext cx="5029200" cy="274320"/>
          </a:xfrm>
          <a:prstGeom prst="rect">
            <a:avLst/>
          </a:prstGeom>
          <a:noFill/>
          <a:ln/>
        </p:spPr>
        <p:txBody>
          <a:bodyPr wrap="square" lIns="0" tIns="0" rIns="0" bIns="0" rtlCol="0" anchor="ctr"/>
          <a:lstStyle/>
          <a:p>
            <a:pPr indent="0" marL="0">
              <a:buNone/>
            </a:pPr>
            <a:r>
              <a:rPr lang="en-US" sz="1300" b="1" dirty="0">
                <a:solidFill>
                  <a:srgbClr val="D08F3C"/>
                </a:solidFill>
                <a:latin typeface="Calibri" pitchFamily="34" charset="0"/>
                <a:ea typeface="Calibri" pitchFamily="34" charset="-122"/>
                <a:cs typeface="Calibri" pitchFamily="34" charset="-120"/>
              </a:rPr>
              <a:t>IN THE CHRISTIAN LIFE</a:t>
            </a:r>
            <a:endParaRPr lang="en-US" sz="1300" dirty="0"/>
          </a:p>
        </p:txBody>
      </p:sp>
      <p:sp>
        <p:nvSpPr>
          <p:cNvPr id="22" name="Text 20"/>
          <p:cNvSpPr/>
          <p:nvPr/>
        </p:nvSpPr>
        <p:spPr>
          <a:xfrm>
            <a:off x="6464808" y="4059936"/>
            <a:ext cx="5029200" cy="1920240"/>
          </a:xfrm>
          <a:prstGeom prst="rect">
            <a:avLst/>
          </a:prstGeom>
          <a:noFill/>
          <a:ln/>
        </p:spPr>
        <p:txBody>
          <a:bodyPr wrap="square" lIns="0" tIns="0" rIns="0" bIns="0" rtlCol="0" anchor="ctr"/>
          <a:lstStyle/>
          <a:p>
            <a:pPr indent="0" marL="0">
              <a:buNone/>
            </a:pPr>
            <a:r>
              <a:rPr lang="en-US" sz="1600" dirty="0">
                <a:solidFill>
                  <a:srgbClr val="2A2A2A"/>
                </a:solidFill>
                <a:latin typeface="Calibri" pitchFamily="34" charset="0"/>
                <a:ea typeface="Calibri" pitchFamily="34" charset="-122"/>
                <a:cs typeface="Calibri" pitchFamily="34" charset="-120"/>
              </a:rPr>
              <a:t>Jesus told the disciples some words would wait. The Lord is not late. He gives what we can bear when we can bear it. Waiting on His timing is part of walking with Him.</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6F5"/>
        </a:solidFill>
      </p:bgPr>
    </p:bg>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0D3358"/>
          </a:solidFill>
          <a:ln w="12700">
            <a:solidFill>
              <a:srgbClr val="0D3358"/>
            </a:solidFill>
            <a:prstDash val="solid"/>
          </a:ln>
        </p:spPr>
      </p:sp>
      <p:sp>
        <p:nvSpPr>
          <p:cNvPr id="3" name="Shape 1"/>
          <p:cNvSpPr/>
          <p:nvPr/>
        </p:nvSpPr>
        <p:spPr>
          <a:xfrm>
            <a:off x="0" y="475488"/>
            <a:ext cx="12191695" cy="54864"/>
          </a:xfrm>
          <a:prstGeom prst="rect">
            <a:avLst/>
          </a:prstGeom>
          <a:solidFill>
            <a:srgbClr val="E1A244"/>
          </a:solidFill>
          <a:ln w="12700">
            <a:solidFill>
              <a:srgbClr val="E1A244"/>
            </a:solidFill>
            <a:prstDash val="solid"/>
          </a:ln>
        </p:spPr>
      </p:sp>
      <p:sp>
        <p:nvSpPr>
          <p:cNvPr id="4" name="Text 2"/>
          <p:cNvSpPr/>
          <p:nvPr/>
        </p:nvSpPr>
        <p:spPr>
          <a:xfrm>
            <a:off x="411480" y="73152"/>
            <a:ext cx="6583680" cy="32918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LogosTeach  ·  Computer Science 1</a:t>
            </a:r>
            <a:endParaRPr lang="en-US" sz="1300" dirty="0"/>
          </a:p>
        </p:txBody>
      </p:sp>
      <p:sp>
        <p:nvSpPr>
          <p:cNvPr id="5" name="Text 3"/>
          <p:cNvSpPr/>
          <p:nvPr/>
        </p:nvSpPr>
        <p:spPr>
          <a:xfrm>
            <a:off x="6949440" y="73152"/>
            <a:ext cx="4846320" cy="329184"/>
          </a:xfrm>
          <a:prstGeom prst="rect">
            <a:avLst/>
          </a:prstGeom>
          <a:noFill/>
          <a:ln/>
        </p:spPr>
        <p:txBody>
          <a:bodyPr wrap="square" lIns="0" tIns="0" rIns="0" bIns="0" rtlCol="0" anchor="ctr"/>
          <a:lstStyle/>
          <a:p>
            <a:pPr algn="r" indent="0" marL="0">
              <a:buNone/>
            </a:pPr>
            <a:r>
              <a:rPr lang="en-US" sz="1300" dirty="0">
                <a:solidFill>
                  <a:srgbClr val="E1A244"/>
                </a:solidFill>
                <a:latin typeface="Calibri" pitchFamily="34" charset="0"/>
                <a:ea typeface="Calibri" pitchFamily="34" charset="-122"/>
                <a:cs typeface="Calibri" pitchFamily="34" charset="-120"/>
              </a:rPr>
              <a:t>Unit 2  ·  Order of Operations</a:t>
            </a:r>
            <a:endParaRPr lang="en-US" sz="1300" dirty="0"/>
          </a:p>
        </p:txBody>
      </p:sp>
      <p:sp>
        <p:nvSpPr>
          <p:cNvPr id="6" name="Shape 4"/>
          <p:cNvSpPr/>
          <p:nvPr/>
        </p:nvSpPr>
        <p:spPr>
          <a:xfrm>
            <a:off x="0" y="6473952"/>
            <a:ext cx="12191695" cy="384048"/>
          </a:xfrm>
          <a:prstGeom prst="rect">
            <a:avLst/>
          </a:prstGeom>
          <a:solidFill>
            <a:srgbClr val="E8EEF3"/>
          </a:solidFill>
          <a:ln w="12700">
            <a:solidFill>
              <a:srgbClr val="E8EEF3"/>
            </a:solidFill>
            <a:prstDash val="solid"/>
          </a:ln>
        </p:spPr>
      </p:sp>
      <p:sp>
        <p:nvSpPr>
          <p:cNvPr id="7" name="Shape 5"/>
          <p:cNvSpPr/>
          <p:nvPr/>
        </p:nvSpPr>
        <p:spPr>
          <a:xfrm>
            <a:off x="0" y="6473952"/>
            <a:ext cx="12191695" cy="32004"/>
          </a:xfrm>
          <a:prstGeom prst="rect">
            <a:avLst/>
          </a:prstGeom>
          <a:solidFill>
            <a:srgbClr val="E1A244"/>
          </a:solidFill>
          <a:ln w="12700">
            <a:solidFill>
              <a:srgbClr val="E1A244"/>
            </a:solidFill>
            <a:prstDash val="solid"/>
          </a:ln>
        </p:spPr>
      </p:sp>
      <p:sp>
        <p:nvSpPr>
          <p:cNvPr id="8" name="Text 6"/>
          <p:cNvSpPr/>
          <p:nvPr/>
        </p:nvSpPr>
        <p:spPr>
          <a:xfrm>
            <a:off x="411480" y="6528816"/>
            <a:ext cx="8595360" cy="274320"/>
          </a:xfrm>
          <a:prstGeom prst="rect">
            <a:avLst/>
          </a:prstGeom>
          <a:noFill/>
          <a:ln/>
        </p:spPr>
        <p:txBody>
          <a:bodyPr wrap="square" lIns="0" tIns="0" rIns="0" bIns="0" rtlCol="0" anchor="ctr"/>
          <a:lstStyle/>
          <a:p>
            <a:pPr indent="0" marL="0">
              <a:buNone/>
            </a:pPr>
            <a:r>
              <a:rPr lang="en-US" sz="1100" dirty="0">
                <a:solidFill>
                  <a:srgbClr val="5A6A7A"/>
                </a:solidFill>
                <a:latin typeface="Calibri" pitchFamily="34" charset="0"/>
                <a:ea typeface="Calibri" pitchFamily="34" charset="-122"/>
                <a:cs typeface="Calibri" pitchFamily="34" charset="-120"/>
              </a:rPr>
              <a:t>Copyright 2026 LogosTeach  ·  All Rights Reserved</a:t>
            </a:r>
            <a:endParaRPr lang="en-US" sz="1100" dirty="0"/>
          </a:p>
        </p:txBody>
      </p:sp>
      <p:sp>
        <p:nvSpPr>
          <p:cNvPr id="9" name="Text 7"/>
          <p:cNvSpPr/>
          <p:nvPr/>
        </p:nvSpPr>
        <p:spPr>
          <a:xfrm>
            <a:off x="9509760" y="6528816"/>
            <a:ext cx="2286000" cy="274320"/>
          </a:xfrm>
          <a:prstGeom prst="rect">
            <a:avLst/>
          </a:prstGeom>
          <a:noFill/>
          <a:ln/>
        </p:spPr>
        <p:txBody>
          <a:bodyPr wrap="square" lIns="0" tIns="0" rIns="0" bIns="0" rtlCol="0" anchor="ctr"/>
          <a:lstStyle/>
          <a:p>
            <a:pPr algn="r" indent="0" marL="0">
              <a:buNone/>
            </a:pPr>
            <a:r>
              <a:rPr lang="en-US" sz="1100" dirty="0">
                <a:solidFill>
                  <a:srgbClr val="0D3358"/>
                </a:solidFill>
                <a:latin typeface="Calibri" pitchFamily="34" charset="0"/>
                <a:ea typeface="Calibri" pitchFamily="34" charset="-122"/>
                <a:cs typeface="Calibri" pitchFamily="34" charset="-120"/>
              </a:rPr>
              <a:t>14  /  14</a:t>
            </a:r>
            <a:endParaRPr lang="en-US" sz="1100" dirty="0"/>
          </a:p>
        </p:txBody>
      </p:sp>
      <p:sp>
        <p:nvSpPr>
          <p:cNvPr id="10" name="Text 8"/>
          <p:cNvSpPr/>
          <p:nvPr/>
        </p:nvSpPr>
        <p:spPr>
          <a:xfrm>
            <a:off x="457200" y="658368"/>
            <a:ext cx="11247120" cy="384048"/>
          </a:xfrm>
          <a:prstGeom prst="rect">
            <a:avLst/>
          </a:prstGeom>
          <a:noFill/>
          <a:ln/>
        </p:spPr>
        <p:txBody>
          <a:bodyPr wrap="square" lIns="0" tIns="0" rIns="0" bIns="0" rtlCol="0" anchor="ctr"/>
          <a:lstStyle/>
          <a:p>
            <a:pPr indent="0" marL="0">
              <a:buNone/>
            </a:pPr>
            <a:r>
              <a:rPr lang="en-US" sz="2800" b="1" dirty="0">
                <a:solidFill>
                  <a:srgbClr val="0D3358"/>
                </a:solidFill>
                <a:latin typeface="Calibri" pitchFamily="34" charset="0"/>
                <a:ea typeface="Calibri" pitchFamily="34" charset="-122"/>
                <a:cs typeface="Calibri" pitchFamily="34" charset="-120"/>
              </a:rPr>
              <a:t>Summary</a:t>
            </a:r>
            <a:endParaRPr lang="en-US" sz="2800" dirty="0"/>
          </a:p>
        </p:txBody>
      </p:sp>
      <p:sp>
        <p:nvSpPr>
          <p:cNvPr id="11" name="Shape 9"/>
          <p:cNvSpPr/>
          <p:nvPr/>
        </p:nvSpPr>
        <p:spPr>
          <a:xfrm>
            <a:off x="457200" y="1060704"/>
            <a:ext cx="1234440" cy="50292"/>
          </a:xfrm>
          <a:prstGeom prst="rect">
            <a:avLst/>
          </a:prstGeom>
          <a:solidFill>
            <a:srgbClr val="E1A244"/>
          </a:solidFill>
          <a:ln w="12700">
            <a:solidFill>
              <a:srgbClr val="E1A244"/>
            </a:solidFill>
            <a:prstDash val="solid"/>
          </a:ln>
        </p:spPr>
      </p:sp>
      <p:sp>
        <p:nvSpPr>
          <p:cNvPr id="12" name="Shape 10"/>
          <p:cNvSpPr/>
          <p:nvPr/>
        </p:nvSpPr>
        <p:spPr>
          <a:xfrm>
            <a:off x="457200" y="1325880"/>
            <a:ext cx="5669280" cy="1298448"/>
          </a:xfrm>
          <a:prstGeom prst="roundRect">
            <a:avLst>
              <a:gd name="adj" fmla="val 5634"/>
            </a:avLst>
          </a:prstGeom>
          <a:solidFill>
            <a:srgbClr val="FFFFFF"/>
          </a:solidFill>
          <a:ln w="12700">
            <a:solidFill>
              <a:srgbClr val="E2E8EE"/>
            </a:solidFill>
            <a:prstDash val="solid"/>
          </a:ln>
        </p:spPr>
      </p:sp>
      <p:sp>
        <p:nvSpPr>
          <p:cNvPr id="13" name="Shape 11"/>
          <p:cNvSpPr/>
          <p:nvPr/>
        </p:nvSpPr>
        <p:spPr>
          <a:xfrm>
            <a:off x="457200" y="1325880"/>
            <a:ext cx="109728" cy="1298448"/>
          </a:xfrm>
          <a:prstGeom prst="rect">
            <a:avLst/>
          </a:prstGeom>
          <a:solidFill>
            <a:srgbClr val="1A7070"/>
          </a:solidFill>
          <a:ln w="12700">
            <a:solidFill>
              <a:srgbClr val="1A7070"/>
            </a:solidFill>
            <a:prstDash val="solid"/>
          </a:ln>
        </p:spPr>
      </p:sp>
      <p:sp>
        <p:nvSpPr>
          <p:cNvPr id="14" name="Text 12"/>
          <p:cNvSpPr/>
          <p:nvPr/>
        </p:nvSpPr>
        <p:spPr>
          <a:xfrm>
            <a:off x="749808" y="1453896"/>
            <a:ext cx="5212080" cy="365760"/>
          </a:xfrm>
          <a:prstGeom prst="rect">
            <a:avLst/>
          </a:prstGeom>
          <a:noFill/>
          <a:ln/>
        </p:spPr>
        <p:txBody>
          <a:bodyPr wrap="square" lIns="0" tIns="0" rIns="0" bIns="0" rtlCol="0" anchor="ctr"/>
          <a:lstStyle/>
          <a:p>
            <a:pPr indent="0" marL="0">
              <a:buNone/>
            </a:pPr>
            <a:r>
              <a:rPr lang="en-US" sz="1600" b="1" dirty="0">
                <a:solidFill>
                  <a:srgbClr val="0D3358"/>
                </a:solidFill>
                <a:latin typeface="Calibri" pitchFamily="34" charset="0"/>
                <a:ea typeface="Calibri" pitchFamily="34" charset="-122"/>
                <a:cs typeface="Calibri" pitchFamily="34" charset="-120"/>
              </a:rPr>
              <a:t>Seven operators, four ranks.</a:t>
            </a:r>
            <a:endParaRPr lang="en-US" sz="1600" dirty="0"/>
          </a:p>
        </p:txBody>
      </p:sp>
      <p:sp>
        <p:nvSpPr>
          <p:cNvPr id="15" name="Text 13"/>
          <p:cNvSpPr/>
          <p:nvPr/>
        </p:nvSpPr>
        <p:spPr>
          <a:xfrm>
            <a:off x="749808" y="1837944"/>
            <a:ext cx="521208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 first, then **, then * / // %, then + −.</a:t>
            </a:r>
            <a:endParaRPr lang="en-US" sz="1400" dirty="0"/>
          </a:p>
        </p:txBody>
      </p:sp>
      <p:sp>
        <p:nvSpPr>
          <p:cNvPr id="16" name="Shape 14"/>
          <p:cNvSpPr/>
          <p:nvPr/>
        </p:nvSpPr>
        <p:spPr>
          <a:xfrm>
            <a:off x="6309360" y="1325880"/>
            <a:ext cx="5669280" cy="1298448"/>
          </a:xfrm>
          <a:prstGeom prst="roundRect">
            <a:avLst>
              <a:gd name="adj" fmla="val 5634"/>
            </a:avLst>
          </a:prstGeom>
          <a:solidFill>
            <a:srgbClr val="FFFFFF"/>
          </a:solidFill>
          <a:ln w="12700">
            <a:solidFill>
              <a:srgbClr val="E2E8EE"/>
            </a:solidFill>
            <a:prstDash val="solid"/>
          </a:ln>
        </p:spPr>
      </p:sp>
      <p:sp>
        <p:nvSpPr>
          <p:cNvPr id="17" name="Shape 15"/>
          <p:cNvSpPr/>
          <p:nvPr/>
        </p:nvSpPr>
        <p:spPr>
          <a:xfrm>
            <a:off x="6309360" y="1325880"/>
            <a:ext cx="109728" cy="1298448"/>
          </a:xfrm>
          <a:prstGeom prst="rect">
            <a:avLst/>
          </a:prstGeom>
          <a:solidFill>
            <a:srgbClr val="1A7070"/>
          </a:solidFill>
          <a:ln w="12700">
            <a:solidFill>
              <a:srgbClr val="1A7070"/>
            </a:solidFill>
            <a:prstDash val="solid"/>
          </a:ln>
        </p:spPr>
      </p:sp>
      <p:sp>
        <p:nvSpPr>
          <p:cNvPr id="18" name="Text 16"/>
          <p:cNvSpPr/>
          <p:nvPr/>
        </p:nvSpPr>
        <p:spPr>
          <a:xfrm>
            <a:off x="6601968" y="1453896"/>
            <a:ext cx="5212080" cy="365760"/>
          </a:xfrm>
          <a:prstGeom prst="rect">
            <a:avLst/>
          </a:prstGeom>
          <a:noFill/>
          <a:ln/>
        </p:spPr>
        <p:txBody>
          <a:bodyPr wrap="square" lIns="0" tIns="0" rIns="0" bIns="0" rtlCol="0" anchor="ctr"/>
          <a:lstStyle/>
          <a:p>
            <a:pPr indent="0" marL="0">
              <a:buNone/>
            </a:pPr>
            <a:r>
              <a:rPr lang="en-US" sz="1600" b="1" dirty="0">
                <a:solidFill>
                  <a:srgbClr val="0D3358"/>
                </a:solidFill>
                <a:latin typeface="Calibri" pitchFamily="34" charset="0"/>
                <a:ea typeface="Calibri" pitchFamily="34" charset="-122"/>
                <a:cs typeface="Calibri" pitchFamily="34" charset="-120"/>
              </a:rPr>
              <a:t>Same rank walks left.</a:t>
            </a:r>
            <a:endParaRPr lang="en-US" sz="1600" dirty="0"/>
          </a:p>
        </p:txBody>
      </p:sp>
      <p:sp>
        <p:nvSpPr>
          <p:cNvPr id="19" name="Text 17"/>
          <p:cNvSpPr/>
          <p:nvPr/>
        </p:nvSpPr>
        <p:spPr>
          <a:xfrm>
            <a:off x="6601968" y="1837944"/>
            <a:ext cx="521208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10 / 2 * 5 is 25.0. 10 − 4 + 2 is 8.</a:t>
            </a:r>
            <a:endParaRPr lang="en-US" sz="1400" dirty="0"/>
          </a:p>
        </p:txBody>
      </p:sp>
      <p:sp>
        <p:nvSpPr>
          <p:cNvPr id="20" name="Shape 18"/>
          <p:cNvSpPr/>
          <p:nvPr/>
        </p:nvSpPr>
        <p:spPr>
          <a:xfrm>
            <a:off x="457200" y="2743200"/>
            <a:ext cx="5669280" cy="1298448"/>
          </a:xfrm>
          <a:prstGeom prst="roundRect">
            <a:avLst>
              <a:gd name="adj" fmla="val 5634"/>
            </a:avLst>
          </a:prstGeom>
          <a:solidFill>
            <a:srgbClr val="FFFFFF"/>
          </a:solidFill>
          <a:ln w="12700">
            <a:solidFill>
              <a:srgbClr val="E2E8EE"/>
            </a:solidFill>
            <a:prstDash val="solid"/>
          </a:ln>
        </p:spPr>
      </p:sp>
      <p:sp>
        <p:nvSpPr>
          <p:cNvPr id="21" name="Shape 19"/>
          <p:cNvSpPr/>
          <p:nvPr/>
        </p:nvSpPr>
        <p:spPr>
          <a:xfrm>
            <a:off x="457200" y="2743200"/>
            <a:ext cx="109728" cy="1298448"/>
          </a:xfrm>
          <a:prstGeom prst="rect">
            <a:avLst/>
          </a:prstGeom>
          <a:solidFill>
            <a:srgbClr val="1A7070"/>
          </a:solidFill>
          <a:ln w="12700">
            <a:solidFill>
              <a:srgbClr val="1A7070"/>
            </a:solidFill>
            <a:prstDash val="solid"/>
          </a:ln>
        </p:spPr>
      </p:sp>
      <p:sp>
        <p:nvSpPr>
          <p:cNvPr id="22" name="Text 20"/>
          <p:cNvSpPr/>
          <p:nvPr/>
        </p:nvSpPr>
        <p:spPr>
          <a:xfrm>
            <a:off x="749808" y="2871216"/>
            <a:ext cx="5212080" cy="365760"/>
          </a:xfrm>
          <a:prstGeom prst="rect">
            <a:avLst/>
          </a:prstGeom>
          <a:noFill/>
          <a:ln/>
        </p:spPr>
        <p:txBody>
          <a:bodyPr wrap="square" lIns="0" tIns="0" rIns="0" bIns="0" rtlCol="0" anchor="ctr"/>
          <a:lstStyle/>
          <a:p>
            <a:pPr indent="0" marL="0">
              <a:buNone/>
            </a:pPr>
            <a:r>
              <a:rPr lang="en-US" sz="1600" b="1" dirty="0">
                <a:solidFill>
                  <a:srgbClr val="0D3358"/>
                </a:solidFill>
                <a:latin typeface="Calibri" pitchFamily="34" charset="0"/>
                <a:ea typeface="Calibri" pitchFamily="34" charset="-122"/>
                <a:cs typeface="Calibri" pitchFamily="34" charset="-120"/>
              </a:rPr>
              <a:t>** looks right first.</a:t>
            </a:r>
            <a:endParaRPr lang="en-US" sz="1600" dirty="0"/>
          </a:p>
        </p:txBody>
      </p:sp>
      <p:sp>
        <p:nvSpPr>
          <p:cNvPr id="23" name="Text 21"/>
          <p:cNvSpPr/>
          <p:nvPr/>
        </p:nvSpPr>
        <p:spPr>
          <a:xfrm>
            <a:off x="749808" y="3255264"/>
            <a:ext cx="521208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2 ** 3 ** 2 is 512, not 64.</a:t>
            </a:r>
            <a:endParaRPr lang="en-US" sz="1400" dirty="0"/>
          </a:p>
        </p:txBody>
      </p:sp>
      <p:sp>
        <p:nvSpPr>
          <p:cNvPr id="24" name="Shape 22"/>
          <p:cNvSpPr/>
          <p:nvPr/>
        </p:nvSpPr>
        <p:spPr>
          <a:xfrm>
            <a:off x="6309360" y="2743200"/>
            <a:ext cx="5669280" cy="1298448"/>
          </a:xfrm>
          <a:prstGeom prst="roundRect">
            <a:avLst>
              <a:gd name="adj" fmla="val 5634"/>
            </a:avLst>
          </a:prstGeom>
          <a:solidFill>
            <a:srgbClr val="FFFFFF"/>
          </a:solidFill>
          <a:ln w="12700">
            <a:solidFill>
              <a:srgbClr val="E2E8EE"/>
            </a:solidFill>
            <a:prstDash val="solid"/>
          </a:ln>
        </p:spPr>
      </p:sp>
      <p:sp>
        <p:nvSpPr>
          <p:cNvPr id="25" name="Shape 23"/>
          <p:cNvSpPr/>
          <p:nvPr/>
        </p:nvSpPr>
        <p:spPr>
          <a:xfrm>
            <a:off x="6309360" y="2743200"/>
            <a:ext cx="109728" cy="1298448"/>
          </a:xfrm>
          <a:prstGeom prst="rect">
            <a:avLst/>
          </a:prstGeom>
          <a:solidFill>
            <a:srgbClr val="1A7070"/>
          </a:solidFill>
          <a:ln w="12700">
            <a:solidFill>
              <a:srgbClr val="1A7070"/>
            </a:solidFill>
            <a:prstDash val="solid"/>
          </a:ln>
        </p:spPr>
      </p:sp>
      <p:sp>
        <p:nvSpPr>
          <p:cNvPr id="26" name="Text 24"/>
          <p:cNvSpPr/>
          <p:nvPr/>
        </p:nvSpPr>
        <p:spPr>
          <a:xfrm>
            <a:off x="6601968" y="2871216"/>
            <a:ext cx="5212080" cy="365760"/>
          </a:xfrm>
          <a:prstGeom prst="rect">
            <a:avLst/>
          </a:prstGeom>
          <a:noFill/>
          <a:ln/>
        </p:spPr>
        <p:txBody>
          <a:bodyPr wrap="square" lIns="0" tIns="0" rIns="0" bIns="0" rtlCol="0" anchor="ctr"/>
          <a:lstStyle/>
          <a:p>
            <a:pPr indent="0" marL="0">
              <a:buNone/>
            </a:pPr>
            <a:r>
              <a:rPr lang="en-US" sz="1600" b="1" dirty="0">
                <a:solidFill>
                  <a:srgbClr val="0D3358"/>
                </a:solidFill>
                <a:latin typeface="Calibri" pitchFamily="34" charset="0"/>
                <a:ea typeface="Calibri" pitchFamily="34" charset="-122"/>
                <a:cs typeface="Calibri" pitchFamily="34" charset="-120"/>
              </a:rPr>
              <a:t>Parentheses tell the truth.</a:t>
            </a:r>
            <a:endParaRPr lang="en-US" sz="1600" dirty="0"/>
          </a:p>
        </p:txBody>
      </p:sp>
      <p:sp>
        <p:nvSpPr>
          <p:cNvPr id="27" name="Text 25"/>
          <p:cNvSpPr/>
          <p:nvPr/>
        </p:nvSpPr>
        <p:spPr>
          <a:xfrm>
            <a:off x="6601968" y="3255264"/>
            <a:ext cx="521208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(a + b + c) / 3 is an average. a + b + c / 3 is not.</a:t>
            </a:r>
            <a:endParaRPr lang="en-US" sz="1400" dirty="0"/>
          </a:p>
        </p:txBody>
      </p:sp>
      <p:sp>
        <p:nvSpPr>
          <p:cNvPr id="28" name="Shape 26"/>
          <p:cNvSpPr/>
          <p:nvPr/>
        </p:nvSpPr>
        <p:spPr>
          <a:xfrm>
            <a:off x="457200" y="4160520"/>
            <a:ext cx="5669280" cy="1298448"/>
          </a:xfrm>
          <a:prstGeom prst="roundRect">
            <a:avLst>
              <a:gd name="adj" fmla="val 5634"/>
            </a:avLst>
          </a:prstGeom>
          <a:solidFill>
            <a:srgbClr val="FFFFFF"/>
          </a:solidFill>
          <a:ln w="12700">
            <a:solidFill>
              <a:srgbClr val="E2E8EE"/>
            </a:solidFill>
            <a:prstDash val="solid"/>
          </a:ln>
        </p:spPr>
      </p:sp>
      <p:sp>
        <p:nvSpPr>
          <p:cNvPr id="29" name="Shape 27"/>
          <p:cNvSpPr/>
          <p:nvPr/>
        </p:nvSpPr>
        <p:spPr>
          <a:xfrm>
            <a:off x="457200" y="4160520"/>
            <a:ext cx="109728" cy="1298448"/>
          </a:xfrm>
          <a:prstGeom prst="rect">
            <a:avLst/>
          </a:prstGeom>
          <a:solidFill>
            <a:srgbClr val="1A7070"/>
          </a:solidFill>
          <a:ln w="12700">
            <a:solidFill>
              <a:srgbClr val="1A7070"/>
            </a:solidFill>
            <a:prstDash val="solid"/>
          </a:ln>
        </p:spPr>
      </p:sp>
      <p:sp>
        <p:nvSpPr>
          <p:cNvPr id="30" name="Text 28"/>
          <p:cNvSpPr/>
          <p:nvPr/>
        </p:nvSpPr>
        <p:spPr>
          <a:xfrm>
            <a:off x="749808" y="4288536"/>
            <a:ext cx="5212080" cy="365760"/>
          </a:xfrm>
          <a:prstGeom prst="rect">
            <a:avLst/>
          </a:prstGeom>
          <a:noFill/>
          <a:ln/>
        </p:spPr>
        <p:txBody>
          <a:bodyPr wrap="square" lIns="0" tIns="0" rIns="0" bIns="0" rtlCol="0" anchor="ctr"/>
          <a:lstStyle/>
          <a:p>
            <a:pPr indent="0" marL="0">
              <a:buNone/>
            </a:pPr>
            <a:r>
              <a:rPr lang="en-US" sz="1600" b="1" dirty="0">
                <a:solidFill>
                  <a:srgbClr val="0D3358"/>
                </a:solidFill>
                <a:latin typeface="Calibri" pitchFamily="34" charset="0"/>
                <a:ea typeface="Calibri" pitchFamily="34" charset="-122"/>
                <a:cs typeface="Calibri" pitchFamily="34" charset="-120"/>
              </a:rPr>
              <a:t>Predict, then print.</a:t>
            </a:r>
            <a:endParaRPr lang="en-US" sz="1600" dirty="0"/>
          </a:p>
        </p:txBody>
      </p:sp>
      <p:sp>
        <p:nvSpPr>
          <p:cNvPr id="31" name="Text 29"/>
          <p:cNvSpPr/>
          <p:nvPr/>
        </p:nvSpPr>
        <p:spPr>
          <a:xfrm>
            <a:off x="749808" y="4672584"/>
            <a:ext cx="521208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If paper and Python disagree, check the ranking.</a:t>
            </a:r>
            <a:endParaRPr lang="en-US" sz="1400" dirty="0"/>
          </a:p>
        </p:txBody>
      </p:sp>
      <p:sp>
        <p:nvSpPr>
          <p:cNvPr id="32" name="Shape 30"/>
          <p:cNvSpPr/>
          <p:nvPr/>
        </p:nvSpPr>
        <p:spPr>
          <a:xfrm>
            <a:off x="6309360" y="4160520"/>
            <a:ext cx="5669280" cy="1298448"/>
          </a:xfrm>
          <a:prstGeom prst="roundRect">
            <a:avLst>
              <a:gd name="adj" fmla="val 5634"/>
            </a:avLst>
          </a:prstGeom>
          <a:solidFill>
            <a:srgbClr val="FFFFFF"/>
          </a:solidFill>
          <a:ln w="12700">
            <a:solidFill>
              <a:srgbClr val="E2E8EE"/>
            </a:solidFill>
            <a:prstDash val="solid"/>
          </a:ln>
        </p:spPr>
      </p:sp>
      <p:sp>
        <p:nvSpPr>
          <p:cNvPr id="33" name="Shape 31"/>
          <p:cNvSpPr/>
          <p:nvPr/>
        </p:nvSpPr>
        <p:spPr>
          <a:xfrm>
            <a:off x="6309360" y="4160520"/>
            <a:ext cx="109728" cy="1298448"/>
          </a:xfrm>
          <a:prstGeom prst="rect">
            <a:avLst/>
          </a:prstGeom>
          <a:solidFill>
            <a:srgbClr val="1A7070"/>
          </a:solidFill>
          <a:ln w="12700">
            <a:solidFill>
              <a:srgbClr val="1A7070"/>
            </a:solidFill>
            <a:prstDash val="solid"/>
          </a:ln>
        </p:spPr>
      </p:sp>
      <p:sp>
        <p:nvSpPr>
          <p:cNvPr id="34" name="Text 32"/>
          <p:cNvSpPr/>
          <p:nvPr/>
        </p:nvSpPr>
        <p:spPr>
          <a:xfrm>
            <a:off x="6601968" y="4288536"/>
            <a:ext cx="5212080" cy="365760"/>
          </a:xfrm>
          <a:prstGeom prst="rect">
            <a:avLst/>
          </a:prstGeom>
          <a:noFill/>
          <a:ln/>
        </p:spPr>
        <p:txBody>
          <a:bodyPr wrap="square" lIns="0" tIns="0" rIns="0" bIns="0" rtlCol="0" anchor="ctr"/>
          <a:lstStyle/>
          <a:p>
            <a:pPr indent="0" marL="0">
              <a:buNone/>
            </a:pPr>
            <a:r>
              <a:rPr lang="en-US" sz="1600" b="1" dirty="0">
                <a:solidFill>
                  <a:srgbClr val="0D3358"/>
                </a:solidFill>
                <a:latin typeface="Calibri" pitchFamily="34" charset="0"/>
                <a:ea typeface="Calibri" pitchFamily="34" charset="-122"/>
                <a:cs typeface="Calibri" pitchFamily="34" charset="-120"/>
              </a:rPr>
              <a:t>Some work must wait.</a:t>
            </a:r>
            <a:endParaRPr lang="en-US" sz="1600" dirty="0"/>
          </a:p>
        </p:txBody>
      </p:sp>
      <p:sp>
        <p:nvSpPr>
          <p:cNvPr id="35" name="Text 33"/>
          <p:cNvSpPr/>
          <p:nvPr/>
        </p:nvSpPr>
        <p:spPr>
          <a:xfrm>
            <a:off x="6601968" y="4672584"/>
            <a:ext cx="521208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John 16:12 — the next word comes at the right time.</a:t>
            </a:r>
            <a:endParaRPr lang="en-US" sz="1400" dirty="0"/>
          </a:p>
        </p:txBody>
      </p:sp>
      <p:sp>
        <p:nvSpPr>
          <p:cNvPr id="36" name="Shape 34"/>
          <p:cNvSpPr/>
          <p:nvPr/>
        </p:nvSpPr>
        <p:spPr>
          <a:xfrm>
            <a:off x="457200" y="5623560"/>
            <a:ext cx="11247120" cy="685800"/>
          </a:xfrm>
          <a:prstGeom prst="roundRect">
            <a:avLst>
              <a:gd name="adj" fmla="val 10667"/>
            </a:avLst>
          </a:prstGeom>
          <a:solidFill>
            <a:srgbClr val="FBF3E2"/>
          </a:solidFill>
          <a:ln w="12700">
            <a:solidFill>
              <a:srgbClr val="E8D9B8"/>
            </a:solidFill>
            <a:prstDash val="solid"/>
          </a:ln>
        </p:spPr>
      </p:sp>
      <p:sp>
        <p:nvSpPr>
          <p:cNvPr id="37" name="Text 35"/>
          <p:cNvSpPr/>
          <p:nvPr/>
        </p:nvSpPr>
        <p:spPr>
          <a:xfrm>
            <a:off x="640080" y="5687568"/>
            <a:ext cx="10881360" cy="548640"/>
          </a:xfrm>
          <a:prstGeom prst="rect">
            <a:avLst/>
          </a:prstGeom>
          <a:noFill/>
          <a:ln/>
        </p:spPr>
        <p:txBody>
          <a:bodyPr wrap="square" lIns="0" tIns="0" rIns="0" bIns="0" rtlCol="0" anchor="ctr"/>
          <a:lstStyle/>
          <a:p>
            <a:pPr indent="0" marL="0">
              <a:buNone/>
            </a:pPr>
            <a:r>
              <a:rPr lang="en-US" sz="1500" dirty="0">
                <a:solidFill>
                  <a:srgbClr val="0D3358"/>
                </a:solidFill>
                <a:latin typeface="Calibri" pitchFamily="34" charset="0"/>
                <a:ea typeface="Calibri" pitchFamily="34" charset="-122"/>
                <a:cs typeface="Calibri" pitchFamily="34" charset="-120"/>
              </a:rPr>
              <a:t>Next lesson  ·  Variables  ·  names that hold values so an expression can be written once and reused.</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LogosTeach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Order of Operations</dc:title>
  <dc:subject>Unit 2 Lesson 1 — Order of Operations in Python</dc:subject>
  <dc:creator>LogosTeach</dc:creator>
  <cp:lastModifiedBy>LogosTeach</cp:lastModifiedBy>
  <cp:revision>1</cp:revision>
  <dcterms:created xsi:type="dcterms:W3CDTF">2026-08-31T17:34:40Z</dcterms:created>
  <dcterms:modified xsi:type="dcterms:W3CDTF">2026-08-31T17:34:40Z</dcterms:modified>
</cp:coreProperties>
</file>