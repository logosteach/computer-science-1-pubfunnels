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A64936"/>
          </a:solidFill>
          <a:ln w="12700">
            <a:solidFill>
              <a:srgbClr val="A64936"/>
            </a:solidFill>
            <a:prstDash val="solid"/>
          </a:ln>
        </p:spPr>
      </p:sp>
      <p:sp>
        <p:nvSpPr>
          <p:cNvPr id="3" name="Shape 1"/>
          <p:cNvSpPr/>
          <p:nvPr/>
        </p:nvSpPr>
        <p:spPr>
          <a:xfrm>
            <a:off x="0" y="164592"/>
            <a:ext cx="12191695" cy="73152"/>
          </a:xfrm>
          <a:prstGeom prst="rect">
            <a:avLst/>
          </a:prstGeom>
          <a:solidFill>
            <a:srgbClr val="E1A244"/>
          </a:solidFill>
          <a:ln w="12700">
            <a:solidFill>
              <a:srgbClr val="E1A244"/>
            </a:solidFill>
            <a:prstDash val="solid"/>
          </a:ln>
        </p:spPr>
      </p:sp>
      <p:sp>
        <p:nvSpPr>
          <p:cNvPr id="4" name="Shape 2"/>
          <p:cNvSpPr/>
          <p:nvPr/>
        </p:nvSpPr>
        <p:spPr>
          <a:xfrm>
            <a:off x="0" y="5989320"/>
            <a:ext cx="12191695" cy="868680"/>
          </a:xfrm>
          <a:prstGeom prst="rect">
            <a:avLst/>
          </a:prstGeom>
          <a:solidFill>
            <a:srgbClr val="0D3358"/>
          </a:solidFill>
          <a:ln w="12700">
            <a:solidFill>
              <a:srgbClr val="0D3358"/>
            </a:solidFill>
            <a:prstDash val="solid"/>
          </a:ln>
        </p:spPr>
      </p:sp>
      <p:sp>
        <p:nvSpPr>
          <p:cNvPr id="5" name="Shape 3"/>
          <p:cNvSpPr/>
          <p:nvPr/>
        </p:nvSpPr>
        <p:spPr>
          <a:xfrm>
            <a:off x="0" y="5989320"/>
            <a:ext cx="12191695" cy="41148"/>
          </a:xfrm>
          <a:prstGeom prst="rect">
            <a:avLst/>
          </a:prstGeom>
          <a:solidFill>
            <a:srgbClr val="E1A244"/>
          </a:solidFill>
          <a:ln w="12700">
            <a:solidFill>
              <a:srgbClr val="E1A244"/>
            </a:solidFill>
            <a:prstDash val="solid"/>
          </a:ln>
        </p:spPr>
      </p:sp>
      <p:sp>
        <p:nvSpPr>
          <p:cNvPr id="6" name="Text 4"/>
          <p:cNvSpPr/>
          <p:nvPr/>
        </p:nvSpPr>
        <p:spPr>
          <a:xfrm>
            <a:off x="640080" y="1051560"/>
            <a:ext cx="10972800" cy="329184"/>
          </a:xfrm>
          <a:prstGeom prst="rect">
            <a:avLst/>
          </a:prstGeom>
          <a:noFill/>
          <a:ln/>
        </p:spPr>
        <p:txBody>
          <a:bodyPr wrap="square" lIns="0" tIns="0" rIns="0" bIns="0" rtlCol="0" anchor="ctr"/>
          <a:normAutofit/>
          <a:lstStyle/>
          <a:p>
            <a:pPr indent="0" marL="0">
              <a:buNone/>
            </a:pPr>
            <a:r>
              <a:rPr lang="en-US" sz="1600" b="1" dirty="0">
                <a:solidFill>
                  <a:srgbClr val="E1A244"/>
                </a:solidFill>
                <a:latin typeface="Calibri" pitchFamily="34" charset="0"/>
                <a:ea typeface="Calibri" pitchFamily="34" charset="-122"/>
                <a:cs typeface="Calibri" pitchFamily="34" charset="-120"/>
              </a:rPr>
              <a:t>UNIT 2   ·   FOUNDATIONAL ELEMENTS   ·   LESSON 2</a:t>
            </a:r>
            <a:endParaRPr lang="en-US" sz="1600" dirty="0"/>
          </a:p>
        </p:txBody>
      </p:sp>
      <p:sp>
        <p:nvSpPr>
          <p:cNvPr id="7" name="Text 5"/>
          <p:cNvSpPr/>
          <p:nvPr/>
        </p:nvSpPr>
        <p:spPr>
          <a:xfrm>
            <a:off x="640080" y="1554480"/>
            <a:ext cx="109728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Variables in Python</a:t>
            </a:r>
            <a:endParaRPr lang="en-US" sz="4400" dirty="0"/>
          </a:p>
        </p:txBody>
      </p:sp>
      <p:sp>
        <p:nvSpPr>
          <p:cNvPr id="8" name="Text 6"/>
          <p:cNvSpPr/>
          <p:nvPr/>
        </p:nvSpPr>
        <p:spPr>
          <a:xfrm>
            <a:off x="640080" y="2606040"/>
            <a:ext cx="10972800" cy="365760"/>
          </a:xfrm>
          <a:prstGeom prst="rect">
            <a:avLst/>
          </a:prstGeom>
          <a:noFill/>
          <a:ln/>
        </p:spPr>
        <p:txBody>
          <a:bodyPr wrap="square" lIns="0" tIns="0" rIns="0" bIns="0" rtlCol="0" anchor="ctr"/>
          <a:lstStyle/>
          <a:p>
            <a:pPr indent="0" marL="0">
              <a:buNone/>
            </a:pPr>
            <a:r>
              <a:rPr lang="en-US" sz="2000" i="1" dirty="0">
                <a:solidFill>
                  <a:srgbClr val="C5D0D8"/>
                </a:solidFill>
                <a:latin typeface="Calibri" pitchFamily="34" charset="0"/>
                <a:ea typeface="Calibri" pitchFamily="34" charset="-122"/>
                <a:cs typeface="Calibri" pitchFamily="34" charset="-120"/>
              </a:rPr>
              <a:t>Python with a Worldview  ·  Computer Science 1</a:t>
            </a:r>
            <a:endParaRPr lang="en-US" sz="2000" dirty="0"/>
          </a:p>
        </p:txBody>
      </p:sp>
      <p:sp>
        <p:nvSpPr>
          <p:cNvPr id="9" name="Shape 7"/>
          <p:cNvSpPr/>
          <p:nvPr/>
        </p:nvSpPr>
        <p:spPr>
          <a:xfrm>
            <a:off x="640080" y="3200400"/>
            <a:ext cx="2011680" cy="64008"/>
          </a:xfrm>
          <a:prstGeom prst="rect">
            <a:avLst/>
          </a:prstGeom>
          <a:solidFill>
            <a:srgbClr val="E1A244"/>
          </a:solidFill>
          <a:ln w="12700">
            <a:solidFill>
              <a:srgbClr val="E1A244"/>
            </a:solidFill>
            <a:prstDash val="solid"/>
          </a:ln>
        </p:spPr>
      </p:sp>
      <p:sp>
        <p:nvSpPr>
          <p:cNvPr id="10" name="Text 8"/>
          <p:cNvSpPr/>
          <p:nvPr/>
        </p:nvSpPr>
        <p:spPr>
          <a:xfrm>
            <a:off x="640080" y="3474720"/>
            <a:ext cx="9601200" cy="1005840"/>
          </a:xfrm>
          <a:prstGeom prst="rect">
            <a:avLst/>
          </a:prstGeom>
          <a:noFill/>
          <a:ln/>
        </p:spPr>
        <p:txBody>
          <a:bodyPr wrap="square" lIns="0" tIns="0" rIns="0" bIns="0" rtlCol="0" anchor="ctr"/>
          <a:lstStyle/>
          <a:p>
            <a:pPr indent="0" marL="0">
              <a:buNone/>
            </a:pPr>
            <a:r>
              <a:rPr lang="en-US" sz="1800" dirty="0">
                <a:solidFill>
                  <a:srgbClr val="F6F6F5"/>
                </a:solidFill>
                <a:latin typeface="Calibri" pitchFamily="34" charset="0"/>
                <a:ea typeface="Calibri" pitchFamily="34" charset="-122"/>
                <a:cs typeface="Calibri" pitchFamily="34" charset="-120"/>
              </a:rPr>
              <a:t>Give values a name, follow Python’s naming rules, and use those names in expressions.</a:t>
            </a:r>
            <a:endParaRPr lang="en-US" sz="1800" dirty="0"/>
          </a:p>
          <a:p>
            <a:pPr indent="0" marL="0">
              <a:buNone/>
            </a:pPr>
            <a:r>
              <a:rPr lang="en-US" sz="1800" dirty="0">
                <a:solidFill>
                  <a:srgbClr val="F6F6F5"/>
                </a:solidFill>
                <a:latin typeface="Calibri" pitchFamily="34" charset="0"/>
                <a:ea typeface="Calibri" pitchFamily="34" charset="-122"/>
                <a:cs typeface="Calibri" pitchFamily="34" charset="-120"/>
              </a:rPr>
              <a:t>Last lesson: order of operations. This lesson: store the pieces so the formula can change.</a:t>
            </a:r>
            <a:endParaRPr lang="en-US" sz="1800" dirty="0"/>
          </a:p>
        </p:txBody>
      </p:sp>
      <p:sp>
        <p:nvSpPr>
          <p:cNvPr id="11" name="Text 9"/>
          <p:cNvSpPr/>
          <p:nvPr/>
        </p:nvSpPr>
        <p:spPr>
          <a:xfrm>
            <a:off x="640080" y="6108192"/>
            <a:ext cx="5303520" cy="256032"/>
          </a:xfrm>
          <a:prstGeom prst="rect">
            <a:avLst/>
          </a:prstGeom>
          <a:noFill/>
          <a:ln/>
        </p:spPr>
        <p:txBody>
          <a:bodyPr wrap="square" lIns="0" tIns="0" rIns="0" bIns="0" rtlCol="0" anchor="ctr"/>
          <a:lstStyle/>
          <a:p>
            <a:pPr indent="0" marL="0">
              <a:buNone/>
            </a:pPr>
            <a:r>
              <a:rPr lang="en-US" sz="1300" dirty="0">
                <a:solidFill>
                  <a:srgbClr val="F6F6F5"/>
                </a:solidFill>
                <a:latin typeface="Calibri" pitchFamily="34" charset="0"/>
                <a:ea typeface="Calibri" pitchFamily="34" charset="-122"/>
                <a:cs typeface="Calibri" pitchFamily="34" charset="-120"/>
              </a:rPr>
              <a:t>LogosTeach  ·  John C. Partridge</a:t>
            </a:r>
            <a:endParaRPr lang="en-US" sz="1300" dirty="0"/>
          </a:p>
        </p:txBody>
      </p:sp>
      <p:sp>
        <p:nvSpPr>
          <p:cNvPr id="12" name="Text 10"/>
          <p:cNvSpPr/>
          <p:nvPr/>
        </p:nvSpPr>
        <p:spPr>
          <a:xfrm>
            <a:off x="6309360" y="6108192"/>
            <a:ext cx="5303520" cy="256032"/>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Copyright 2026 LogosTeach  ·  All Rights Reserved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How We Will Work Today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98448"/>
            <a:ext cx="11247120" cy="896112"/>
          </a:xfrm>
          <a:prstGeom prst="roundRect">
            <a:avLst>
              <a:gd name="adj" fmla="val 8163"/>
            </a:avLst>
          </a:prstGeom>
          <a:solidFill>
            <a:srgbClr val="FFFFFF"/>
          </a:solidFill>
          <a:ln w="12700">
            <a:solidFill>
              <a:srgbClr val="E2E8EE"/>
            </a:solidFill>
            <a:prstDash val="solid"/>
          </a:ln>
        </p:spPr>
      </p:sp>
      <p:sp>
        <p:nvSpPr>
          <p:cNvPr id="13" name="Shape 11"/>
          <p:cNvSpPr/>
          <p:nvPr/>
        </p:nvSpPr>
        <p:spPr>
          <a:xfrm>
            <a:off x="621792" y="1508760"/>
            <a:ext cx="658368" cy="475488"/>
          </a:xfrm>
          <a:prstGeom prst="roundRect">
            <a:avLst>
              <a:gd name="adj" fmla="val 11538"/>
            </a:avLst>
          </a:prstGeom>
          <a:solidFill>
            <a:srgbClr val="1A7070"/>
          </a:solidFill>
          <a:ln w="12700">
            <a:solidFill>
              <a:srgbClr val="1A7070"/>
            </a:solidFill>
            <a:prstDash val="solid"/>
          </a:ln>
        </p:spPr>
      </p:sp>
      <p:sp>
        <p:nvSpPr>
          <p:cNvPr id="14" name="Text 12"/>
          <p:cNvSpPr/>
          <p:nvPr/>
        </p:nvSpPr>
        <p:spPr>
          <a:xfrm>
            <a:off x="621792" y="1508760"/>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1463040" y="1408176"/>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Give the value a name.</a:t>
            </a:r>
            <a:endParaRPr lang="en-US" sz="1600" dirty="0"/>
          </a:p>
        </p:txBody>
      </p:sp>
      <p:sp>
        <p:nvSpPr>
          <p:cNvPr id="16" name="Text 14"/>
          <p:cNvSpPr/>
          <p:nvPr/>
        </p:nvSpPr>
        <p:spPr>
          <a:xfrm>
            <a:off x="1463040" y="1700784"/>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 variable is a name that refers to a value. Assignment uses one equals sign: name = value.</a:t>
            </a:r>
            <a:endParaRPr lang="en-US" sz="1400" dirty="0"/>
          </a:p>
        </p:txBody>
      </p:sp>
      <p:sp>
        <p:nvSpPr>
          <p:cNvPr id="17" name="Shape 15"/>
          <p:cNvSpPr/>
          <p:nvPr/>
        </p:nvSpPr>
        <p:spPr>
          <a:xfrm>
            <a:off x="457200" y="2286000"/>
            <a:ext cx="11247120" cy="896112"/>
          </a:xfrm>
          <a:prstGeom prst="roundRect">
            <a:avLst>
              <a:gd name="adj" fmla="val 8163"/>
            </a:avLst>
          </a:prstGeom>
          <a:solidFill>
            <a:srgbClr val="F0F7FF"/>
          </a:solidFill>
          <a:ln w="12700">
            <a:solidFill>
              <a:srgbClr val="E2E8EE"/>
            </a:solidFill>
            <a:prstDash val="solid"/>
          </a:ln>
        </p:spPr>
      </p:sp>
      <p:sp>
        <p:nvSpPr>
          <p:cNvPr id="18" name="Shape 16"/>
          <p:cNvSpPr/>
          <p:nvPr/>
        </p:nvSpPr>
        <p:spPr>
          <a:xfrm>
            <a:off x="621792" y="2496312"/>
            <a:ext cx="658368" cy="475488"/>
          </a:xfrm>
          <a:prstGeom prst="roundRect">
            <a:avLst>
              <a:gd name="adj" fmla="val 11538"/>
            </a:avLst>
          </a:prstGeom>
          <a:solidFill>
            <a:srgbClr val="1A7070"/>
          </a:solidFill>
          <a:ln w="12700">
            <a:solidFill>
              <a:srgbClr val="1A7070"/>
            </a:solidFill>
            <a:prstDash val="solid"/>
          </a:ln>
        </p:spPr>
      </p:sp>
      <p:sp>
        <p:nvSpPr>
          <p:cNvPr id="19" name="Text 17"/>
          <p:cNvSpPr/>
          <p:nvPr/>
        </p:nvSpPr>
        <p:spPr>
          <a:xfrm>
            <a:off x="621792" y="2496312"/>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0" name="Text 18"/>
          <p:cNvSpPr/>
          <p:nvPr/>
        </p:nvSpPr>
        <p:spPr>
          <a:xfrm>
            <a:off x="1463040" y="2395728"/>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Obey the naming rules.</a:t>
            </a:r>
            <a:endParaRPr lang="en-US" sz="1600" dirty="0"/>
          </a:p>
        </p:txBody>
      </p:sp>
      <p:sp>
        <p:nvSpPr>
          <p:cNvPr id="21" name="Text 19"/>
          <p:cNvSpPr/>
          <p:nvPr/>
        </p:nvSpPr>
        <p:spPr>
          <a:xfrm>
            <a:off x="1463040" y="2688336"/>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Legal names start with a letter or underscore. This course uses snake_case.</a:t>
            </a:r>
            <a:endParaRPr lang="en-US" sz="1400" dirty="0"/>
          </a:p>
        </p:txBody>
      </p:sp>
      <p:sp>
        <p:nvSpPr>
          <p:cNvPr id="22" name="Shape 20"/>
          <p:cNvSpPr/>
          <p:nvPr/>
        </p:nvSpPr>
        <p:spPr>
          <a:xfrm>
            <a:off x="457200" y="3273552"/>
            <a:ext cx="11247120" cy="896112"/>
          </a:xfrm>
          <a:prstGeom prst="roundRect">
            <a:avLst>
              <a:gd name="adj" fmla="val 8163"/>
            </a:avLst>
          </a:prstGeom>
          <a:solidFill>
            <a:srgbClr val="FFFFFF"/>
          </a:solidFill>
          <a:ln w="12700">
            <a:solidFill>
              <a:srgbClr val="E2E8EE"/>
            </a:solidFill>
            <a:prstDash val="solid"/>
          </a:ln>
        </p:spPr>
      </p:sp>
      <p:sp>
        <p:nvSpPr>
          <p:cNvPr id="23" name="Shape 21"/>
          <p:cNvSpPr/>
          <p:nvPr/>
        </p:nvSpPr>
        <p:spPr>
          <a:xfrm>
            <a:off x="621792" y="3483864"/>
            <a:ext cx="658368" cy="475488"/>
          </a:xfrm>
          <a:prstGeom prst="roundRect">
            <a:avLst>
              <a:gd name="adj" fmla="val 11538"/>
            </a:avLst>
          </a:prstGeom>
          <a:solidFill>
            <a:srgbClr val="1A7070"/>
          </a:solidFill>
          <a:ln w="12700">
            <a:solidFill>
              <a:srgbClr val="1A7070"/>
            </a:solidFill>
            <a:prstDash val="solid"/>
          </a:ln>
        </p:spPr>
      </p:sp>
      <p:sp>
        <p:nvSpPr>
          <p:cNvPr id="24" name="Text 22"/>
          <p:cNvSpPr/>
          <p:nvPr/>
        </p:nvSpPr>
        <p:spPr>
          <a:xfrm>
            <a:off x="621792" y="3483864"/>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5" name="Text 23"/>
          <p:cNvSpPr/>
          <p:nvPr/>
        </p:nvSpPr>
        <p:spPr>
          <a:xfrm>
            <a:off x="1463040" y="3383280"/>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Reassign when the story changes.</a:t>
            </a:r>
            <a:endParaRPr lang="en-US" sz="1600" dirty="0"/>
          </a:p>
        </p:txBody>
      </p:sp>
      <p:sp>
        <p:nvSpPr>
          <p:cNvPr id="26" name="Text 24"/>
          <p:cNvSpPr/>
          <p:nvPr/>
        </p:nvSpPr>
        <p:spPr>
          <a:xfrm>
            <a:off x="1463040" y="3675888"/>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same name can later refer to a new value. Trace the name; do not guess.</a:t>
            </a:r>
            <a:endParaRPr lang="en-US" sz="1400" dirty="0"/>
          </a:p>
        </p:txBody>
      </p:sp>
      <p:sp>
        <p:nvSpPr>
          <p:cNvPr id="27" name="Shape 25"/>
          <p:cNvSpPr/>
          <p:nvPr/>
        </p:nvSpPr>
        <p:spPr>
          <a:xfrm>
            <a:off x="457200" y="4261104"/>
            <a:ext cx="11247120" cy="896112"/>
          </a:xfrm>
          <a:prstGeom prst="roundRect">
            <a:avLst>
              <a:gd name="adj" fmla="val 8163"/>
            </a:avLst>
          </a:prstGeom>
          <a:solidFill>
            <a:srgbClr val="F0F7FF"/>
          </a:solidFill>
          <a:ln w="12700">
            <a:solidFill>
              <a:srgbClr val="E2E8EE"/>
            </a:solidFill>
            <a:prstDash val="solid"/>
          </a:ln>
        </p:spPr>
      </p:sp>
      <p:sp>
        <p:nvSpPr>
          <p:cNvPr id="28" name="Shape 26"/>
          <p:cNvSpPr/>
          <p:nvPr/>
        </p:nvSpPr>
        <p:spPr>
          <a:xfrm>
            <a:off x="621792" y="4471416"/>
            <a:ext cx="658368" cy="475488"/>
          </a:xfrm>
          <a:prstGeom prst="roundRect">
            <a:avLst>
              <a:gd name="adj" fmla="val 11538"/>
            </a:avLst>
          </a:prstGeom>
          <a:solidFill>
            <a:srgbClr val="1A7070"/>
          </a:solidFill>
          <a:ln w="12700">
            <a:solidFill>
              <a:srgbClr val="1A7070"/>
            </a:solidFill>
            <a:prstDash val="solid"/>
          </a:ln>
        </p:spPr>
      </p:sp>
      <p:sp>
        <p:nvSpPr>
          <p:cNvPr id="29" name="Text 27"/>
          <p:cNvSpPr/>
          <p:nvPr/>
        </p:nvSpPr>
        <p:spPr>
          <a:xfrm>
            <a:off x="621792" y="4471416"/>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0" name="Text 28"/>
          <p:cNvSpPr/>
          <p:nvPr/>
        </p:nvSpPr>
        <p:spPr>
          <a:xfrm>
            <a:off x="1463040" y="4370832"/>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Use the name in the formula.</a:t>
            </a:r>
            <a:endParaRPr lang="en-US" sz="1600" dirty="0"/>
          </a:p>
        </p:txBody>
      </p:sp>
      <p:sp>
        <p:nvSpPr>
          <p:cNvPr id="31" name="Text 29"/>
          <p:cNvSpPr/>
          <p:nvPr/>
        </p:nvSpPr>
        <p:spPr>
          <a:xfrm>
            <a:off x="1463040" y="4663440"/>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Write width * height, not 8 * 5, once those measures live in variables.</a:t>
            </a:r>
            <a:endParaRPr lang="en-US" sz="1400" dirty="0"/>
          </a:p>
        </p:txBody>
      </p:sp>
      <p:sp>
        <p:nvSpPr>
          <p:cNvPr id="32" name="Shape 30"/>
          <p:cNvSpPr/>
          <p:nvPr/>
        </p:nvSpPr>
        <p:spPr>
          <a:xfrm>
            <a:off x="457200" y="5248656"/>
            <a:ext cx="11247120" cy="896112"/>
          </a:xfrm>
          <a:prstGeom prst="roundRect">
            <a:avLst>
              <a:gd name="adj" fmla="val 8163"/>
            </a:avLst>
          </a:prstGeom>
          <a:solidFill>
            <a:srgbClr val="FFFFFF"/>
          </a:solidFill>
          <a:ln w="12700">
            <a:solidFill>
              <a:srgbClr val="E2E8EE"/>
            </a:solidFill>
            <a:prstDash val="solid"/>
          </a:ln>
        </p:spPr>
      </p:sp>
      <p:sp>
        <p:nvSpPr>
          <p:cNvPr id="33" name="Shape 31"/>
          <p:cNvSpPr/>
          <p:nvPr/>
        </p:nvSpPr>
        <p:spPr>
          <a:xfrm>
            <a:off x="621792" y="5458968"/>
            <a:ext cx="658368" cy="475488"/>
          </a:xfrm>
          <a:prstGeom prst="roundRect">
            <a:avLst>
              <a:gd name="adj" fmla="val 11538"/>
            </a:avLst>
          </a:prstGeom>
          <a:solidFill>
            <a:srgbClr val="1A7070"/>
          </a:solidFill>
          <a:ln w="12700">
            <a:solidFill>
              <a:srgbClr val="1A7070"/>
            </a:solidFill>
            <a:prstDash val="solid"/>
          </a:ln>
        </p:spPr>
      </p:sp>
      <p:sp>
        <p:nvSpPr>
          <p:cNvPr id="34" name="Text 32"/>
          <p:cNvSpPr/>
          <p:nvPr/>
        </p:nvSpPr>
        <p:spPr>
          <a:xfrm>
            <a:off x="621792" y="5458968"/>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5" name="Text 33"/>
          <p:cNvSpPr/>
          <p:nvPr/>
        </p:nvSpPr>
        <p:spPr>
          <a:xfrm>
            <a:off x="1463040" y="5358384"/>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Hold two ideas at once.</a:t>
            </a:r>
            <a:endParaRPr lang="en-US" sz="1600" dirty="0"/>
          </a:p>
        </p:txBody>
      </p:sp>
      <p:sp>
        <p:nvSpPr>
          <p:cNvPr id="36" name="Text 34"/>
          <p:cNvSpPr/>
          <p:nvPr/>
        </p:nvSpPr>
        <p:spPr>
          <a:xfrm>
            <a:off x="1463040" y="5650992"/>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Variables can change. The promises of God in Christ do not. 2 Corinthians 1:20.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Assignment Is Not Algebra</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25880"/>
            <a:ext cx="2788920" cy="1280160"/>
          </a:xfrm>
          <a:prstGeom prst="roundRect">
            <a:avLst>
              <a:gd name="adj" fmla="val 5714"/>
            </a:avLst>
          </a:prstGeom>
          <a:solidFill>
            <a:srgbClr val="FFFFFF"/>
          </a:solidFill>
          <a:ln w="12700">
            <a:solidFill>
              <a:srgbClr val="E2E8EE"/>
            </a:solidFill>
            <a:prstDash val="solid"/>
          </a:ln>
        </p:spPr>
      </p:sp>
      <p:sp>
        <p:nvSpPr>
          <p:cNvPr id="13" name="Shape 11"/>
          <p:cNvSpPr/>
          <p:nvPr/>
        </p:nvSpPr>
        <p:spPr>
          <a:xfrm>
            <a:off x="603504" y="1490472"/>
            <a:ext cx="502920" cy="502920"/>
          </a:xfrm>
          <a:prstGeom prst="roundRect">
            <a:avLst>
              <a:gd name="adj" fmla="val 10909"/>
            </a:avLst>
          </a:prstGeom>
          <a:solidFill>
            <a:srgbClr val="0D3358"/>
          </a:solidFill>
          <a:ln w="12700">
            <a:solidFill>
              <a:srgbClr val="C5D7F0"/>
            </a:solidFill>
            <a:prstDash val="solid"/>
          </a:ln>
        </p:spPr>
      </p:sp>
      <p:sp>
        <p:nvSpPr>
          <p:cNvPr id="14" name="Text 12"/>
          <p:cNvSpPr/>
          <p:nvPr/>
        </p:nvSpPr>
        <p:spPr>
          <a:xfrm>
            <a:off x="122529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Name</a:t>
            </a:r>
            <a:endParaRPr lang="en-US" sz="1500" dirty="0"/>
          </a:p>
        </p:txBody>
      </p:sp>
      <p:sp>
        <p:nvSpPr>
          <p:cNvPr id="15" name="Text 13"/>
          <p:cNvSpPr/>
          <p:nvPr/>
        </p:nvSpPr>
        <p:spPr>
          <a:xfrm>
            <a:off x="122529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score</a:t>
            </a:r>
            <a:endParaRPr lang="en-US" sz="1200" dirty="0"/>
          </a:p>
        </p:txBody>
      </p:sp>
      <p:sp>
        <p:nvSpPr>
          <p:cNvPr id="16" name="Text 14"/>
          <p:cNvSpPr/>
          <p:nvPr/>
        </p:nvSpPr>
        <p:spPr>
          <a:xfrm>
            <a:off x="60350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The label on the box</a:t>
            </a:r>
            <a:endParaRPr lang="en-US" sz="1300" dirty="0"/>
          </a:p>
        </p:txBody>
      </p:sp>
      <p:sp>
        <p:nvSpPr>
          <p:cNvPr id="17" name="Shape 15"/>
          <p:cNvSpPr/>
          <p:nvPr/>
        </p:nvSpPr>
        <p:spPr>
          <a:xfrm>
            <a:off x="3383280" y="1325880"/>
            <a:ext cx="2788920" cy="1280160"/>
          </a:xfrm>
          <a:prstGeom prst="roundRect">
            <a:avLst>
              <a:gd name="adj" fmla="val 5714"/>
            </a:avLst>
          </a:prstGeom>
          <a:solidFill>
            <a:srgbClr val="FFFFFF"/>
          </a:solidFill>
          <a:ln w="12700">
            <a:solidFill>
              <a:srgbClr val="E2E8EE"/>
            </a:solidFill>
            <a:prstDash val="solid"/>
          </a:ln>
        </p:spPr>
      </p:sp>
      <p:sp>
        <p:nvSpPr>
          <p:cNvPr id="18" name="Shape 16"/>
          <p:cNvSpPr/>
          <p:nvPr/>
        </p:nvSpPr>
        <p:spPr>
          <a:xfrm>
            <a:off x="3529584" y="1490472"/>
            <a:ext cx="502920" cy="502920"/>
          </a:xfrm>
          <a:prstGeom prst="roundRect">
            <a:avLst>
              <a:gd name="adj" fmla="val 10909"/>
            </a:avLst>
          </a:prstGeom>
          <a:solidFill>
            <a:srgbClr val="0A2540"/>
          </a:solidFill>
          <a:ln w="12700">
            <a:solidFill>
              <a:srgbClr val="C5D7F0"/>
            </a:solidFill>
            <a:prstDash val="solid"/>
          </a:ln>
        </p:spPr>
      </p:sp>
      <p:sp>
        <p:nvSpPr>
          <p:cNvPr id="19" name="Text 17"/>
          <p:cNvSpPr/>
          <p:nvPr/>
        </p:nvSpPr>
        <p:spPr>
          <a:xfrm>
            <a:off x="415137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Name Dark</a:t>
            </a:r>
            <a:endParaRPr lang="en-US" sz="1500" dirty="0"/>
          </a:p>
        </p:txBody>
      </p:sp>
      <p:sp>
        <p:nvSpPr>
          <p:cNvPr id="20" name="Text 18"/>
          <p:cNvSpPr/>
          <p:nvPr/>
        </p:nvSpPr>
        <p:spPr>
          <a:xfrm>
            <a:off x="415137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a:t>
            </a:r>
            <a:endParaRPr lang="en-US" sz="1200" dirty="0"/>
          </a:p>
        </p:txBody>
      </p:sp>
      <p:sp>
        <p:nvSpPr>
          <p:cNvPr id="21" name="Text 19"/>
          <p:cNvSpPr/>
          <p:nvPr/>
        </p:nvSpPr>
        <p:spPr>
          <a:xfrm>
            <a:off x="352958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Puts a value in the box</a:t>
            </a:r>
            <a:endParaRPr lang="en-US" sz="1300" dirty="0"/>
          </a:p>
        </p:txBody>
      </p:sp>
      <p:sp>
        <p:nvSpPr>
          <p:cNvPr id="22" name="Shape 20"/>
          <p:cNvSpPr/>
          <p:nvPr/>
        </p:nvSpPr>
        <p:spPr>
          <a:xfrm>
            <a:off x="6309360" y="1325880"/>
            <a:ext cx="2788920" cy="1280160"/>
          </a:xfrm>
          <a:prstGeom prst="roundRect">
            <a:avLst>
              <a:gd name="adj" fmla="val 5714"/>
            </a:avLst>
          </a:prstGeom>
          <a:solidFill>
            <a:srgbClr val="FFFFFF"/>
          </a:solidFill>
          <a:ln w="12700">
            <a:solidFill>
              <a:srgbClr val="E2E8EE"/>
            </a:solidFill>
            <a:prstDash val="solid"/>
          </a:ln>
        </p:spPr>
      </p:sp>
      <p:sp>
        <p:nvSpPr>
          <p:cNvPr id="23" name="Shape 21"/>
          <p:cNvSpPr/>
          <p:nvPr/>
        </p:nvSpPr>
        <p:spPr>
          <a:xfrm>
            <a:off x="6455664" y="1490472"/>
            <a:ext cx="502920" cy="502920"/>
          </a:xfrm>
          <a:prstGeom prst="roundRect">
            <a:avLst>
              <a:gd name="adj" fmla="val 10909"/>
            </a:avLst>
          </a:prstGeom>
          <a:solidFill>
            <a:srgbClr val="1A7070"/>
          </a:solidFill>
          <a:ln w="12700">
            <a:solidFill>
              <a:srgbClr val="C5D7F0"/>
            </a:solidFill>
            <a:prstDash val="solid"/>
          </a:ln>
        </p:spPr>
      </p:sp>
      <p:sp>
        <p:nvSpPr>
          <p:cNvPr id="24" name="Text 22"/>
          <p:cNvSpPr/>
          <p:nvPr/>
        </p:nvSpPr>
        <p:spPr>
          <a:xfrm>
            <a:off x="707745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Value</a:t>
            </a:r>
            <a:endParaRPr lang="en-US" sz="1500" dirty="0"/>
          </a:p>
        </p:txBody>
      </p:sp>
      <p:sp>
        <p:nvSpPr>
          <p:cNvPr id="25" name="Text 23"/>
          <p:cNvSpPr/>
          <p:nvPr/>
        </p:nvSpPr>
        <p:spPr>
          <a:xfrm>
            <a:off x="707745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88</a:t>
            </a:r>
            <a:endParaRPr lang="en-US" sz="1200" dirty="0"/>
          </a:p>
        </p:txBody>
      </p:sp>
      <p:sp>
        <p:nvSpPr>
          <p:cNvPr id="26" name="Text 24"/>
          <p:cNvSpPr/>
          <p:nvPr/>
        </p:nvSpPr>
        <p:spPr>
          <a:xfrm>
            <a:off x="645566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What the name refers to</a:t>
            </a:r>
            <a:endParaRPr lang="en-US" sz="1300" dirty="0"/>
          </a:p>
        </p:txBody>
      </p:sp>
      <p:sp>
        <p:nvSpPr>
          <p:cNvPr id="27" name="Shape 25"/>
          <p:cNvSpPr/>
          <p:nvPr/>
        </p:nvSpPr>
        <p:spPr>
          <a:xfrm>
            <a:off x="9235440" y="1325880"/>
            <a:ext cx="2788920" cy="1280160"/>
          </a:xfrm>
          <a:prstGeom prst="roundRect">
            <a:avLst>
              <a:gd name="adj" fmla="val 5714"/>
            </a:avLst>
          </a:prstGeom>
          <a:solidFill>
            <a:srgbClr val="FFFFFF"/>
          </a:solidFill>
          <a:ln w="12700">
            <a:solidFill>
              <a:srgbClr val="E2E8EE"/>
            </a:solidFill>
            <a:prstDash val="solid"/>
          </a:ln>
        </p:spPr>
      </p:sp>
      <p:sp>
        <p:nvSpPr>
          <p:cNvPr id="28" name="Shape 26"/>
          <p:cNvSpPr/>
          <p:nvPr/>
        </p:nvSpPr>
        <p:spPr>
          <a:xfrm>
            <a:off x="9381744" y="1490472"/>
            <a:ext cx="502920" cy="502920"/>
          </a:xfrm>
          <a:prstGeom prst="roundRect">
            <a:avLst>
              <a:gd name="adj" fmla="val 10909"/>
            </a:avLst>
          </a:prstGeom>
          <a:solidFill>
            <a:srgbClr val="E1A244"/>
          </a:solidFill>
          <a:ln w="12700">
            <a:solidFill>
              <a:srgbClr val="C5D7F0"/>
            </a:solidFill>
            <a:prstDash val="solid"/>
          </a:ln>
        </p:spPr>
      </p:sp>
      <p:sp>
        <p:nvSpPr>
          <p:cNvPr id="29" name="Text 27"/>
          <p:cNvSpPr/>
          <p:nvPr/>
        </p:nvSpPr>
        <p:spPr>
          <a:xfrm>
            <a:off x="1000353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Trace</a:t>
            </a:r>
            <a:endParaRPr lang="en-US" sz="1500" dirty="0"/>
          </a:p>
        </p:txBody>
      </p:sp>
      <p:sp>
        <p:nvSpPr>
          <p:cNvPr id="30" name="Text 28"/>
          <p:cNvSpPr/>
          <p:nvPr/>
        </p:nvSpPr>
        <p:spPr>
          <a:xfrm>
            <a:off x="1000353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print</a:t>
            </a:r>
            <a:endParaRPr lang="en-US" sz="1200" dirty="0"/>
          </a:p>
        </p:txBody>
      </p:sp>
      <p:sp>
        <p:nvSpPr>
          <p:cNvPr id="31" name="Text 29"/>
          <p:cNvSpPr/>
          <p:nvPr/>
        </p:nvSpPr>
        <p:spPr>
          <a:xfrm>
            <a:off x="938174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Ask what the name holds now</a:t>
            </a:r>
            <a:endParaRPr lang="en-US" sz="1300" dirty="0"/>
          </a:p>
        </p:txBody>
      </p:sp>
      <p:sp>
        <p:nvSpPr>
          <p:cNvPr id="32" name="Shape 30"/>
          <p:cNvSpPr/>
          <p:nvPr/>
        </p:nvSpPr>
        <p:spPr>
          <a:xfrm>
            <a:off x="457200" y="2743200"/>
            <a:ext cx="2788920" cy="1280160"/>
          </a:xfrm>
          <a:prstGeom prst="roundRect">
            <a:avLst>
              <a:gd name="adj" fmla="val 5714"/>
            </a:avLst>
          </a:prstGeom>
          <a:solidFill>
            <a:srgbClr val="FFFFFF"/>
          </a:solidFill>
          <a:ln w="12700">
            <a:solidFill>
              <a:srgbClr val="E2E8EE"/>
            </a:solidFill>
            <a:prstDash val="solid"/>
          </a:ln>
        </p:spPr>
      </p:sp>
      <p:sp>
        <p:nvSpPr>
          <p:cNvPr id="33" name="Shape 31"/>
          <p:cNvSpPr/>
          <p:nvPr/>
        </p:nvSpPr>
        <p:spPr>
          <a:xfrm>
            <a:off x="603504" y="2907792"/>
            <a:ext cx="502920" cy="502920"/>
          </a:xfrm>
          <a:prstGeom prst="roundRect">
            <a:avLst>
              <a:gd name="adj" fmla="val 10909"/>
            </a:avLst>
          </a:prstGeom>
          <a:solidFill>
            <a:srgbClr val="D08F3C"/>
          </a:solidFill>
          <a:ln w="12700">
            <a:solidFill>
              <a:srgbClr val="C5D7F0"/>
            </a:solidFill>
            <a:prstDash val="solid"/>
          </a:ln>
        </p:spPr>
      </p:sp>
      <p:sp>
        <p:nvSpPr>
          <p:cNvPr id="34" name="Text 32"/>
          <p:cNvSpPr/>
          <p:nvPr/>
        </p:nvSpPr>
        <p:spPr>
          <a:xfrm>
            <a:off x="122529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Trace Deep</a:t>
            </a:r>
            <a:endParaRPr lang="en-US" sz="1500" dirty="0"/>
          </a:p>
        </p:txBody>
      </p:sp>
      <p:sp>
        <p:nvSpPr>
          <p:cNvPr id="35" name="Text 33"/>
          <p:cNvSpPr/>
          <p:nvPr/>
        </p:nvSpPr>
        <p:spPr>
          <a:xfrm>
            <a:off x="122529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score = 88</a:t>
            </a:r>
            <a:endParaRPr lang="en-US" sz="1200" dirty="0"/>
          </a:p>
        </p:txBody>
      </p:sp>
      <p:sp>
        <p:nvSpPr>
          <p:cNvPr id="36" name="Text 34"/>
          <p:cNvSpPr/>
          <p:nvPr/>
        </p:nvSpPr>
        <p:spPr>
          <a:xfrm>
            <a:off x="60350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Creates or updates a name</a:t>
            </a:r>
            <a:endParaRPr lang="en-US" sz="1300" dirty="0"/>
          </a:p>
        </p:txBody>
      </p:sp>
      <p:sp>
        <p:nvSpPr>
          <p:cNvPr id="37" name="Shape 35"/>
          <p:cNvSpPr/>
          <p:nvPr/>
        </p:nvSpPr>
        <p:spPr>
          <a:xfrm>
            <a:off x="3383280" y="2743200"/>
            <a:ext cx="2788920" cy="1280160"/>
          </a:xfrm>
          <a:prstGeom prst="roundRect">
            <a:avLst>
              <a:gd name="adj" fmla="val 5714"/>
            </a:avLst>
          </a:prstGeom>
          <a:solidFill>
            <a:srgbClr val="FFFFFF"/>
          </a:solidFill>
          <a:ln w="12700">
            <a:solidFill>
              <a:srgbClr val="E2E8EE"/>
            </a:solidFill>
            <a:prstDash val="solid"/>
          </a:ln>
        </p:spPr>
      </p:sp>
      <p:sp>
        <p:nvSpPr>
          <p:cNvPr id="38" name="Shape 36"/>
          <p:cNvSpPr/>
          <p:nvPr/>
        </p:nvSpPr>
        <p:spPr>
          <a:xfrm>
            <a:off x="3529584" y="2907792"/>
            <a:ext cx="502920" cy="502920"/>
          </a:xfrm>
          <a:prstGeom prst="roundRect">
            <a:avLst>
              <a:gd name="adj" fmla="val 10909"/>
            </a:avLst>
          </a:prstGeom>
          <a:solidFill>
            <a:srgbClr val="A64936"/>
          </a:solidFill>
          <a:ln w="12700">
            <a:solidFill>
              <a:srgbClr val="C5D7F0"/>
            </a:solidFill>
            <a:prstDash val="solid"/>
          </a:ln>
        </p:spPr>
      </p:sp>
      <p:sp>
        <p:nvSpPr>
          <p:cNvPr id="39" name="Text 37"/>
          <p:cNvSpPr/>
          <p:nvPr/>
        </p:nvSpPr>
        <p:spPr>
          <a:xfrm>
            <a:off x="415137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Algebra</a:t>
            </a:r>
            <a:endParaRPr lang="en-US" sz="1500" dirty="0"/>
          </a:p>
        </p:txBody>
      </p:sp>
      <p:sp>
        <p:nvSpPr>
          <p:cNvPr id="40" name="Text 38"/>
          <p:cNvSpPr/>
          <p:nvPr/>
        </p:nvSpPr>
        <p:spPr>
          <a:xfrm>
            <a:off x="415137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x = 88</a:t>
            </a:r>
            <a:endParaRPr lang="en-US" sz="1200" dirty="0"/>
          </a:p>
        </p:txBody>
      </p:sp>
      <p:sp>
        <p:nvSpPr>
          <p:cNvPr id="41" name="Text 39"/>
          <p:cNvSpPr/>
          <p:nvPr/>
        </p:nvSpPr>
        <p:spPr>
          <a:xfrm>
            <a:off x="352958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Claims two sides are equal</a:t>
            </a:r>
            <a:endParaRPr lang="en-US" sz="1300" dirty="0"/>
          </a:p>
        </p:txBody>
      </p:sp>
      <p:sp>
        <p:nvSpPr>
          <p:cNvPr id="42" name="Shape 40"/>
          <p:cNvSpPr/>
          <p:nvPr/>
        </p:nvSpPr>
        <p:spPr>
          <a:xfrm>
            <a:off x="6309360" y="2743200"/>
            <a:ext cx="2788920" cy="1280160"/>
          </a:xfrm>
          <a:prstGeom prst="roundRect">
            <a:avLst>
              <a:gd name="adj" fmla="val 5714"/>
            </a:avLst>
          </a:prstGeom>
          <a:solidFill>
            <a:srgbClr val="FFFFFF"/>
          </a:solidFill>
          <a:ln w="12700">
            <a:solidFill>
              <a:srgbClr val="E2E8EE"/>
            </a:solidFill>
            <a:prstDash val="solid"/>
          </a:ln>
        </p:spPr>
      </p:sp>
      <p:sp>
        <p:nvSpPr>
          <p:cNvPr id="43" name="Shape 41"/>
          <p:cNvSpPr/>
          <p:nvPr/>
        </p:nvSpPr>
        <p:spPr>
          <a:xfrm>
            <a:off x="6455664" y="2907792"/>
            <a:ext cx="502920" cy="502920"/>
          </a:xfrm>
          <a:prstGeom prst="roundRect">
            <a:avLst>
              <a:gd name="adj" fmla="val 10909"/>
            </a:avLst>
          </a:prstGeom>
          <a:solidFill>
            <a:srgbClr val="F6F6F5"/>
          </a:solidFill>
          <a:ln w="12700">
            <a:solidFill>
              <a:srgbClr val="C5D7F0"/>
            </a:solidFill>
            <a:prstDash val="solid"/>
          </a:ln>
        </p:spPr>
      </p:sp>
      <p:sp>
        <p:nvSpPr>
          <p:cNvPr id="44" name="Text 42"/>
          <p:cNvSpPr/>
          <p:nvPr/>
        </p:nvSpPr>
        <p:spPr>
          <a:xfrm>
            <a:off x="707745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Kindness</a:t>
            </a:r>
            <a:endParaRPr lang="en-US" sz="1500" dirty="0"/>
          </a:p>
        </p:txBody>
      </p:sp>
      <p:sp>
        <p:nvSpPr>
          <p:cNvPr id="45" name="Text 43"/>
          <p:cNvSpPr/>
          <p:nvPr/>
        </p:nvSpPr>
        <p:spPr>
          <a:xfrm>
            <a:off x="707745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first_name</a:t>
            </a:r>
            <a:endParaRPr lang="en-US" sz="1200" dirty="0"/>
          </a:p>
        </p:txBody>
      </p:sp>
      <p:sp>
        <p:nvSpPr>
          <p:cNvPr id="46" name="Text 44"/>
          <p:cNvSpPr/>
          <p:nvPr/>
        </p:nvSpPr>
        <p:spPr>
          <a:xfrm>
            <a:off x="645566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 name that future-you can read</a:t>
            </a:r>
            <a:endParaRPr lang="en-US" sz="1300" dirty="0"/>
          </a:p>
        </p:txBody>
      </p:sp>
      <p:sp>
        <p:nvSpPr>
          <p:cNvPr id="47" name="Shape 45"/>
          <p:cNvSpPr/>
          <p:nvPr/>
        </p:nvSpPr>
        <p:spPr>
          <a:xfrm>
            <a:off x="9235440" y="2743200"/>
            <a:ext cx="2788920" cy="1280160"/>
          </a:xfrm>
          <a:prstGeom prst="roundRect">
            <a:avLst>
              <a:gd name="adj" fmla="val 5714"/>
            </a:avLst>
          </a:prstGeom>
          <a:solidFill>
            <a:srgbClr val="FFFFFF"/>
          </a:solidFill>
          <a:ln w="12700">
            <a:solidFill>
              <a:srgbClr val="E2E8EE"/>
            </a:solidFill>
            <a:prstDash val="solid"/>
          </a:ln>
        </p:spPr>
      </p:sp>
      <p:sp>
        <p:nvSpPr>
          <p:cNvPr id="48" name="Shape 46"/>
          <p:cNvSpPr/>
          <p:nvPr/>
        </p:nvSpPr>
        <p:spPr>
          <a:xfrm>
            <a:off x="9381744" y="2907792"/>
            <a:ext cx="502920" cy="502920"/>
          </a:xfrm>
          <a:prstGeom prst="roundRect">
            <a:avLst>
              <a:gd name="adj" fmla="val 10909"/>
            </a:avLst>
          </a:prstGeom>
          <a:solidFill>
            <a:srgbClr val="2A2A2A"/>
          </a:solidFill>
          <a:ln w="12700">
            <a:solidFill>
              <a:srgbClr val="C5D7F0"/>
            </a:solidFill>
            <a:prstDash val="solid"/>
          </a:ln>
        </p:spPr>
      </p:sp>
      <p:sp>
        <p:nvSpPr>
          <p:cNvPr id="49" name="Text 47"/>
          <p:cNvSpPr/>
          <p:nvPr/>
        </p:nvSpPr>
        <p:spPr>
          <a:xfrm>
            <a:off x="1000353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Habit</a:t>
            </a:r>
            <a:endParaRPr lang="en-US" sz="1500" dirty="0"/>
          </a:p>
        </p:txBody>
      </p:sp>
      <p:sp>
        <p:nvSpPr>
          <p:cNvPr id="50" name="Text 48"/>
          <p:cNvSpPr/>
          <p:nvPr/>
        </p:nvSpPr>
        <p:spPr>
          <a:xfrm>
            <a:off x="1000353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snake_case</a:t>
            </a:r>
            <a:endParaRPr lang="en-US" sz="1200" dirty="0"/>
          </a:p>
        </p:txBody>
      </p:sp>
      <p:sp>
        <p:nvSpPr>
          <p:cNvPr id="51" name="Text 49"/>
          <p:cNvSpPr/>
          <p:nvPr/>
        </p:nvSpPr>
        <p:spPr>
          <a:xfrm>
            <a:off x="938174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Type it the same way every time</a:t>
            </a:r>
            <a:endParaRPr lang="en-US" sz="1300" dirty="0"/>
          </a:p>
        </p:txBody>
      </p:sp>
      <p:sp>
        <p:nvSpPr>
          <p:cNvPr id="52" name="Shape 50"/>
          <p:cNvSpPr/>
          <p:nvPr/>
        </p:nvSpPr>
        <p:spPr>
          <a:xfrm>
            <a:off x="457200" y="4297680"/>
            <a:ext cx="11247120" cy="1965960"/>
          </a:xfrm>
          <a:prstGeom prst="roundRect">
            <a:avLst>
              <a:gd name="adj" fmla="val 3721"/>
            </a:avLst>
          </a:prstGeom>
          <a:solidFill>
            <a:srgbClr val="FFFFFF"/>
          </a:solidFill>
          <a:ln w="12700">
            <a:solidFill>
              <a:srgbClr val="E2E8EE"/>
            </a:solidFill>
            <a:prstDash val="solid"/>
          </a:ln>
        </p:spPr>
      </p:sp>
      <p:sp>
        <p:nvSpPr>
          <p:cNvPr id="53" name="Text 51"/>
          <p:cNvSpPr/>
          <p:nvPr/>
        </p:nvSpPr>
        <p:spPr>
          <a:xfrm>
            <a:off x="685800" y="4434840"/>
            <a:ext cx="1078992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Remember</a:t>
            </a:r>
            <a:endParaRPr lang="en-US" sz="1600" dirty="0"/>
          </a:p>
        </p:txBody>
      </p:sp>
      <p:sp>
        <p:nvSpPr>
          <p:cNvPr id="54" name="Text 52"/>
          <p:cNvSpPr/>
          <p:nvPr/>
        </p:nvSpPr>
        <p:spPr>
          <a:xfrm>
            <a:off x="685800" y="4773168"/>
            <a:ext cx="10789920" cy="1353312"/>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In Python, = does not mean “is equal to.” It means “store this value under this name.”</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In algebra, = is a claim. In Python, = is an action. Say “gets” when you read it aloud.</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After score = 88, the name score refers to 88 until you assign again.</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Cards.  White or paleNote on cream. Value or gold left accent 0.12 in. Code sits on #E7F2FD. Scripture sits on ivory.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In This Lesson</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841248"/>
          </a:xfrm>
          <a:prstGeom prst="roundRect">
            <a:avLst>
              <a:gd name="adj" fmla="val 8696"/>
            </a:avLst>
          </a:prstGeom>
          <a:solidFill>
            <a:srgbClr val="FFFFFF"/>
          </a:solidFill>
          <a:ln w="12700">
            <a:solidFill>
              <a:srgbClr val="E2E8EE"/>
            </a:solidFill>
            <a:prstDash val="solid"/>
          </a:ln>
        </p:spPr>
      </p:sp>
      <p:sp>
        <p:nvSpPr>
          <p:cNvPr id="13" name="Shape 11"/>
          <p:cNvSpPr/>
          <p:nvPr/>
        </p:nvSpPr>
        <p:spPr>
          <a:xfrm>
            <a:off x="621792" y="1536192"/>
            <a:ext cx="658368" cy="475488"/>
          </a:xfrm>
          <a:prstGeom prst="roundRect">
            <a:avLst>
              <a:gd name="adj" fmla="val 11538"/>
            </a:avLst>
          </a:prstGeom>
          <a:solidFill>
            <a:srgbClr val="1A7070"/>
          </a:solidFill>
          <a:ln w="12700">
            <a:solidFill>
              <a:srgbClr val="1A7070"/>
            </a:solidFill>
            <a:prstDash val="solid"/>
          </a:ln>
        </p:spPr>
      </p:sp>
      <p:sp>
        <p:nvSpPr>
          <p:cNvPr id="14" name="Text 12"/>
          <p:cNvSpPr/>
          <p:nvPr/>
        </p:nvSpPr>
        <p:spPr>
          <a:xfrm>
            <a:off x="621792" y="1536192"/>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1463040" y="1517904"/>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Declare a variable and assign a value with a single equals sign.</a:t>
            </a:r>
            <a:endParaRPr lang="en-US" sz="1800" dirty="0"/>
          </a:p>
        </p:txBody>
      </p:sp>
      <p:sp>
        <p:nvSpPr>
          <p:cNvPr id="16" name="Shape 14"/>
          <p:cNvSpPr/>
          <p:nvPr/>
        </p:nvSpPr>
        <p:spPr>
          <a:xfrm>
            <a:off x="457200" y="2304288"/>
            <a:ext cx="11247120" cy="841248"/>
          </a:xfrm>
          <a:prstGeom prst="roundRect">
            <a:avLst>
              <a:gd name="adj" fmla="val 8696"/>
            </a:avLst>
          </a:prstGeom>
          <a:solidFill>
            <a:srgbClr val="F0F7FF"/>
          </a:solidFill>
          <a:ln w="12700">
            <a:solidFill>
              <a:srgbClr val="E2E8EE"/>
            </a:solidFill>
            <a:prstDash val="solid"/>
          </a:ln>
        </p:spPr>
      </p:sp>
      <p:sp>
        <p:nvSpPr>
          <p:cNvPr id="17" name="Shape 15"/>
          <p:cNvSpPr/>
          <p:nvPr/>
        </p:nvSpPr>
        <p:spPr>
          <a:xfrm>
            <a:off x="621792" y="2487168"/>
            <a:ext cx="658368" cy="475488"/>
          </a:xfrm>
          <a:prstGeom prst="roundRect">
            <a:avLst>
              <a:gd name="adj" fmla="val 11538"/>
            </a:avLst>
          </a:prstGeom>
          <a:solidFill>
            <a:srgbClr val="1A7070"/>
          </a:solidFill>
          <a:ln w="12700">
            <a:solidFill>
              <a:srgbClr val="1A7070"/>
            </a:solidFill>
            <a:prstDash val="solid"/>
          </a:ln>
        </p:spPr>
      </p:sp>
      <p:sp>
        <p:nvSpPr>
          <p:cNvPr id="18" name="Text 16"/>
          <p:cNvSpPr/>
          <p:nvPr/>
        </p:nvSpPr>
        <p:spPr>
          <a:xfrm>
            <a:off x="621792" y="2487168"/>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1463040" y="2468880"/>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Apply Python naming rules and snake_case conventions.</a:t>
            </a:r>
            <a:endParaRPr lang="en-US" sz="1800" dirty="0"/>
          </a:p>
        </p:txBody>
      </p:sp>
      <p:sp>
        <p:nvSpPr>
          <p:cNvPr id="20" name="Shape 18"/>
          <p:cNvSpPr/>
          <p:nvPr/>
        </p:nvSpPr>
        <p:spPr>
          <a:xfrm>
            <a:off x="457200" y="3255264"/>
            <a:ext cx="11247120" cy="841248"/>
          </a:xfrm>
          <a:prstGeom prst="roundRect">
            <a:avLst>
              <a:gd name="adj" fmla="val 8696"/>
            </a:avLst>
          </a:prstGeom>
          <a:solidFill>
            <a:srgbClr val="FFFFFF"/>
          </a:solidFill>
          <a:ln w="12700">
            <a:solidFill>
              <a:srgbClr val="E2E8EE"/>
            </a:solidFill>
            <a:prstDash val="solid"/>
          </a:ln>
        </p:spPr>
      </p:sp>
      <p:sp>
        <p:nvSpPr>
          <p:cNvPr id="21" name="Shape 19"/>
          <p:cNvSpPr/>
          <p:nvPr/>
        </p:nvSpPr>
        <p:spPr>
          <a:xfrm>
            <a:off x="621792" y="3438144"/>
            <a:ext cx="658368" cy="475488"/>
          </a:xfrm>
          <a:prstGeom prst="roundRect">
            <a:avLst>
              <a:gd name="adj" fmla="val 11538"/>
            </a:avLst>
          </a:prstGeom>
          <a:solidFill>
            <a:srgbClr val="1A7070"/>
          </a:solidFill>
          <a:ln w="12700">
            <a:solidFill>
              <a:srgbClr val="1A7070"/>
            </a:solidFill>
            <a:prstDash val="solid"/>
          </a:ln>
        </p:spPr>
      </p:sp>
      <p:sp>
        <p:nvSpPr>
          <p:cNvPr id="22" name="Text 20"/>
          <p:cNvSpPr/>
          <p:nvPr/>
        </p:nvSpPr>
        <p:spPr>
          <a:xfrm>
            <a:off x="621792" y="3438144"/>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463040" y="3419856"/>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Reassign a variable and trace the new value.</a:t>
            </a:r>
            <a:endParaRPr lang="en-US" sz="1800" dirty="0"/>
          </a:p>
        </p:txBody>
      </p:sp>
      <p:sp>
        <p:nvSpPr>
          <p:cNvPr id="24" name="Shape 22"/>
          <p:cNvSpPr/>
          <p:nvPr/>
        </p:nvSpPr>
        <p:spPr>
          <a:xfrm>
            <a:off x="457200" y="4206240"/>
            <a:ext cx="11247120" cy="841248"/>
          </a:xfrm>
          <a:prstGeom prst="roundRect">
            <a:avLst>
              <a:gd name="adj" fmla="val 8696"/>
            </a:avLst>
          </a:prstGeom>
          <a:solidFill>
            <a:srgbClr val="F0F7FF"/>
          </a:solidFill>
          <a:ln w="12700">
            <a:solidFill>
              <a:srgbClr val="E2E8EE"/>
            </a:solidFill>
            <a:prstDash val="solid"/>
          </a:ln>
        </p:spPr>
      </p:sp>
      <p:sp>
        <p:nvSpPr>
          <p:cNvPr id="25" name="Shape 23"/>
          <p:cNvSpPr/>
          <p:nvPr/>
        </p:nvSpPr>
        <p:spPr>
          <a:xfrm>
            <a:off x="621792" y="4389120"/>
            <a:ext cx="658368" cy="475488"/>
          </a:xfrm>
          <a:prstGeom prst="roundRect">
            <a:avLst>
              <a:gd name="adj" fmla="val 11538"/>
            </a:avLst>
          </a:prstGeom>
          <a:solidFill>
            <a:srgbClr val="1A7070"/>
          </a:solidFill>
          <a:ln w="12700">
            <a:solidFill>
              <a:srgbClr val="1A7070"/>
            </a:solidFill>
            <a:prstDash val="solid"/>
          </a:ln>
        </p:spPr>
      </p:sp>
      <p:sp>
        <p:nvSpPr>
          <p:cNvPr id="26" name="Text 24"/>
          <p:cNvSpPr/>
          <p:nvPr/>
        </p:nvSpPr>
        <p:spPr>
          <a:xfrm>
            <a:off x="621792" y="4389120"/>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1463040" y="4370832"/>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Use variables inside expressions and print statements.</a:t>
            </a:r>
            <a:endParaRPr lang="en-US" sz="1800" dirty="0"/>
          </a:p>
        </p:txBody>
      </p:sp>
      <p:sp>
        <p:nvSpPr>
          <p:cNvPr id="28" name="Shape 26"/>
          <p:cNvSpPr/>
          <p:nvPr/>
        </p:nvSpPr>
        <p:spPr>
          <a:xfrm>
            <a:off x="457200" y="5157216"/>
            <a:ext cx="11247120" cy="841248"/>
          </a:xfrm>
          <a:prstGeom prst="roundRect">
            <a:avLst>
              <a:gd name="adj" fmla="val 8696"/>
            </a:avLst>
          </a:prstGeom>
          <a:solidFill>
            <a:srgbClr val="FFFFFF"/>
          </a:solidFill>
          <a:ln w="12700">
            <a:solidFill>
              <a:srgbClr val="E2E8EE"/>
            </a:solidFill>
            <a:prstDash val="solid"/>
          </a:ln>
        </p:spPr>
      </p:sp>
      <p:sp>
        <p:nvSpPr>
          <p:cNvPr id="29" name="Shape 27"/>
          <p:cNvSpPr/>
          <p:nvPr/>
        </p:nvSpPr>
        <p:spPr>
          <a:xfrm>
            <a:off x="621792" y="5340096"/>
            <a:ext cx="658368" cy="475488"/>
          </a:xfrm>
          <a:prstGeom prst="roundRect">
            <a:avLst>
              <a:gd name="adj" fmla="val 11538"/>
            </a:avLst>
          </a:prstGeom>
          <a:solidFill>
            <a:srgbClr val="1A7070"/>
          </a:solidFill>
          <a:ln w="12700">
            <a:solidFill>
              <a:srgbClr val="1A7070"/>
            </a:solidFill>
            <a:prstDash val="solid"/>
          </a:ln>
        </p:spPr>
      </p:sp>
      <p:sp>
        <p:nvSpPr>
          <p:cNvPr id="30" name="Text 28"/>
          <p:cNvSpPr/>
          <p:nvPr/>
        </p:nvSpPr>
        <p:spPr>
          <a:xfrm>
            <a:off x="621792" y="5340096"/>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1" name="Text 29"/>
          <p:cNvSpPr/>
          <p:nvPr/>
        </p:nvSpPr>
        <p:spPr>
          <a:xfrm>
            <a:off x="1463040" y="5321808"/>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Contrast changeable variables with the unchanging promises of God in Christ (2 Corinthians 1:20).</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5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The Big Idea</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1325880"/>
          </a:xfrm>
          <a:prstGeom prst="roundRect">
            <a:avLst>
              <a:gd name="adj" fmla="val 5517"/>
            </a:avLst>
          </a:prstGeom>
          <a:solidFill>
            <a:srgbClr val="FFFFFF"/>
          </a:solidFill>
          <a:ln w="12700">
            <a:solidFill>
              <a:srgbClr val="E2E8EE"/>
            </a:solidFill>
            <a:prstDash val="solid"/>
          </a:ln>
        </p:spPr>
      </p:sp>
      <p:sp>
        <p:nvSpPr>
          <p:cNvPr id="13" name="Text 11"/>
          <p:cNvSpPr/>
          <p:nvPr/>
        </p:nvSpPr>
        <p:spPr>
          <a:xfrm>
            <a:off x="685800" y="1536192"/>
            <a:ext cx="10789920" cy="960120"/>
          </a:xfrm>
          <a:prstGeom prst="rect">
            <a:avLst/>
          </a:prstGeom>
          <a:noFill/>
          <a:ln/>
        </p:spPr>
        <p:txBody>
          <a:bodyPr wrap="square" lIns="0" tIns="0" rIns="0" bIns="0" rtlCol="0" anchor="ctr"/>
          <a:lstStyle/>
          <a:p>
            <a:pPr indent="0" marL="0">
              <a:buNone/>
            </a:pPr>
            <a:r>
              <a:rPr lang="en-US" sz="2000" dirty="0">
                <a:solidFill>
                  <a:srgbClr val="0D3358"/>
                </a:solidFill>
                <a:latin typeface="Calibri" pitchFamily="34" charset="0"/>
                <a:ea typeface="Calibri" pitchFamily="34" charset="-122"/>
                <a:cs typeface="Calibri" pitchFamily="34" charset="-120"/>
              </a:rPr>
              <a:t>A variable is a name that refers to a value. Assignment creates or updates that name. The value can change; the name stays.</a:t>
            </a:r>
            <a:endParaRPr lang="en-US" sz="2000" dirty="0"/>
          </a:p>
        </p:txBody>
      </p:sp>
      <p:sp>
        <p:nvSpPr>
          <p:cNvPr id="14" name="Shape 12"/>
          <p:cNvSpPr/>
          <p:nvPr/>
        </p:nvSpPr>
        <p:spPr>
          <a:xfrm>
            <a:off x="457200" y="2880360"/>
            <a:ext cx="3675888" cy="3337560"/>
          </a:xfrm>
          <a:prstGeom prst="roundRect">
            <a:avLst>
              <a:gd name="adj" fmla="val 2192"/>
            </a:avLst>
          </a:prstGeom>
          <a:solidFill>
            <a:srgbClr val="FFFFFF"/>
          </a:solidFill>
          <a:ln w="12700">
            <a:solidFill>
              <a:srgbClr val="E2E8EE"/>
            </a:solidFill>
            <a:prstDash val="solid"/>
          </a:ln>
        </p:spPr>
      </p:sp>
      <p:sp>
        <p:nvSpPr>
          <p:cNvPr id="15" name="Shape 13"/>
          <p:cNvSpPr/>
          <p:nvPr/>
        </p:nvSpPr>
        <p:spPr>
          <a:xfrm>
            <a:off x="457200" y="2880360"/>
            <a:ext cx="109728" cy="3337560"/>
          </a:xfrm>
          <a:prstGeom prst="rect">
            <a:avLst/>
          </a:prstGeom>
          <a:solidFill>
            <a:srgbClr val="1A7070"/>
          </a:solidFill>
          <a:ln w="12700">
            <a:solidFill>
              <a:srgbClr val="1A7070"/>
            </a:solidFill>
            <a:prstDash val="solid"/>
          </a:ln>
        </p:spPr>
      </p:sp>
      <p:sp>
        <p:nvSpPr>
          <p:cNvPr id="16" name="Text 14"/>
          <p:cNvSpPr/>
          <p:nvPr/>
        </p:nvSpPr>
        <p:spPr>
          <a:xfrm>
            <a:off x="71323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ASSIGN</a:t>
            </a:r>
            <a:endParaRPr lang="en-US" sz="1300" dirty="0"/>
          </a:p>
        </p:txBody>
      </p:sp>
      <p:sp>
        <p:nvSpPr>
          <p:cNvPr id="17" name="Text 15"/>
          <p:cNvSpPr/>
          <p:nvPr/>
        </p:nvSpPr>
        <p:spPr>
          <a:xfrm>
            <a:off x="71323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One equals sign stores a value.</a:t>
            </a:r>
            <a:endParaRPr lang="en-US" sz="1800" dirty="0"/>
          </a:p>
        </p:txBody>
      </p:sp>
      <p:sp>
        <p:nvSpPr>
          <p:cNvPr id="18" name="Text 16"/>
          <p:cNvSpPr/>
          <p:nvPr/>
        </p:nvSpPr>
        <p:spPr>
          <a:xfrm>
            <a:off x="71323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score = 92.5 creates the name score and points it at 92.5. print(score) uses the name, not the literal.</a:t>
            </a:r>
            <a:endParaRPr lang="en-US" sz="1500" dirty="0"/>
          </a:p>
        </p:txBody>
      </p:sp>
      <p:sp>
        <p:nvSpPr>
          <p:cNvPr id="19" name="Shape 17"/>
          <p:cNvSpPr/>
          <p:nvPr/>
        </p:nvSpPr>
        <p:spPr>
          <a:xfrm>
            <a:off x="4297680" y="2880360"/>
            <a:ext cx="3675888" cy="3337560"/>
          </a:xfrm>
          <a:prstGeom prst="roundRect">
            <a:avLst>
              <a:gd name="adj" fmla="val 2192"/>
            </a:avLst>
          </a:prstGeom>
          <a:solidFill>
            <a:srgbClr val="FFFFFF"/>
          </a:solidFill>
          <a:ln w="12700">
            <a:solidFill>
              <a:srgbClr val="E2E8EE"/>
            </a:solidFill>
            <a:prstDash val="solid"/>
          </a:ln>
        </p:spPr>
      </p:sp>
      <p:sp>
        <p:nvSpPr>
          <p:cNvPr id="20" name="Shape 18"/>
          <p:cNvSpPr/>
          <p:nvPr/>
        </p:nvSpPr>
        <p:spPr>
          <a:xfrm>
            <a:off x="4297680" y="2880360"/>
            <a:ext cx="109728" cy="3337560"/>
          </a:xfrm>
          <a:prstGeom prst="rect">
            <a:avLst/>
          </a:prstGeom>
          <a:solidFill>
            <a:srgbClr val="1A7070"/>
          </a:solidFill>
          <a:ln w="12700">
            <a:solidFill>
              <a:srgbClr val="1A7070"/>
            </a:solidFill>
            <a:prstDash val="solid"/>
          </a:ln>
        </p:spPr>
      </p:sp>
      <p:sp>
        <p:nvSpPr>
          <p:cNvPr id="21" name="Text 19"/>
          <p:cNvSpPr/>
          <p:nvPr/>
        </p:nvSpPr>
        <p:spPr>
          <a:xfrm>
            <a:off x="455371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RENAME? NO</a:t>
            </a:r>
            <a:endParaRPr lang="en-US" sz="1300" dirty="0"/>
          </a:p>
        </p:txBody>
      </p:sp>
      <p:sp>
        <p:nvSpPr>
          <p:cNvPr id="22" name="Text 20"/>
          <p:cNvSpPr/>
          <p:nvPr/>
        </p:nvSpPr>
        <p:spPr>
          <a:xfrm>
            <a:off x="455371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Reassignment keeps the name.</a:t>
            </a:r>
            <a:endParaRPr lang="en-US" sz="1800" dirty="0"/>
          </a:p>
        </p:txBody>
      </p:sp>
      <p:sp>
        <p:nvSpPr>
          <p:cNvPr id="23" name="Text 21"/>
          <p:cNvSpPr/>
          <p:nvPr/>
        </p:nvSpPr>
        <p:spPr>
          <a:xfrm>
            <a:off x="455371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points = points + 5 does not invent a new name. It reads the old value, adds 5, and stores the result back in points.</a:t>
            </a:r>
            <a:endParaRPr lang="en-US" sz="1500" dirty="0"/>
          </a:p>
        </p:txBody>
      </p:sp>
      <p:sp>
        <p:nvSpPr>
          <p:cNvPr id="24" name="Shape 22"/>
          <p:cNvSpPr/>
          <p:nvPr/>
        </p:nvSpPr>
        <p:spPr>
          <a:xfrm>
            <a:off x="8138160" y="2880360"/>
            <a:ext cx="3675888" cy="3337560"/>
          </a:xfrm>
          <a:prstGeom prst="roundRect">
            <a:avLst>
              <a:gd name="adj" fmla="val 2192"/>
            </a:avLst>
          </a:prstGeom>
          <a:solidFill>
            <a:srgbClr val="FFFFFF"/>
          </a:solidFill>
          <a:ln w="12700">
            <a:solidFill>
              <a:srgbClr val="E2E8EE"/>
            </a:solidFill>
            <a:prstDash val="solid"/>
          </a:ln>
        </p:spPr>
      </p:sp>
      <p:sp>
        <p:nvSpPr>
          <p:cNvPr id="25" name="Shape 23"/>
          <p:cNvSpPr/>
          <p:nvPr/>
        </p:nvSpPr>
        <p:spPr>
          <a:xfrm>
            <a:off x="8138160" y="2880360"/>
            <a:ext cx="109728" cy="3337560"/>
          </a:xfrm>
          <a:prstGeom prst="rect">
            <a:avLst/>
          </a:prstGeom>
          <a:solidFill>
            <a:srgbClr val="1A7070"/>
          </a:solidFill>
          <a:ln w="12700">
            <a:solidFill>
              <a:srgbClr val="1A7070"/>
            </a:solidFill>
            <a:prstDash val="solid"/>
          </a:ln>
        </p:spPr>
      </p:sp>
      <p:sp>
        <p:nvSpPr>
          <p:cNvPr id="26" name="Text 24"/>
          <p:cNvSpPr/>
          <p:nvPr/>
        </p:nvSpPr>
        <p:spPr>
          <a:xfrm>
            <a:off x="839419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TRACE</a:t>
            </a:r>
            <a:endParaRPr lang="en-US" sz="1300" dirty="0"/>
          </a:p>
        </p:txBody>
      </p:sp>
      <p:sp>
        <p:nvSpPr>
          <p:cNvPr id="27" name="Text 25"/>
          <p:cNvSpPr/>
          <p:nvPr/>
        </p:nvSpPr>
        <p:spPr>
          <a:xfrm>
            <a:off x="839419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Ask what it holds right now.</a:t>
            </a:r>
            <a:endParaRPr lang="en-US" sz="1800" dirty="0"/>
          </a:p>
        </p:txBody>
      </p:sp>
      <p:sp>
        <p:nvSpPr>
          <p:cNvPr id="28" name="Text 26"/>
          <p:cNvSpPr/>
          <p:nvPr/>
        </p:nvSpPr>
        <p:spPr>
          <a:xfrm>
            <a:off x="839419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If two print(score) lines disagree, the name was reassigned between them. Trace the assignments in order.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6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Vocabulary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3675888" cy="4846320"/>
          </a:xfrm>
          <a:prstGeom prst="roundRect">
            <a:avLst>
              <a:gd name="adj" fmla="val 1990"/>
            </a:avLst>
          </a:prstGeom>
          <a:solidFill>
            <a:srgbClr val="FFFFFF"/>
          </a:solidFill>
          <a:ln w="12700">
            <a:solidFill>
              <a:srgbClr val="E2E8EE"/>
            </a:solidFill>
            <a:prstDash val="solid"/>
          </a:ln>
        </p:spPr>
      </p:sp>
      <p:sp>
        <p:nvSpPr>
          <p:cNvPr id="13" name="Shape 11"/>
          <p:cNvSpPr/>
          <p:nvPr/>
        </p:nvSpPr>
        <p:spPr>
          <a:xfrm>
            <a:off x="457200" y="1371600"/>
            <a:ext cx="3675888" cy="109728"/>
          </a:xfrm>
          <a:prstGeom prst="rect">
            <a:avLst/>
          </a:prstGeom>
          <a:solidFill>
            <a:srgbClr val="1A7070"/>
          </a:solidFill>
          <a:ln w="12700">
            <a:solidFill>
              <a:srgbClr val="1A7070"/>
            </a:solidFill>
            <a:prstDash val="solid"/>
          </a:ln>
        </p:spPr>
      </p:sp>
      <p:sp>
        <p:nvSpPr>
          <p:cNvPr id="14" name="Text 12"/>
          <p:cNvSpPr/>
          <p:nvPr/>
        </p:nvSpPr>
        <p:spPr>
          <a:xfrm>
            <a:off x="65836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VARIABLE</a:t>
            </a:r>
            <a:endParaRPr lang="en-US" sz="1800" dirty="0"/>
          </a:p>
        </p:txBody>
      </p:sp>
      <p:sp>
        <p:nvSpPr>
          <p:cNvPr id="15" name="Text 13"/>
          <p:cNvSpPr/>
          <p:nvPr/>
        </p:nvSpPr>
        <p:spPr>
          <a:xfrm>
            <a:off x="65836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 name that refers to a value stored in memory.</a:t>
            </a:r>
            <a:endParaRPr lang="en-US" sz="1600" dirty="0"/>
          </a:p>
        </p:txBody>
      </p:sp>
      <p:sp>
        <p:nvSpPr>
          <p:cNvPr id="16" name="Shape 14"/>
          <p:cNvSpPr/>
          <p:nvPr/>
        </p:nvSpPr>
        <p:spPr>
          <a:xfrm>
            <a:off x="658368" y="4617720"/>
            <a:ext cx="3273552" cy="1280160"/>
          </a:xfrm>
          <a:prstGeom prst="roundRect">
            <a:avLst>
              <a:gd name="adj" fmla="val 4286"/>
            </a:avLst>
          </a:prstGeom>
          <a:solidFill>
            <a:srgbClr val="E7F2FD"/>
          </a:solidFill>
          <a:ln w="12700">
            <a:solidFill>
              <a:srgbClr val="D3E4F6"/>
            </a:solidFill>
            <a:prstDash val="solid"/>
          </a:ln>
        </p:spPr>
      </p:sp>
      <p:sp>
        <p:nvSpPr>
          <p:cNvPr id="17" name="Text 15"/>
          <p:cNvSpPr/>
          <p:nvPr/>
        </p:nvSpPr>
        <p:spPr>
          <a:xfrm>
            <a:off x="80467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
        <p:nvSpPr>
          <p:cNvPr id="18" name="Shape 16"/>
          <p:cNvSpPr/>
          <p:nvPr/>
        </p:nvSpPr>
        <p:spPr>
          <a:xfrm>
            <a:off x="4297680" y="1371600"/>
            <a:ext cx="3675888" cy="4846320"/>
          </a:xfrm>
          <a:prstGeom prst="roundRect">
            <a:avLst>
              <a:gd name="adj" fmla="val 1990"/>
            </a:avLst>
          </a:prstGeom>
          <a:solidFill>
            <a:srgbClr val="FFFFFF"/>
          </a:solidFill>
          <a:ln w="12700">
            <a:solidFill>
              <a:srgbClr val="E2E8EE"/>
            </a:solidFill>
            <a:prstDash val="solid"/>
          </a:ln>
        </p:spPr>
      </p:sp>
      <p:sp>
        <p:nvSpPr>
          <p:cNvPr id="19" name="Shape 17"/>
          <p:cNvSpPr/>
          <p:nvPr/>
        </p:nvSpPr>
        <p:spPr>
          <a:xfrm>
            <a:off x="4297680" y="1371600"/>
            <a:ext cx="3675888" cy="109728"/>
          </a:xfrm>
          <a:prstGeom prst="rect">
            <a:avLst/>
          </a:prstGeom>
          <a:solidFill>
            <a:srgbClr val="1A7070"/>
          </a:solidFill>
          <a:ln w="12700">
            <a:solidFill>
              <a:srgbClr val="1A7070"/>
            </a:solidFill>
            <a:prstDash val="solid"/>
          </a:ln>
        </p:spPr>
      </p:sp>
      <p:sp>
        <p:nvSpPr>
          <p:cNvPr id="20" name="Text 18"/>
          <p:cNvSpPr/>
          <p:nvPr/>
        </p:nvSpPr>
        <p:spPr>
          <a:xfrm>
            <a:off x="449884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ASSIGNMENT</a:t>
            </a:r>
            <a:endParaRPr lang="en-US" sz="1800" dirty="0"/>
          </a:p>
        </p:txBody>
      </p:sp>
      <p:sp>
        <p:nvSpPr>
          <p:cNvPr id="21" name="Text 19"/>
          <p:cNvSpPr/>
          <p:nvPr/>
        </p:nvSpPr>
        <p:spPr>
          <a:xfrm>
            <a:off x="449884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 act of creating or updating a name with a single =.</a:t>
            </a:r>
            <a:endParaRPr lang="en-US" sz="1600" dirty="0"/>
          </a:p>
        </p:txBody>
      </p:sp>
      <p:sp>
        <p:nvSpPr>
          <p:cNvPr id="22" name="Shape 20"/>
          <p:cNvSpPr/>
          <p:nvPr/>
        </p:nvSpPr>
        <p:spPr>
          <a:xfrm>
            <a:off x="4498848" y="4617720"/>
            <a:ext cx="3273552" cy="1280160"/>
          </a:xfrm>
          <a:prstGeom prst="roundRect">
            <a:avLst>
              <a:gd name="adj" fmla="val 4286"/>
            </a:avLst>
          </a:prstGeom>
          <a:solidFill>
            <a:srgbClr val="E7F2FD"/>
          </a:solidFill>
          <a:ln w="12700">
            <a:solidFill>
              <a:srgbClr val="D3E4F6"/>
            </a:solidFill>
            <a:prstDash val="solid"/>
          </a:ln>
        </p:spPr>
      </p:sp>
      <p:sp>
        <p:nvSpPr>
          <p:cNvPr id="23" name="Text 21"/>
          <p:cNvSpPr/>
          <p:nvPr/>
        </p:nvSpPr>
        <p:spPr>
          <a:xfrm>
            <a:off x="464515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
        <p:nvSpPr>
          <p:cNvPr id="24" name="Shape 22"/>
          <p:cNvSpPr/>
          <p:nvPr/>
        </p:nvSpPr>
        <p:spPr>
          <a:xfrm>
            <a:off x="8138160" y="1371600"/>
            <a:ext cx="3675888" cy="4846320"/>
          </a:xfrm>
          <a:prstGeom prst="roundRect">
            <a:avLst>
              <a:gd name="adj" fmla="val 1990"/>
            </a:avLst>
          </a:prstGeom>
          <a:solidFill>
            <a:srgbClr val="FFFFFF"/>
          </a:solidFill>
          <a:ln w="12700">
            <a:solidFill>
              <a:srgbClr val="E2E8EE"/>
            </a:solidFill>
            <a:prstDash val="solid"/>
          </a:ln>
        </p:spPr>
      </p:sp>
      <p:sp>
        <p:nvSpPr>
          <p:cNvPr id="25" name="Shape 23"/>
          <p:cNvSpPr/>
          <p:nvPr/>
        </p:nvSpPr>
        <p:spPr>
          <a:xfrm>
            <a:off x="8138160" y="1371600"/>
            <a:ext cx="3675888" cy="109728"/>
          </a:xfrm>
          <a:prstGeom prst="rect">
            <a:avLst/>
          </a:prstGeom>
          <a:solidFill>
            <a:srgbClr val="1A7070"/>
          </a:solidFill>
          <a:ln w="12700">
            <a:solidFill>
              <a:srgbClr val="1A7070"/>
            </a:solidFill>
            <a:prstDash val="solid"/>
          </a:ln>
        </p:spPr>
      </p:sp>
      <p:sp>
        <p:nvSpPr>
          <p:cNvPr id="26" name="Text 24"/>
          <p:cNvSpPr/>
          <p:nvPr/>
        </p:nvSpPr>
        <p:spPr>
          <a:xfrm>
            <a:off x="833932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SNAKE_CASE</a:t>
            </a:r>
            <a:endParaRPr lang="en-US" sz="1800" dirty="0"/>
          </a:p>
        </p:txBody>
      </p:sp>
      <p:sp>
        <p:nvSpPr>
          <p:cNvPr id="27" name="Text 25"/>
          <p:cNvSpPr/>
          <p:nvPr/>
        </p:nvSpPr>
        <p:spPr>
          <a:xfrm>
            <a:off x="833932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Lowercase words joined by underscores: first_name, quiz_score.</a:t>
            </a:r>
            <a:endParaRPr lang="en-US" sz="1600" dirty="0"/>
          </a:p>
        </p:txBody>
      </p:sp>
      <p:sp>
        <p:nvSpPr>
          <p:cNvPr id="28" name="Shape 26"/>
          <p:cNvSpPr/>
          <p:nvPr/>
        </p:nvSpPr>
        <p:spPr>
          <a:xfrm>
            <a:off x="8339328" y="4617720"/>
            <a:ext cx="3273552" cy="1280160"/>
          </a:xfrm>
          <a:prstGeom prst="roundRect">
            <a:avLst>
              <a:gd name="adj" fmla="val 4286"/>
            </a:avLst>
          </a:prstGeom>
          <a:solidFill>
            <a:srgbClr val="E7F2FD"/>
          </a:solidFill>
          <a:ln w="12700">
            <a:solidFill>
              <a:srgbClr val="D3E4F6"/>
            </a:solidFill>
            <a:prstDash val="solid"/>
          </a:ln>
        </p:spPr>
      </p:sp>
      <p:sp>
        <p:nvSpPr>
          <p:cNvPr id="29" name="Text 27"/>
          <p:cNvSpPr/>
          <p:nvPr/>
        </p:nvSpPr>
        <p:spPr>
          <a:xfrm>
            <a:off x="848563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7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Compare These Two</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532120" cy="4846320"/>
          </a:xfrm>
          <a:prstGeom prst="roundRect">
            <a:avLst>
              <a:gd name="adj" fmla="val 1509"/>
            </a:avLst>
          </a:prstGeom>
          <a:solidFill>
            <a:srgbClr val="FFFFFF"/>
          </a:solidFill>
          <a:ln w="12700">
            <a:solidFill>
              <a:srgbClr val="E2E8EE"/>
            </a:solidFill>
            <a:prstDash val="solid"/>
          </a:ln>
        </p:spPr>
      </p:sp>
      <p:sp>
        <p:nvSpPr>
          <p:cNvPr id="13" name="Shape 11"/>
          <p:cNvSpPr/>
          <p:nvPr/>
        </p:nvSpPr>
        <p:spPr>
          <a:xfrm>
            <a:off x="457200" y="1371600"/>
            <a:ext cx="109728" cy="4846320"/>
          </a:xfrm>
          <a:prstGeom prst="rect">
            <a:avLst/>
          </a:prstGeom>
          <a:solidFill>
            <a:srgbClr val="1A7070"/>
          </a:solidFill>
          <a:ln w="12700">
            <a:solidFill>
              <a:srgbClr val="1A7070"/>
            </a:solidFill>
            <a:prstDash val="solid"/>
          </a:ln>
        </p:spPr>
      </p:sp>
      <p:sp>
        <p:nvSpPr>
          <p:cNvPr id="14" name="Text 12"/>
          <p:cNvSpPr/>
          <p:nvPr/>
        </p:nvSpPr>
        <p:spPr>
          <a:xfrm>
            <a:off x="749808" y="1536192"/>
            <a:ext cx="502920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PYTHON  ·  =</a:t>
            </a:r>
            <a:endParaRPr lang="en-US" sz="1300" dirty="0"/>
          </a:p>
        </p:txBody>
      </p:sp>
      <p:sp>
        <p:nvSpPr>
          <p:cNvPr id="15" name="Text 13"/>
          <p:cNvSpPr/>
          <p:nvPr/>
        </p:nvSpPr>
        <p:spPr>
          <a:xfrm>
            <a:off x="749808" y="1865376"/>
            <a:ext cx="5029200" cy="502920"/>
          </a:xfrm>
          <a:prstGeom prst="rect">
            <a:avLst/>
          </a:prstGeom>
          <a:noFill/>
          <a:ln/>
        </p:spPr>
        <p:txBody>
          <a:bodyPr wrap="square" lIns="0" tIns="0" rIns="0" bIns="0" rtlCol="0" anchor="ctr"/>
          <a:lstStyle/>
          <a:p>
            <a:pPr indent="0" marL="0">
              <a:buNone/>
            </a:pPr>
            <a:r>
              <a:rPr lang="en-US" sz="2000" b="1" dirty="0">
                <a:solidFill>
                  <a:srgbClr val="0D3358"/>
                </a:solidFill>
                <a:latin typeface="Calibri" pitchFamily="34" charset="0"/>
                <a:ea typeface="Calibri" pitchFamily="34" charset="-122"/>
                <a:cs typeface="Calibri" pitchFamily="34" charset="-120"/>
              </a:rPr>
              <a:t>An action: store this value.</a:t>
            </a:r>
            <a:endParaRPr lang="en-US" sz="2000" dirty="0"/>
          </a:p>
        </p:txBody>
      </p:sp>
      <p:sp>
        <p:nvSpPr>
          <p:cNvPr id="16" name="Text 14"/>
          <p:cNvSpPr/>
          <p:nvPr/>
        </p:nvSpPr>
        <p:spPr>
          <a:xfrm>
            <a:off x="749808" y="2450592"/>
            <a:ext cx="5029200" cy="12344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Read score = 88 as “score gets 88.” The line runs, then the name refers to 88. The next line can use that name.</a:t>
            </a:r>
            <a:endParaRPr lang="en-US" sz="1600" dirty="0"/>
          </a:p>
        </p:txBody>
      </p:sp>
      <p:sp>
        <p:nvSpPr>
          <p:cNvPr id="17" name="Shape 15"/>
          <p:cNvSpPr/>
          <p:nvPr/>
        </p:nvSpPr>
        <p:spPr>
          <a:xfrm>
            <a:off x="749808" y="3794760"/>
            <a:ext cx="5029200" cy="1051560"/>
          </a:xfrm>
          <a:prstGeom prst="roundRect">
            <a:avLst>
              <a:gd name="adj" fmla="val 5217"/>
            </a:avLst>
          </a:prstGeom>
          <a:solidFill>
            <a:srgbClr val="E7F2FD"/>
          </a:solidFill>
          <a:ln w="12700">
            <a:solidFill>
              <a:srgbClr val="D3E4F6"/>
            </a:solidFill>
            <a:prstDash val="solid"/>
          </a:ln>
        </p:spPr>
      </p:sp>
      <p:sp>
        <p:nvSpPr>
          <p:cNvPr id="18" name="Text 16"/>
          <p:cNvSpPr/>
          <p:nvPr/>
        </p:nvSpPr>
        <p:spPr>
          <a:xfrm>
            <a:off x="914400" y="3904488"/>
            <a:ext cx="4700016" cy="83210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score = 88</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not x = x + 1 here</a:t>
            </a:r>
            <a:endParaRPr lang="en-US" sz="1400" dirty="0"/>
          </a:p>
        </p:txBody>
      </p:sp>
      <p:sp>
        <p:nvSpPr>
          <p:cNvPr id="19" name="Text 17"/>
          <p:cNvSpPr/>
          <p:nvPr/>
        </p:nvSpPr>
        <p:spPr>
          <a:xfrm>
            <a:off x="749808" y="4983480"/>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A statement about equality, not storage.</a:t>
            </a:r>
            <a:endParaRPr lang="en-US" sz="1500" dirty="0"/>
          </a:p>
        </p:txBody>
      </p:sp>
      <p:sp>
        <p:nvSpPr>
          <p:cNvPr id="20" name="Shape 18"/>
          <p:cNvSpPr/>
          <p:nvPr/>
        </p:nvSpPr>
        <p:spPr>
          <a:xfrm>
            <a:off x="6172200" y="1371600"/>
            <a:ext cx="5532120" cy="4846320"/>
          </a:xfrm>
          <a:prstGeom prst="roundRect">
            <a:avLst>
              <a:gd name="adj" fmla="val 1509"/>
            </a:avLst>
          </a:prstGeom>
          <a:solidFill>
            <a:srgbClr val="FFFFFF"/>
          </a:solidFill>
          <a:ln w="12700">
            <a:solidFill>
              <a:srgbClr val="E2E8EE"/>
            </a:solidFill>
            <a:prstDash val="solid"/>
          </a:ln>
        </p:spPr>
      </p:sp>
      <p:sp>
        <p:nvSpPr>
          <p:cNvPr id="21" name="Shape 19"/>
          <p:cNvSpPr/>
          <p:nvPr/>
        </p:nvSpPr>
        <p:spPr>
          <a:xfrm>
            <a:off x="6172200" y="1371600"/>
            <a:ext cx="109728" cy="4846320"/>
          </a:xfrm>
          <a:prstGeom prst="rect">
            <a:avLst/>
          </a:prstGeom>
          <a:solidFill>
            <a:srgbClr val="D08F3C"/>
          </a:solidFill>
          <a:ln w="12700">
            <a:solidFill>
              <a:srgbClr val="D08F3C"/>
            </a:solidFill>
            <a:prstDash val="solid"/>
          </a:ln>
        </p:spPr>
      </p:sp>
      <p:sp>
        <p:nvSpPr>
          <p:cNvPr id="22" name="Text 20"/>
          <p:cNvSpPr/>
          <p:nvPr/>
        </p:nvSpPr>
        <p:spPr>
          <a:xfrm>
            <a:off x="6464808" y="1536192"/>
            <a:ext cx="5029200" cy="274320"/>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ALGEBRA  ·  =</a:t>
            </a:r>
            <a:endParaRPr lang="en-US" sz="1300" dirty="0"/>
          </a:p>
        </p:txBody>
      </p:sp>
      <p:sp>
        <p:nvSpPr>
          <p:cNvPr id="23" name="Text 21"/>
          <p:cNvSpPr/>
          <p:nvPr/>
        </p:nvSpPr>
        <p:spPr>
          <a:xfrm>
            <a:off x="6464808" y="1865376"/>
            <a:ext cx="5029200" cy="502920"/>
          </a:xfrm>
          <a:prstGeom prst="rect">
            <a:avLst/>
          </a:prstGeom>
          <a:noFill/>
          <a:ln/>
        </p:spPr>
        <p:txBody>
          <a:bodyPr wrap="square" lIns="0" tIns="0" rIns="0" bIns="0" rtlCol="0" anchor="ctr"/>
          <a:lstStyle/>
          <a:p>
            <a:pPr indent="0" marL="0">
              <a:buNone/>
            </a:pPr>
            <a:r>
              <a:rPr lang="en-US" sz="2000" b="1" dirty="0">
                <a:solidFill>
                  <a:srgbClr val="0D3358"/>
                </a:solidFill>
                <a:latin typeface="Calibri" pitchFamily="34" charset="0"/>
                <a:ea typeface="Calibri" pitchFamily="34" charset="-122"/>
                <a:cs typeface="Calibri" pitchFamily="34" charset="-120"/>
              </a:rPr>
              <a:t>A claim: both sides match.</a:t>
            </a:r>
            <a:endParaRPr lang="en-US" sz="2000" dirty="0"/>
          </a:p>
        </p:txBody>
      </p:sp>
      <p:sp>
        <p:nvSpPr>
          <p:cNvPr id="24" name="Text 22"/>
          <p:cNvSpPr/>
          <p:nvPr/>
        </p:nvSpPr>
        <p:spPr>
          <a:xfrm>
            <a:off x="6464808" y="2450592"/>
            <a:ext cx="5029200" cy="12344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In algebra, x = 88 means x and 88 are the same quantity. Python will let you write score = score + 1. Algebra will not.</a:t>
            </a:r>
            <a:endParaRPr lang="en-US" sz="1600" dirty="0"/>
          </a:p>
        </p:txBody>
      </p:sp>
      <p:sp>
        <p:nvSpPr>
          <p:cNvPr id="25" name="Shape 23"/>
          <p:cNvSpPr/>
          <p:nvPr/>
        </p:nvSpPr>
        <p:spPr>
          <a:xfrm>
            <a:off x="6464808" y="3794760"/>
            <a:ext cx="5029200" cy="1051560"/>
          </a:xfrm>
          <a:prstGeom prst="roundRect">
            <a:avLst>
              <a:gd name="adj" fmla="val 5217"/>
            </a:avLst>
          </a:prstGeom>
          <a:solidFill>
            <a:srgbClr val="E7F2FD"/>
          </a:solidFill>
          <a:ln w="12700">
            <a:solidFill>
              <a:srgbClr val="D3E4F6"/>
            </a:solidFill>
            <a:prstDash val="solid"/>
          </a:ln>
        </p:spPr>
      </p:sp>
      <p:sp>
        <p:nvSpPr>
          <p:cNvPr id="26" name="Text 24"/>
          <p:cNvSpPr/>
          <p:nvPr/>
        </p:nvSpPr>
        <p:spPr>
          <a:xfrm>
            <a:off x="6629400" y="3904488"/>
            <a:ext cx="4700016" cy="83210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x = 88</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not x = x + 1 here</a:t>
            </a:r>
            <a:endParaRPr lang="en-US" sz="1400" dirty="0"/>
          </a:p>
        </p:txBody>
      </p:sp>
      <p:sp>
        <p:nvSpPr>
          <p:cNvPr id="27" name="Text 25"/>
          <p:cNvSpPr/>
          <p:nvPr/>
        </p:nvSpPr>
        <p:spPr>
          <a:xfrm>
            <a:off x="6464808" y="4983480"/>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A statement about equality, not storage.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8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Naming Rules That Matter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669280" cy="2212848"/>
          </a:xfrm>
          <a:prstGeom prst="roundRect">
            <a:avLst>
              <a:gd name="adj" fmla="val 3306"/>
            </a:avLst>
          </a:prstGeom>
          <a:solidFill>
            <a:srgbClr val="FFFFFF"/>
          </a:solidFill>
          <a:ln w="12700">
            <a:solidFill>
              <a:srgbClr val="E2E8EE"/>
            </a:solidFill>
            <a:prstDash val="solid"/>
          </a:ln>
        </p:spPr>
      </p:sp>
      <p:sp>
        <p:nvSpPr>
          <p:cNvPr id="13" name="Shape 11"/>
          <p:cNvSpPr/>
          <p:nvPr/>
        </p:nvSpPr>
        <p:spPr>
          <a:xfrm>
            <a:off x="658368" y="1627632"/>
            <a:ext cx="1234440" cy="502920"/>
          </a:xfrm>
          <a:prstGeom prst="roundRect">
            <a:avLst>
              <a:gd name="adj" fmla="val 10909"/>
            </a:avLst>
          </a:prstGeom>
          <a:solidFill>
            <a:srgbClr val="1A7070"/>
          </a:solidFill>
          <a:ln w="12700">
            <a:solidFill>
              <a:srgbClr val="1A7070"/>
            </a:solidFill>
            <a:prstDash val="solid"/>
          </a:ln>
        </p:spPr>
      </p:sp>
      <p:sp>
        <p:nvSpPr>
          <p:cNvPr id="14" name="Text 12"/>
          <p:cNvSpPr/>
          <p:nvPr/>
        </p:nvSpPr>
        <p:spPr>
          <a:xfrm>
            <a:off x="658368" y="162763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a:t>
            </a:r>
            <a:endParaRPr lang="en-US" sz="1400" dirty="0"/>
          </a:p>
        </p:txBody>
      </p:sp>
      <p:sp>
        <p:nvSpPr>
          <p:cNvPr id="15" name="Text 13"/>
          <p:cNvSpPr/>
          <p:nvPr/>
        </p:nvSpPr>
        <p:spPr>
          <a:xfrm>
            <a:off x="2011680" y="162763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Legal characters</a:t>
            </a:r>
            <a:endParaRPr lang="en-US" sz="1800" dirty="0"/>
          </a:p>
        </p:txBody>
      </p:sp>
      <p:sp>
        <p:nvSpPr>
          <p:cNvPr id="16" name="Text 14"/>
          <p:cNvSpPr/>
          <p:nvPr/>
        </p:nvSpPr>
        <p:spPr>
          <a:xfrm>
            <a:off x="713232" y="233172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Letters, digits, and underscore only. No spaces, hyphens, or @.</a:t>
            </a:r>
            <a:endParaRPr lang="en-US" sz="1600" dirty="0"/>
          </a:p>
        </p:txBody>
      </p:sp>
      <p:sp>
        <p:nvSpPr>
          <p:cNvPr id="17" name="Shape 15"/>
          <p:cNvSpPr/>
          <p:nvPr/>
        </p:nvSpPr>
        <p:spPr>
          <a:xfrm>
            <a:off x="6309360" y="1371600"/>
            <a:ext cx="5669280" cy="2212848"/>
          </a:xfrm>
          <a:prstGeom prst="roundRect">
            <a:avLst>
              <a:gd name="adj" fmla="val 3306"/>
            </a:avLst>
          </a:prstGeom>
          <a:solidFill>
            <a:srgbClr val="FFFFFF"/>
          </a:solidFill>
          <a:ln w="12700">
            <a:solidFill>
              <a:srgbClr val="E2E8EE"/>
            </a:solidFill>
            <a:prstDash val="solid"/>
          </a:ln>
        </p:spPr>
      </p:sp>
      <p:sp>
        <p:nvSpPr>
          <p:cNvPr id="18" name="Shape 16"/>
          <p:cNvSpPr/>
          <p:nvPr/>
        </p:nvSpPr>
        <p:spPr>
          <a:xfrm>
            <a:off x="6510528" y="1627632"/>
            <a:ext cx="1234440" cy="502920"/>
          </a:xfrm>
          <a:prstGeom prst="roundRect">
            <a:avLst>
              <a:gd name="adj" fmla="val 10909"/>
            </a:avLst>
          </a:prstGeom>
          <a:solidFill>
            <a:srgbClr val="1A7070"/>
          </a:solidFill>
          <a:ln w="12700">
            <a:solidFill>
              <a:srgbClr val="1A7070"/>
            </a:solidFill>
            <a:prstDash val="solid"/>
          </a:ln>
        </p:spPr>
      </p:sp>
      <p:sp>
        <p:nvSpPr>
          <p:cNvPr id="19" name="Text 17"/>
          <p:cNvSpPr/>
          <p:nvPr/>
        </p:nvSpPr>
        <p:spPr>
          <a:xfrm>
            <a:off x="6510528" y="162763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a:t>
            </a:r>
            <a:endParaRPr lang="en-US" sz="1400" dirty="0"/>
          </a:p>
        </p:txBody>
      </p:sp>
      <p:sp>
        <p:nvSpPr>
          <p:cNvPr id="20" name="Text 18"/>
          <p:cNvSpPr/>
          <p:nvPr/>
        </p:nvSpPr>
        <p:spPr>
          <a:xfrm>
            <a:off x="7863840" y="162763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Must start right</a:t>
            </a:r>
            <a:endParaRPr lang="en-US" sz="1800" dirty="0"/>
          </a:p>
        </p:txBody>
      </p:sp>
      <p:sp>
        <p:nvSpPr>
          <p:cNvPr id="21" name="Text 19"/>
          <p:cNvSpPr/>
          <p:nvPr/>
        </p:nvSpPr>
        <p:spPr>
          <a:xfrm>
            <a:off x="6565392" y="233172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Begin with a letter or _. 2score is illegal. score2 is legal.</a:t>
            </a:r>
            <a:endParaRPr lang="en-US" sz="1600" dirty="0"/>
          </a:p>
        </p:txBody>
      </p:sp>
      <p:sp>
        <p:nvSpPr>
          <p:cNvPr id="22" name="Shape 20"/>
          <p:cNvSpPr/>
          <p:nvPr/>
        </p:nvSpPr>
        <p:spPr>
          <a:xfrm>
            <a:off x="457200" y="3749040"/>
            <a:ext cx="5669280" cy="2212848"/>
          </a:xfrm>
          <a:prstGeom prst="roundRect">
            <a:avLst>
              <a:gd name="adj" fmla="val 3306"/>
            </a:avLst>
          </a:prstGeom>
          <a:solidFill>
            <a:srgbClr val="FFFFFF"/>
          </a:solidFill>
          <a:ln w="12700">
            <a:solidFill>
              <a:srgbClr val="E2E8EE"/>
            </a:solidFill>
            <a:prstDash val="solid"/>
          </a:ln>
        </p:spPr>
      </p:sp>
      <p:sp>
        <p:nvSpPr>
          <p:cNvPr id="23" name="Shape 21"/>
          <p:cNvSpPr/>
          <p:nvPr/>
        </p:nvSpPr>
        <p:spPr>
          <a:xfrm>
            <a:off x="658368" y="4005072"/>
            <a:ext cx="1234440" cy="502920"/>
          </a:xfrm>
          <a:prstGeom prst="roundRect">
            <a:avLst>
              <a:gd name="adj" fmla="val 10909"/>
            </a:avLst>
          </a:prstGeom>
          <a:solidFill>
            <a:srgbClr val="1A7070"/>
          </a:solidFill>
          <a:ln w="12700">
            <a:solidFill>
              <a:srgbClr val="1A7070"/>
            </a:solidFill>
            <a:prstDash val="solid"/>
          </a:ln>
        </p:spPr>
      </p:sp>
      <p:sp>
        <p:nvSpPr>
          <p:cNvPr id="24" name="Text 22"/>
          <p:cNvSpPr/>
          <p:nvPr/>
        </p:nvSpPr>
        <p:spPr>
          <a:xfrm>
            <a:off x="658368" y="400507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a:t>
            </a:r>
            <a:endParaRPr lang="en-US" sz="1400" dirty="0"/>
          </a:p>
        </p:txBody>
      </p:sp>
      <p:sp>
        <p:nvSpPr>
          <p:cNvPr id="25" name="Text 23"/>
          <p:cNvSpPr/>
          <p:nvPr/>
        </p:nvSpPr>
        <p:spPr>
          <a:xfrm>
            <a:off x="2011680" y="400507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Case-sensitive</a:t>
            </a:r>
            <a:endParaRPr lang="en-US" sz="1800" dirty="0"/>
          </a:p>
        </p:txBody>
      </p:sp>
      <p:sp>
        <p:nvSpPr>
          <p:cNvPr id="26" name="Text 24"/>
          <p:cNvSpPr/>
          <p:nvPr/>
        </p:nvSpPr>
        <p:spPr>
          <a:xfrm>
            <a:off x="713232" y="470916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Score and score are two different names. print(Score, score) can show both.</a:t>
            </a:r>
            <a:endParaRPr lang="en-US" sz="1600" dirty="0"/>
          </a:p>
        </p:txBody>
      </p:sp>
      <p:sp>
        <p:nvSpPr>
          <p:cNvPr id="27" name="Shape 25"/>
          <p:cNvSpPr/>
          <p:nvPr/>
        </p:nvSpPr>
        <p:spPr>
          <a:xfrm>
            <a:off x="6309360" y="3749040"/>
            <a:ext cx="5669280" cy="2212848"/>
          </a:xfrm>
          <a:prstGeom prst="roundRect">
            <a:avLst>
              <a:gd name="adj" fmla="val 3306"/>
            </a:avLst>
          </a:prstGeom>
          <a:solidFill>
            <a:srgbClr val="FFFFFF"/>
          </a:solidFill>
          <a:ln w="12700">
            <a:solidFill>
              <a:srgbClr val="E2E8EE"/>
            </a:solidFill>
            <a:prstDash val="solid"/>
          </a:ln>
        </p:spPr>
      </p:sp>
      <p:sp>
        <p:nvSpPr>
          <p:cNvPr id="28" name="Shape 26"/>
          <p:cNvSpPr/>
          <p:nvPr/>
        </p:nvSpPr>
        <p:spPr>
          <a:xfrm>
            <a:off x="6510528" y="4005072"/>
            <a:ext cx="1234440" cy="502920"/>
          </a:xfrm>
          <a:prstGeom prst="roundRect">
            <a:avLst>
              <a:gd name="adj" fmla="val 10909"/>
            </a:avLst>
          </a:prstGeom>
          <a:solidFill>
            <a:srgbClr val="1A7070"/>
          </a:solidFill>
          <a:ln w="12700">
            <a:solidFill>
              <a:srgbClr val="1A7070"/>
            </a:solidFill>
            <a:prstDash val="solid"/>
          </a:ln>
        </p:spPr>
      </p:sp>
      <p:sp>
        <p:nvSpPr>
          <p:cNvPr id="29" name="Text 27"/>
          <p:cNvSpPr/>
          <p:nvPr/>
        </p:nvSpPr>
        <p:spPr>
          <a:xfrm>
            <a:off x="6510528" y="400507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FOUR</a:t>
            </a:r>
            <a:endParaRPr lang="en-US" sz="1400" dirty="0"/>
          </a:p>
        </p:txBody>
      </p:sp>
      <p:sp>
        <p:nvSpPr>
          <p:cNvPr id="30" name="Text 28"/>
          <p:cNvSpPr/>
          <p:nvPr/>
        </p:nvSpPr>
        <p:spPr>
          <a:xfrm>
            <a:off x="7863840" y="400507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snake_case here</a:t>
            </a:r>
            <a:endParaRPr lang="en-US" sz="1800" dirty="0"/>
          </a:p>
        </p:txBody>
      </p:sp>
      <p:sp>
        <p:nvSpPr>
          <p:cNvPr id="31" name="Text 29"/>
          <p:cNvSpPr/>
          <p:nvPr/>
        </p:nvSpPr>
        <p:spPr>
          <a:xfrm>
            <a:off x="6565392" y="470916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Write quiz_score, not quizScore or Quiz-Score. Avoid keywords such as for.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9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Declare, Then Print</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3063240"/>
          </a:xfrm>
          <a:prstGeom prst="roundRect">
            <a:avLst>
              <a:gd name="adj" fmla="val 2388"/>
            </a:avLst>
          </a:prstGeom>
          <a:solidFill>
            <a:srgbClr val="E7F2FD"/>
          </a:solidFill>
          <a:ln w="12700">
            <a:solidFill>
              <a:srgbClr val="D3E4F6"/>
            </a:solidFill>
            <a:prstDash val="solid"/>
          </a:ln>
        </p:spPr>
      </p:sp>
      <p:sp>
        <p:nvSpPr>
          <p:cNvPr id="13" name="Text 11"/>
          <p:cNvSpPr/>
          <p:nvPr/>
        </p:nvSpPr>
        <p:spPr>
          <a:xfrm>
            <a:off x="731520" y="1554480"/>
            <a:ext cx="10698480" cy="2697480"/>
          </a:xfrm>
          <a:prstGeom prst="rect">
            <a:avLst/>
          </a:prstGeom>
          <a:noFill/>
          <a:ln/>
        </p:spPr>
        <p:txBody>
          <a:bodyPr wrap="square" lIns="0" tIns="0" rIns="0" bIns="0" rtlCol="0" anchor="ctr"/>
          <a:lstStyle/>
          <a:p>
            <a:pPr indent="0" marL="0">
              <a:buNone/>
            </a:pPr>
            <a:r>
              <a:rPr lang="en-US" sz="1800" dirty="0">
                <a:solidFill>
                  <a:srgbClr val="1A2B3C"/>
                </a:solidFill>
                <a:latin typeface="Consolas" pitchFamily="34" charset="0"/>
                <a:ea typeface="Consolas" pitchFamily="34" charset="-122"/>
                <a:cs typeface="Consolas" pitchFamily="34" charset="-120"/>
              </a:rPr>
              <a:t># Four names. Four values.</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name = "Hannah"</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age = 15</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score = 92.5</a:t>
            </a:r>
            <a:endParaRPr lang="en-US" sz="1800" dirty="0"/>
          </a:p>
          <a:p>
            <a:pPr indent="0" marL="0">
              <a:buNone/>
            </a:pP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is_student = True</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print(name)</a:t>
            </a:r>
            <a:endParaRPr lang="en-US" sz="1800" dirty="0"/>
          </a:p>
        </p:txBody>
      </p:sp>
      <p:sp>
        <p:nvSpPr>
          <p:cNvPr id="14" name="Shape 12"/>
          <p:cNvSpPr/>
          <p:nvPr/>
        </p:nvSpPr>
        <p:spPr>
          <a:xfrm>
            <a:off x="457200" y="4590288"/>
            <a:ext cx="11247120" cy="1664208"/>
          </a:xfrm>
          <a:prstGeom prst="roundRect">
            <a:avLst>
              <a:gd name="adj" fmla="val 4396"/>
            </a:avLst>
          </a:prstGeom>
          <a:solidFill>
            <a:srgbClr val="FFFFFF"/>
          </a:solidFill>
          <a:ln w="12700">
            <a:solidFill>
              <a:srgbClr val="E2E8EE"/>
            </a:solidFill>
            <a:prstDash val="solid"/>
          </a:ln>
        </p:spPr>
      </p:sp>
      <p:sp>
        <p:nvSpPr>
          <p:cNvPr id="15" name="Shape 13"/>
          <p:cNvSpPr/>
          <p:nvPr/>
        </p:nvSpPr>
        <p:spPr>
          <a:xfrm>
            <a:off x="457200" y="4590288"/>
            <a:ext cx="109728" cy="1664208"/>
          </a:xfrm>
          <a:prstGeom prst="rect">
            <a:avLst/>
          </a:prstGeom>
          <a:solidFill>
            <a:srgbClr val="E1A244"/>
          </a:solidFill>
          <a:ln w="12700">
            <a:solidFill>
              <a:srgbClr val="E1A244"/>
            </a:solidFill>
            <a:prstDash val="solid"/>
          </a:ln>
        </p:spPr>
      </p:sp>
      <p:sp>
        <p:nvSpPr>
          <p:cNvPr id="16" name="Text 14"/>
          <p:cNvSpPr/>
          <p:nvPr/>
        </p:nvSpPr>
        <p:spPr>
          <a:xfrm>
            <a:off x="749808" y="4718304"/>
            <a:ext cx="10698480" cy="292608"/>
          </a:xfrm>
          <a:prstGeom prst="rect">
            <a:avLst/>
          </a:prstGeom>
          <a:noFill/>
          <a:ln/>
        </p:spPr>
        <p:txBody>
          <a:bodyPr wrap="square" lIns="0" tIns="0" rIns="0" bIns="0" rtlCol="0" anchor="ctr"/>
          <a:lstStyle/>
          <a:p>
            <a:pPr indent="0" marL="0">
              <a:buNone/>
            </a:pPr>
            <a:r>
              <a:rPr lang="en-US" sz="1400" b="1" dirty="0">
                <a:solidFill>
                  <a:srgbClr val="D08F3C"/>
                </a:solidFill>
                <a:latin typeface="Calibri" pitchFamily="34" charset="0"/>
                <a:ea typeface="Calibri" pitchFamily="34" charset="-122"/>
                <a:cs typeface="Calibri" pitchFamily="34" charset="-120"/>
              </a:rPr>
              <a:t>What to notice</a:t>
            </a:r>
            <a:endParaRPr lang="en-US" sz="1400" dirty="0"/>
          </a:p>
        </p:txBody>
      </p:sp>
      <p:sp>
        <p:nvSpPr>
          <p:cNvPr id="17" name="Text 15"/>
          <p:cNvSpPr/>
          <p:nvPr/>
        </p:nvSpPr>
        <p:spPr>
          <a:xfrm>
            <a:off x="749808" y="5029200"/>
            <a:ext cx="1069848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Point at each name, then the =, then the value. Say “name gets Hannah.” Then run print(name). The output is the value, not the word name. Add print(age), print(score), and print(is_student) the same way.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10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Before and After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532120" cy="4846320"/>
          </a:xfrm>
          <a:prstGeom prst="roundRect">
            <a:avLst>
              <a:gd name="adj" fmla="val 1509"/>
            </a:avLst>
          </a:prstGeom>
          <a:solidFill>
            <a:srgbClr val="FFFFFF"/>
          </a:solidFill>
          <a:ln w="12700">
            <a:solidFill>
              <a:srgbClr val="E2E8EE"/>
            </a:solidFill>
            <a:prstDash val="solid"/>
          </a:ln>
        </p:spPr>
      </p:sp>
      <p:sp>
        <p:nvSpPr>
          <p:cNvPr id="13" name="Text 11"/>
          <p:cNvSpPr/>
          <p:nvPr/>
        </p:nvSpPr>
        <p:spPr>
          <a:xfrm>
            <a:off x="685800" y="1536192"/>
            <a:ext cx="507492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WITHOUT  ·  MAGIC NUMBERS</a:t>
            </a:r>
            <a:endParaRPr lang="en-US" sz="1300" dirty="0"/>
          </a:p>
        </p:txBody>
      </p:sp>
      <p:sp>
        <p:nvSpPr>
          <p:cNvPr id="14" name="Shape 12"/>
          <p:cNvSpPr/>
          <p:nvPr/>
        </p:nvSpPr>
        <p:spPr>
          <a:xfrm>
            <a:off x="658368" y="1920240"/>
            <a:ext cx="5120640" cy="2788920"/>
          </a:xfrm>
          <a:prstGeom prst="roundRect">
            <a:avLst>
              <a:gd name="adj" fmla="val 1967"/>
            </a:avLst>
          </a:prstGeom>
          <a:solidFill>
            <a:srgbClr val="E7F2FD"/>
          </a:solidFill>
          <a:ln w="12700">
            <a:solidFill>
              <a:srgbClr val="D3E4F6"/>
            </a:solidFill>
            <a:prstDash val="solid"/>
          </a:ln>
        </p:spPr>
      </p:sp>
      <p:sp>
        <p:nvSpPr>
          <p:cNvPr id="15" name="Text 13"/>
          <p:cNvSpPr/>
          <p:nvPr/>
        </p:nvSpPr>
        <p:spPr>
          <a:xfrm>
            <a:off x="822960" y="2029968"/>
            <a:ext cx="4791456" cy="25694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print(8 * 5)</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print("Area:", 8 * 5)</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8 and 5 hide the meaning</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width = 8</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height = 5</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area = width * height</a:t>
            </a:r>
            <a:endParaRPr lang="en-US" sz="1400" dirty="0"/>
          </a:p>
        </p:txBody>
      </p:sp>
      <p:sp>
        <p:nvSpPr>
          <p:cNvPr id="16" name="Text 14"/>
          <p:cNvSpPr/>
          <p:nvPr/>
        </p:nvSpPr>
        <p:spPr>
          <a:xfrm>
            <a:off x="685800" y="4846320"/>
            <a:ext cx="5074920" cy="109728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If the rectangle changes, you hunt for every 8 and every 5.</a:t>
            </a:r>
            <a:endParaRPr lang="en-US" sz="1500" dirty="0"/>
          </a:p>
        </p:txBody>
      </p:sp>
      <p:sp>
        <p:nvSpPr>
          <p:cNvPr id="17" name="Shape 15"/>
          <p:cNvSpPr/>
          <p:nvPr/>
        </p:nvSpPr>
        <p:spPr>
          <a:xfrm>
            <a:off x="6172200" y="1371600"/>
            <a:ext cx="5532120" cy="4846320"/>
          </a:xfrm>
          <a:prstGeom prst="roundRect">
            <a:avLst>
              <a:gd name="adj" fmla="val 1509"/>
            </a:avLst>
          </a:prstGeom>
          <a:solidFill>
            <a:srgbClr val="FFFFFF"/>
          </a:solidFill>
          <a:ln w="12700">
            <a:solidFill>
              <a:srgbClr val="E2E8EE"/>
            </a:solidFill>
            <a:prstDash val="solid"/>
          </a:ln>
        </p:spPr>
      </p:sp>
      <p:sp>
        <p:nvSpPr>
          <p:cNvPr id="18" name="Text 16"/>
          <p:cNvSpPr/>
          <p:nvPr/>
        </p:nvSpPr>
        <p:spPr>
          <a:xfrm>
            <a:off x="6400800" y="1536192"/>
            <a:ext cx="507492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WITH  ·  NAMED MEASURES</a:t>
            </a:r>
            <a:endParaRPr lang="en-US" sz="1300" dirty="0"/>
          </a:p>
        </p:txBody>
      </p:sp>
      <p:sp>
        <p:nvSpPr>
          <p:cNvPr id="19" name="Shape 17"/>
          <p:cNvSpPr/>
          <p:nvPr/>
        </p:nvSpPr>
        <p:spPr>
          <a:xfrm>
            <a:off x="6373368" y="1920240"/>
            <a:ext cx="5120640" cy="2788920"/>
          </a:xfrm>
          <a:prstGeom prst="roundRect">
            <a:avLst>
              <a:gd name="adj" fmla="val 1967"/>
            </a:avLst>
          </a:prstGeom>
          <a:solidFill>
            <a:srgbClr val="E7F2FD"/>
          </a:solidFill>
          <a:ln w="12700">
            <a:solidFill>
              <a:srgbClr val="D3E4F6"/>
            </a:solidFill>
            <a:prstDash val="solid"/>
          </a:ln>
        </p:spPr>
      </p:sp>
      <p:sp>
        <p:nvSpPr>
          <p:cNvPr id="20" name="Text 18"/>
          <p:cNvSpPr/>
          <p:nvPr/>
        </p:nvSpPr>
        <p:spPr>
          <a:xfrm>
            <a:off x="6537960" y="2029968"/>
            <a:ext cx="4791456" cy="25694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print("Area:", area)</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print(width, "x", height, "=", area)</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a:r>
            <a:endParaRPr lang="en-US" sz="1400" dirty="0"/>
          </a:p>
        </p:txBody>
      </p:sp>
      <p:sp>
        <p:nvSpPr>
          <p:cNvPr id="21" name="Text 19"/>
          <p:cNvSpPr/>
          <p:nvPr/>
        </p:nvSpPr>
        <p:spPr>
          <a:xfrm>
            <a:off x="6400800" y="4846320"/>
            <a:ext cx="5074920" cy="109728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Change width once. The formula and the print lines stay honest.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11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Designed with Purpose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11247120" cy="2148840"/>
          </a:xfrm>
          <a:prstGeom prst="roundRect">
            <a:avLst>
              <a:gd name="adj" fmla="val 3404"/>
            </a:avLst>
          </a:prstGeom>
          <a:solidFill>
            <a:srgbClr val="FFF9F0"/>
          </a:solidFill>
          <a:ln w="12700">
            <a:solidFill>
              <a:srgbClr val="E8D9B8"/>
            </a:solidFill>
            <a:prstDash val="solid"/>
          </a:ln>
        </p:spPr>
      </p:sp>
      <p:sp>
        <p:nvSpPr>
          <p:cNvPr id="13" name="Text 11"/>
          <p:cNvSpPr/>
          <p:nvPr/>
        </p:nvSpPr>
        <p:spPr>
          <a:xfrm>
            <a:off x="731520" y="1554480"/>
            <a:ext cx="10698480" cy="1234440"/>
          </a:xfrm>
          <a:prstGeom prst="rect">
            <a:avLst/>
          </a:prstGeom>
          <a:noFill/>
          <a:ln/>
        </p:spPr>
        <p:txBody>
          <a:bodyPr wrap="square" lIns="0" tIns="0" rIns="0" bIns="0" rtlCol="0" anchor="ctr"/>
          <a:lstStyle/>
          <a:p>
            <a:pPr indent="0" marL="0">
              <a:buNone/>
            </a:pPr>
            <a:r>
              <a:rPr lang="en-US" sz="2000" i="1" dirty="0">
                <a:solidFill>
                  <a:srgbClr val="0D3358"/>
                </a:solidFill>
                <a:latin typeface="Calibri" pitchFamily="34" charset="0"/>
                <a:ea typeface="Calibri" pitchFamily="34" charset="-122"/>
                <a:cs typeface="Calibri" pitchFamily="34" charset="-120"/>
              </a:rPr>
              <a:t>For all the promises of God in Him are Yes, and in Him Amen, to the glory of God through us.</a:t>
            </a:r>
            <a:endParaRPr lang="en-US" sz="2000" dirty="0"/>
          </a:p>
        </p:txBody>
      </p:sp>
      <p:sp>
        <p:nvSpPr>
          <p:cNvPr id="14" name="Text 12"/>
          <p:cNvSpPr/>
          <p:nvPr/>
        </p:nvSpPr>
        <p:spPr>
          <a:xfrm>
            <a:off x="731520" y="2880360"/>
            <a:ext cx="10698480" cy="36576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2 Corinthians 1:20  ·  NKJV</a:t>
            </a:r>
            <a:endParaRPr lang="en-US" sz="1400" dirty="0"/>
          </a:p>
        </p:txBody>
      </p:sp>
      <p:sp>
        <p:nvSpPr>
          <p:cNvPr id="15" name="Shape 13"/>
          <p:cNvSpPr/>
          <p:nvPr/>
        </p:nvSpPr>
        <p:spPr>
          <a:xfrm>
            <a:off x="457200" y="3703320"/>
            <a:ext cx="5532120" cy="2468880"/>
          </a:xfrm>
          <a:prstGeom prst="roundRect">
            <a:avLst>
              <a:gd name="adj" fmla="val 2963"/>
            </a:avLst>
          </a:prstGeom>
          <a:solidFill>
            <a:srgbClr val="FFF9F0"/>
          </a:solidFill>
          <a:ln w="12700">
            <a:solidFill>
              <a:srgbClr val="E8D9B8"/>
            </a:solidFill>
            <a:prstDash val="solid"/>
          </a:ln>
        </p:spPr>
      </p:sp>
      <p:sp>
        <p:nvSpPr>
          <p:cNvPr id="16" name="Text 14"/>
          <p:cNvSpPr/>
          <p:nvPr/>
        </p:nvSpPr>
        <p:spPr>
          <a:xfrm>
            <a:off x="685800" y="3886200"/>
            <a:ext cx="5074920" cy="1554480"/>
          </a:xfrm>
          <a:prstGeom prst="rect">
            <a:avLst/>
          </a:prstGeom>
          <a:noFill/>
          <a:ln/>
        </p:spPr>
        <p:txBody>
          <a:bodyPr wrap="square" lIns="0" tIns="0" rIns="0" bIns="0" rtlCol="0" anchor="ctr"/>
          <a:lstStyle/>
          <a:p>
            <a:pPr indent="0" marL="0">
              <a:buNone/>
            </a:pPr>
            <a:r>
              <a:rPr lang="en-US" sz="1600" i="1" dirty="0">
                <a:solidFill>
                  <a:srgbClr val="0D3358"/>
                </a:solidFill>
                <a:latin typeface="Calibri" pitchFamily="34" charset="0"/>
                <a:ea typeface="Calibri" pitchFamily="34" charset="-122"/>
                <a:cs typeface="Calibri" pitchFamily="34" charset="-120"/>
              </a:rPr>
              <a:t>Python lets a name point to a new value on the next line. That is useful in a program. It is not how God keeps a promise.</a:t>
            </a:r>
            <a:endParaRPr lang="en-US" sz="1600" dirty="0"/>
          </a:p>
        </p:txBody>
      </p:sp>
      <p:sp>
        <p:nvSpPr>
          <p:cNvPr id="17" name="Text 15"/>
          <p:cNvSpPr/>
          <p:nvPr/>
        </p:nvSpPr>
        <p:spPr>
          <a:xfrm>
            <a:off x="685800" y="5532120"/>
            <a:ext cx="5074920" cy="36576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2 Corinthians 1:20  ·  NKJV</a:t>
            </a:r>
            <a:endParaRPr lang="en-US" sz="1400" dirty="0"/>
          </a:p>
        </p:txBody>
      </p:sp>
      <p:sp>
        <p:nvSpPr>
          <p:cNvPr id="18" name="Shape 16"/>
          <p:cNvSpPr/>
          <p:nvPr/>
        </p:nvSpPr>
        <p:spPr>
          <a:xfrm>
            <a:off x="6172200" y="3703320"/>
            <a:ext cx="5532120" cy="2468880"/>
          </a:xfrm>
          <a:prstGeom prst="roundRect">
            <a:avLst>
              <a:gd name="adj" fmla="val 2963"/>
            </a:avLst>
          </a:prstGeom>
          <a:solidFill>
            <a:srgbClr val="FFFFFF"/>
          </a:solidFill>
          <a:ln w="12700">
            <a:solidFill>
              <a:srgbClr val="E2E8EE"/>
            </a:solidFill>
            <a:prstDash val="solid"/>
          </a:ln>
        </p:spPr>
      </p:sp>
      <p:sp>
        <p:nvSpPr>
          <p:cNvPr id="19" name="Text 17"/>
          <p:cNvSpPr/>
          <p:nvPr/>
        </p:nvSpPr>
        <p:spPr>
          <a:xfrm>
            <a:off x="6400800" y="3886200"/>
            <a:ext cx="5074920" cy="32004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Worldview connection</a:t>
            </a:r>
            <a:endParaRPr lang="en-US" sz="1400" dirty="0"/>
          </a:p>
        </p:txBody>
      </p:sp>
      <p:sp>
        <p:nvSpPr>
          <p:cNvPr id="20" name="Text 18"/>
          <p:cNvSpPr/>
          <p:nvPr/>
        </p:nvSpPr>
        <p:spPr>
          <a:xfrm>
            <a:off x="6400800" y="4251960"/>
            <a:ext cx="5074920" cy="16916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Variables are mutable. The promises of God in Christ are Yes and Amen. They do not get reassigned. That contrast is the firm place to stand while you learn a language that changes on every line.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A Mistake to Watch For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11247120" cy="1234440"/>
          </a:xfrm>
          <a:prstGeom prst="roundRect">
            <a:avLst>
              <a:gd name="adj" fmla="val 5926"/>
            </a:avLst>
          </a:prstGeom>
          <a:solidFill>
            <a:srgbClr val="F8EBE7"/>
          </a:solidFill>
          <a:ln w="12700">
            <a:solidFill>
              <a:srgbClr val="E8C8BF"/>
            </a:solidFill>
            <a:prstDash val="solid"/>
          </a:ln>
        </p:spPr>
      </p:sp>
      <p:sp>
        <p:nvSpPr>
          <p:cNvPr id="13" name="Shape 11"/>
          <p:cNvSpPr/>
          <p:nvPr/>
        </p:nvSpPr>
        <p:spPr>
          <a:xfrm>
            <a:off x="457200" y="1371600"/>
            <a:ext cx="109728" cy="1234440"/>
          </a:xfrm>
          <a:prstGeom prst="rect">
            <a:avLst/>
          </a:prstGeom>
          <a:solidFill>
            <a:srgbClr val="A64936"/>
          </a:solidFill>
          <a:ln w="12700">
            <a:solidFill>
              <a:srgbClr val="A64936"/>
            </a:solidFill>
            <a:prstDash val="solid"/>
          </a:ln>
        </p:spPr>
      </p:sp>
      <p:sp>
        <p:nvSpPr>
          <p:cNvPr id="14" name="Text 12"/>
          <p:cNvSpPr/>
          <p:nvPr/>
        </p:nvSpPr>
        <p:spPr>
          <a:xfrm>
            <a:off x="749808" y="1517904"/>
            <a:ext cx="10698480" cy="347472"/>
          </a:xfrm>
          <a:prstGeom prst="rect">
            <a:avLst/>
          </a:prstGeom>
          <a:noFill/>
          <a:ln/>
        </p:spPr>
        <p:txBody>
          <a:bodyPr wrap="square" lIns="0" tIns="0" rIns="0" bIns="0" rtlCol="0" anchor="ctr"/>
          <a:lstStyle/>
          <a:p>
            <a:pPr indent="0" marL="0">
              <a:buNone/>
            </a:pPr>
            <a:r>
              <a:rPr lang="en-US" sz="2000" b="1" dirty="0">
                <a:solidFill>
                  <a:srgbClr val="A64936"/>
                </a:solidFill>
                <a:latin typeface="Calibri" pitchFamily="34" charset="0"/>
                <a:ea typeface="Calibri" pitchFamily="34" charset="-122"/>
                <a:cs typeface="Calibri" pitchFamily="34" charset="-120"/>
              </a:rPr>
              <a:t>Illegal names and the algebra equals sign</a:t>
            </a:r>
            <a:endParaRPr lang="en-US" sz="2000" dirty="0"/>
          </a:p>
        </p:txBody>
      </p:sp>
      <p:sp>
        <p:nvSpPr>
          <p:cNvPr id="15" name="Text 13"/>
          <p:cNvSpPr/>
          <p:nvPr/>
        </p:nvSpPr>
        <p:spPr>
          <a:xfrm>
            <a:off x="749808" y="1920240"/>
            <a:ext cx="10698480" cy="475488"/>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Students write names the way English writes phrases, or they treat = as a balance scale.</a:t>
            </a:r>
            <a:endParaRPr lang="en-US" sz="1600" dirty="0"/>
          </a:p>
        </p:txBody>
      </p:sp>
      <p:sp>
        <p:nvSpPr>
          <p:cNvPr id="16" name="Shape 14"/>
          <p:cNvSpPr/>
          <p:nvPr/>
        </p:nvSpPr>
        <p:spPr>
          <a:xfrm>
            <a:off x="457200" y="2816352"/>
            <a:ext cx="5532120" cy="3383280"/>
          </a:xfrm>
          <a:prstGeom prst="roundRect">
            <a:avLst>
              <a:gd name="adj" fmla="val 2162"/>
            </a:avLst>
          </a:prstGeom>
          <a:solidFill>
            <a:srgbClr val="FFFFFF"/>
          </a:solidFill>
          <a:ln w="12700">
            <a:solidFill>
              <a:srgbClr val="E2E8EE"/>
            </a:solidFill>
            <a:prstDash val="solid"/>
          </a:ln>
        </p:spPr>
      </p:sp>
      <p:sp>
        <p:nvSpPr>
          <p:cNvPr id="17" name="Text 15"/>
          <p:cNvSpPr/>
          <p:nvPr/>
        </p:nvSpPr>
        <p:spPr>
          <a:xfrm>
            <a:off x="685800" y="2980944"/>
            <a:ext cx="507492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WHAT IT LOOKS LIKE</a:t>
            </a:r>
            <a:endParaRPr lang="en-US" sz="1300" dirty="0"/>
          </a:p>
        </p:txBody>
      </p:sp>
      <p:sp>
        <p:nvSpPr>
          <p:cNvPr id="18" name="Shape 16"/>
          <p:cNvSpPr/>
          <p:nvPr/>
        </p:nvSpPr>
        <p:spPr>
          <a:xfrm>
            <a:off x="658368" y="3364992"/>
            <a:ext cx="5120640" cy="2560320"/>
          </a:xfrm>
          <a:prstGeom prst="roundRect">
            <a:avLst>
              <a:gd name="adj" fmla="val 2143"/>
            </a:avLst>
          </a:prstGeom>
          <a:solidFill>
            <a:srgbClr val="E7F2FD"/>
          </a:solidFill>
          <a:ln w="12700">
            <a:solidFill>
              <a:srgbClr val="D3E4F6"/>
            </a:solidFill>
            <a:prstDash val="solid"/>
          </a:ln>
        </p:spPr>
      </p:sp>
      <p:sp>
        <p:nvSpPr>
          <p:cNvPr id="19" name="Text 17"/>
          <p:cNvSpPr/>
          <p:nvPr/>
        </p:nvSpPr>
        <p:spPr>
          <a:xfrm>
            <a:off x="822960" y="3474720"/>
            <a:ext cx="4791456" cy="23408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 These lines will not run.</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2score = 10</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first-name = "Eli"</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SyntaxError: invalid syntax</a:t>
            </a:r>
            <a:endParaRPr lang="en-US" sz="1400" dirty="0"/>
          </a:p>
        </p:txBody>
      </p:sp>
      <p:sp>
        <p:nvSpPr>
          <p:cNvPr id="20" name="Shape 18"/>
          <p:cNvSpPr/>
          <p:nvPr/>
        </p:nvSpPr>
        <p:spPr>
          <a:xfrm>
            <a:off x="6172200" y="2816352"/>
            <a:ext cx="5532120" cy="3383280"/>
          </a:xfrm>
          <a:prstGeom prst="roundRect">
            <a:avLst>
              <a:gd name="adj" fmla="val 2162"/>
            </a:avLst>
          </a:prstGeom>
          <a:solidFill>
            <a:srgbClr val="FFFFFF"/>
          </a:solidFill>
          <a:ln w="12700">
            <a:solidFill>
              <a:srgbClr val="E2E8EE"/>
            </a:solidFill>
            <a:prstDash val="solid"/>
          </a:ln>
        </p:spPr>
      </p:sp>
      <p:sp>
        <p:nvSpPr>
          <p:cNvPr id="21" name="Text 19"/>
          <p:cNvSpPr/>
          <p:nvPr/>
        </p:nvSpPr>
        <p:spPr>
          <a:xfrm>
            <a:off x="6400800" y="2980944"/>
            <a:ext cx="507492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HOW TO REPAIR IT</a:t>
            </a:r>
            <a:endParaRPr lang="en-US" sz="1300" dirty="0"/>
          </a:p>
        </p:txBody>
      </p:sp>
      <p:sp>
        <p:nvSpPr>
          <p:cNvPr id="22" name="Shape 20"/>
          <p:cNvSpPr/>
          <p:nvPr/>
        </p:nvSpPr>
        <p:spPr>
          <a:xfrm>
            <a:off x="6373368" y="3364992"/>
            <a:ext cx="5120640" cy="2560320"/>
          </a:xfrm>
          <a:prstGeom prst="roundRect">
            <a:avLst>
              <a:gd name="adj" fmla="val 2143"/>
            </a:avLst>
          </a:prstGeom>
          <a:solidFill>
            <a:srgbClr val="E7F2FD"/>
          </a:solidFill>
          <a:ln w="12700">
            <a:solidFill>
              <a:srgbClr val="D3E4F6"/>
            </a:solidFill>
            <a:prstDash val="solid"/>
          </a:ln>
        </p:spPr>
      </p:sp>
      <p:sp>
        <p:nvSpPr>
          <p:cNvPr id="23" name="Text 21"/>
          <p:cNvSpPr/>
          <p:nvPr/>
        </p:nvSpPr>
        <p:spPr>
          <a:xfrm>
            <a:off x="6537960" y="3474720"/>
            <a:ext cx="4791456" cy="23408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 Legal names, then reassignment.</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score2 = 10</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first_name = "Eli"</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points = points + 5</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Working Canvas</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Text 10"/>
          <p:cNvSpPr/>
          <p:nvPr/>
        </p:nvSpPr>
        <p:spPr>
          <a:xfrm>
            <a:off x="457200" y="1298448"/>
            <a:ext cx="11247120" cy="64008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Use this slide when the lesson needs one more teaching page. Duplicate it. Keep the header, gold rule, title size, and footer. Fill the cards below or delete them and drop in another pattern from this file.</a:t>
            </a:r>
            <a:endParaRPr lang="en-US" sz="1600" dirty="0"/>
          </a:p>
        </p:txBody>
      </p:sp>
      <p:sp>
        <p:nvSpPr>
          <p:cNvPr id="13" name="Shape 11"/>
          <p:cNvSpPr/>
          <p:nvPr/>
        </p:nvSpPr>
        <p:spPr>
          <a:xfrm>
            <a:off x="457200" y="2084832"/>
            <a:ext cx="3675888" cy="4114800"/>
          </a:xfrm>
          <a:prstGeom prst="roundRect">
            <a:avLst>
              <a:gd name="adj" fmla="val 1990"/>
            </a:avLst>
          </a:prstGeom>
          <a:solidFill>
            <a:srgbClr val="FFFFFF"/>
          </a:solidFill>
          <a:ln w="12700">
            <a:solidFill>
              <a:srgbClr val="E2E8EE"/>
            </a:solidFill>
            <a:prstDash val="solid"/>
          </a:ln>
        </p:spPr>
      </p:sp>
      <p:sp>
        <p:nvSpPr>
          <p:cNvPr id="14" name="Shape 12"/>
          <p:cNvSpPr/>
          <p:nvPr/>
        </p:nvSpPr>
        <p:spPr>
          <a:xfrm>
            <a:off x="457200" y="2084832"/>
            <a:ext cx="109728" cy="4114800"/>
          </a:xfrm>
          <a:prstGeom prst="rect">
            <a:avLst/>
          </a:prstGeom>
          <a:solidFill>
            <a:srgbClr val="1A7070"/>
          </a:solidFill>
          <a:ln w="12700">
            <a:solidFill>
              <a:srgbClr val="1A7070"/>
            </a:solidFill>
            <a:prstDash val="solid"/>
          </a:ln>
        </p:spPr>
      </p:sp>
      <p:sp>
        <p:nvSpPr>
          <p:cNvPr id="15" name="Text 13"/>
          <p:cNvSpPr/>
          <p:nvPr/>
        </p:nvSpPr>
        <p:spPr>
          <a:xfrm>
            <a:off x="713232" y="2267712"/>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TEACHING POINT</a:t>
            </a:r>
            <a:endParaRPr lang="en-US" sz="1300" dirty="0"/>
          </a:p>
        </p:txBody>
      </p:sp>
      <p:sp>
        <p:nvSpPr>
          <p:cNvPr id="16" name="Text 14"/>
          <p:cNvSpPr/>
          <p:nvPr/>
        </p:nvSpPr>
        <p:spPr>
          <a:xfrm>
            <a:off x="71323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Reassignment updates the same name. Trace every line before you predict print.</a:t>
            </a:r>
            <a:endParaRPr lang="en-US" sz="1600" dirty="0"/>
          </a:p>
        </p:txBody>
      </p:sp>
      <p:sp>
        <p:nvSpPr>
          <p:cNvPr id="17" name="Shape 15"/>
          <p:cNvSpPr/>
          <p:nvPr/>
        </p:nvSpPr>
        <p:spPr>
          <a:xfrm>
            <a:off x="4297680" y="2084832"/>
            <a:ext cx="3675888" cy="4114800"/>
          </a:xfrm>
          <a:prstGeom prst="roundRect">
            <a:avLst>
              <a:gd name="adj" fmla="val 1990"/>
            </a:avLst>
          </a:prstGeom>
          <a:solidFill>
            <a:srgbClr val="FFFFFF"/>
          </a:solidFill>
          <a:ln w="12700">
            <a:solidFill>
              <a:srgbClr val="E2E8EE"/>
            </a:solidFill>
            <a:prstDash val="solid"/>
          </a:ln>
        </p:spPr>
      </p:sp>
      <p:sp>
        <p:nvSpPr>
          <p:cNvPr id="18" name="Shape 16"/>
          <p:cNvSpPr/>
          <p:nvPr/>
        </p:nvSpPr>
        <p:spPr>
          <a:xfrm>
            <a:off x="4297680" y="2084832"/>
            <a:ext cx="109728" cy="4114800"/>
          </a:xfrm>
          <a:prstGeom prst="rect">
            <a:avLst/>
          </a:prstGeom>
          <a:solidFill>
            <a:srgbClr val="1A7070"/>
          </a:solidFill>
          <a:ln w="12700">
            <a:solidFill>
              <a:srgbClr val="1A7070"/>
            </a:solidFill>
            <a:prstDash val="solid"/>
          </a:ln>
        </p:spPr>
      </p:sp>
      <p:sp>
        <p:nvSpPr>
          <p:cNvPr id="19" name="Text 17"/>
          <p:cNvSpPr/>
          <p:nvPr/>
        </p:nvSpPr>
        <p:spPr>
          <a:xfrm>
            <a:off x="4553712" y="2267712"/>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EXAMPLE</a:t>
            </a:r>
            <a:endParaRPr lang="en-US" sz="1300" dirty="0"/>
          </a:p>
        </p:txBody>
      </p:sp>
      <p:sp>
        <p:nvSpPr>
          <p:cNvPr id="20" name="Text 18"/>
          <p:cNvSpPr/>
          <p:nvPr/>
        </p:nvSpPr>
        <p:spPr>
          <a:xfrm>
            <a:off x="455371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points = 10 → print Start 10. points = points + 5 → 15. points = 100 → Reset 100.</a:t>
            </a:r>
            <a:endParaRPr lang="en-US" sz="1600" dirty="0"/>
          </a:p>
        </p:txBody>
      </p:sp>
      <p:sp>
        <p:nvSpPr>
          <p:cNvPr id="21" name="Shape 19"/>
          <p:cNvSpPr/>
          <p:nvPr/>
        </p:nvSpPr>
        <p:spPr>
          <a:xfrm>
            <a:off x="8138160" y="2084832"/>
            <a:ext cx="3675888" cy="4114800"/>
          </a:xfrm>
          <a:prstGeom prst="roundRect">
            <a:avLst>
              <a:gd name="adj" fmla="val 1990"/>
            </a:avLst>
          </a:prstGeom>
          <a:solidFill>
            <a:srgbClr val="FFFFFF"/>
          </a:solidFill>
          <a:ln w="12700">
            <a:solidFill>
              <a:srgbClr val="E2E8EE"/>
            </a:solidFill>
            <a:prstDash val="solid"/>
          </a:ln>
        </p:spPr>
      </p:sp>
      <p:sp>
        <p:nvSpPr>
          <p:cNvPr id="22" name="Shape 20"/>
          <p:cNvSpPr/>
          <p:nvPr/>
        </p:nvSpPr>
        <p:spPr>
          <a:xfrm>
            <a:off x="8138160" y="2084832"/>
            <a:ext cx="109728" cy="4114800"/>
          </a:xfrm>
          <a:prstGeom prst="rect">
            <a:avLst/>
          </a:prstGeom>
          <a:solidFill>
            <a:srgbClr val="D08F3C"/>
          </a:solidFill>
          <a:ln w="12700">
            <a:solidFill>
              <a:srgbClr val="D08F3C"/>
            </a:solidFill>
            <a:prstDash val="solid"/>
          </a:ln>
        </p:spPr>
      </p:sp>
      <p:sp>
        <p:nvSpPr>
          <p:cNvPr id="23" name="Text 21"/>
          <p:cNvSpPr/>
          <p:nvPr/>
        </p:nvSpPr>
        <p:spPr>
          <a:xfrm>
            <a:off x="8394192" y="2267712"/>
            <a:ext cx="3246120" cy="292608"/>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CHECK</a:t>
            </a:r>
            <a:endParaRPr lang="en-US" sz="1300" dirty="0"/>
          </a:p>
        </p:txBody>
      </p:sp>
      <p:sp>
        <p:nvSpPr>
          <p:cNvPr id="24" name="Text 22"/>
          <p:cNvSpPr/>
          <p:nvPr/>
        </p:nvSpPr>
        <p:spPr>
          <a:xfrm>
            <a:off x="839419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What prints after x = 5; x = x + 1; print(x)? Why is 2score illegal but score2 legal?</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normAutofit/>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Variables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Summary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25880"/>
            <a:ext cx="5669280" cy="1298448"/>
          </a:xfrm>
          <a:prstGeom prst="roundRect">
            <a:avLst>
              <a:gd name="adj" fmla="val 5634"/>
            </a:avLst>
          </a:prstGeom>
          <a:solidFill>
            <a:srgbClr val="FFFFFF"/>
          </a:solidFill>
          <a:ln w="12700">
            <a:solidFill>
              <a:srgbClr val="E2E8EE"/>
            </a:solidFill>
            <a:prstDash val="solid"/>
          </a:ln>
        </p:spPr>
      </p:sp>
      <p:sp>
        <p:nvSpPr>
          <p:cNvPr id="13" name="Shape 11"/>
          <p:cNvSpPr/>
          <p:nvPr/>
        </p:nvSpPr>
        <p:spPr>
          <a:xfrm>
            <a:off x="457200" y="1325880"/>
            <a:ext cx="109728" cy="1298448"/>
          </a:xfrm>
          <a:prstGeom prst="rect">
            <a:avLst/>
          </a:prstGeom>
          <a:solidFill>
            <a:srgbClr val="1A7070"/>
          </a:solidFill>
          <a:ln w="12700">
            <a:solidFill>
              <a:srgbClr val="1A7070"/>
            </a:solidFill>
            <a:prstDash val="solid"/>
          </a:ln>
        </p:spPr>
      </p:sp>
      <p:sp>
        <p:nvSpPr>
          <p:cNvPr id="14" name="Text 12"/>
          <p:cNvSpPr/>
          <p:nvPr/>
        </p:nvSpPr>
        <p:spPr>
          <a:xfrm>
            <a:off x="74980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A name refers to a value.</a:t>
            </a:r>
            <a:endParaRPr lang="en-US" sz="1600" dirty="0"/>
          </a:p>
        </p:txBody>
      </p:sp>
      <p:sp>
        <p:nvSpPr>
          <p:cNvPr id="15" name="Text 13"/>
          <p:cNvSpPr/>
          <p:nvPr/>
        </p:nvSpPr>
        <p:spPr>
          <a:xfrm>
            <a:off x="74980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Write the name, then =, then the value. print uses the name.</a:t>
            </a:r>
            <a:endParaRPr lang="en-US" sz="1400" dirty="0"/>
          </a:p>
        </p:txBody>
      </p:sp>
      <p:sp>
        <p:nvSpPr>
          <p:cNvPr id="16" name="Shape 14"/>
          <p:cNvSpPr/>
          <p:nvPr/>
        </p:nvSpPr>
        <p:spPr>
          <a:xfrm>
            <a:off x="6309360" y="1325880"/>
            <a:ext cx="5669280" cy="1298448"/>
          </a:xfrm>
          <a:prstGeom prst="roundRect">
            <a:avLst>
              <a:gd name="adj" fmla="val 5634"/>
            </a:avLst>
          </a:prstGeom>
          <a:solidFill>
            <a:srgbClr val="FFFFFF"/>
          </a:solidFill>
          <a:ln w="12700">
            <a:solidFill>
              <a:srgbClr val="E2E8EE"/>
            </a:solidFill>
            <a:prstDash val="solid"/>
          </a:ln>
        </p:spPr>
      </p:sp>
      <p:sp>
        <p:nvSpPr>
          <p:cNvPr id="17" name="Shape 15"/>
          <p:cNvSpPr/>
          <p:nvPr/>
        </p:nvSpPr>
        <p:spPr>
          <a:xfrm>
            <a:off x="6309360" y="1325880"/>
            <a:ext cx="109728" cy="1298448"/>
          </a:xfrm>
          <a:prstGeom prst="rect">
            <a:avLst/>
          </a:prstGeom>
          <a:solidFill>
            <a:srgbClr val="1A7070"/>
          </a:solidFill>
          <a:ln w="12700">
            <a:solidFill>
              <a:srgbClr val="1A7070"/>
            </a:solidFill>
            <a:prstDash val="solid"/>
          </a:ln>
        </p:spPr>
      </p:sp>
      <p:sp>
        <p:nvSpPr>
          <p:cNvPr id="18" name="Text 16"/>
          <p:cNvSpPr/>
          <p:nvPr/>
        </p:nvSpPr>
        <p:spPr>
          <a:xfrm>
            <a:off x="660196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One = assigns.</a:t>
            </a:r>
            <a:endParaRPr lang="en-US" sz="1600" dirty="0"/>
          </a:p>
        </p:txBody>
      </p:sp>
      <p:sp>
        <p:nvSpPr>
          <p:cNvPr id="19" name="Text 17"/>
          <p:cNvSpPr/>
          <p:nvPr/>
        </p:nvSpPr>
        <p:spPr>
          <a:xfrm>
            <a:off x="660196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Python = stores. Algebra = claims equality. Read = as “gets.”</a:t>
            </a:r>
            <a:endParaRPr lang="en-US" sz="1400" dirty="0"/>
          </a:p>
        </p:txBody>
      </p:sp>
      <p:sp>
        <p:nvSpPr>
          <p:cNvPr id="20" name="Shape 18"/>
          <p:cNvSpPr/>
          <p:nvPr/>
        </p:nvSpPr>
        <p:spPr>
          <a:xfrm>
            <a:off x="457200" y="2743200"/>
            <a:ext cx="5669280" cy="1298448"/>
          </a:xfrm>
          <a:prstGeom prst="roundRect">
            <a:avLst>
              <a:gd name="adj" fmla="val 5634"/>
            </a:avLst>
          </a:prstGeom>
          <a:solidFill>
            <a:srgbClr val="FFFFFF"/>
          </a:solidFill>
          <a:ln w="12700">
            <a:solidFill>
              <a:srgbClr val="E2E8EE"/>
            </a:solidFill>
            <a:prstDash val="solid"/>
          </a:ln>
        </p:spPr>
      </p:sp>
      <p:sp>
        <p:nvSpPr>
          <p:cNvPr id="21" name="Shape 19"/>
          <p:cNvSpPr/>
          <p:nvPr/>
        </p:nvSpPr>
        <p:spPr>
          <a:xfrm>
            <a:off x="457200" y="2743200"/>
            <a:ext cx="109728" cy="1298448"/>
          </a:xfrm>
          <a:prstGeom prst="rect">
            <a:avLst/>
          </a:prstGeom>
          <a:solidFill>
            <a:srgbClr val="1A7070"/>
          </a:solidFill>
          <a:ln w="12700">
            <a:solidFill>
              <a:srgbClr val="1A7070"/>
            </a:solidFill>
            <a:prstDash val="solid"/>
          </a:ln>
        </p:spPr>
      </p:sp>
      <p:sp>
        <p:nvSpPr>
          <p:cNvPr id="22" name="Text 20"/>
          <p:cNvSpPr/>
          <p:nvPr/>
        </p:nvSpPr>
        <p:spPr>
          <a:xfrm>
            <a:off x="74980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Names have rules.</a:t>
            </a:r>
            <a:endParaRPr lang="en-US" sz="1600" dirty="0"/>
          </a:p>
        </p:txBody>
      </p:sp>
      <p:sp>
        <p:nvSpPr>
          <p:cNvPr id="23" name="Text 21"/>
          <p:cNvSpPr/>
          <p:nvPr/>
        </p:nvSpPr>
        <p:spPr>
          <a:xfrm>
            <a:off x="74980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Letter or underscore first. snake_case. No hyphens. Case matters.</a:t>
            </a:r>
            <a:endParaRPr lang="en-US" sz="1400" dirty="0"/>
          </a:p>
        </p:txBody>
      </p:sp>
      <p:sp>
        <p:nvSpPr>
          <p:cNvPr id="24" name="Shape 22"/>
          <p:cNvSpPr/>
          <p:nvPr/>
        </p:nvSpPr>
        <p:spPr>
          <a:xfrm>
            <a:off x="6309360" y="2743200"/>
            <a:ext cx="5669280" cy="1298448"/>
          </a:xfrm>
          <a:prstGeom prst="roundRect">
            <a:avLst>
              <a:gd name="adj" fmla="val 5634"/>
            </a:avLst>
          </a:prstGeom>
          <a:solidFill>
            <a:srgbClr val="FFFFFF"/>
          </a:solidFill>
          <a:ln w="12700">
            <a:solidFill>
              <a:srgbClr val="E2E8EE"/>
            </a:solidFill>
            <a:prstDash val="solid"/>
          </a:ln>
        </p:spPr>
      </p:sp>
      <p:sp>
        <p:nvSpPr>
          <p:cNvPr id="25" name="Shape 23"/>
          <p:cNvSpPr/>
          <p:nvPr/>
        </p:nvSpPr>
        <p:spPr>
          <a:xfrm>
            <a:off x="6309360" y="2743200"/>
            <a:ext cx="109728" cy="1298448"/>
          </a:xfrm>
          <a:prstGeom prst="rect">
            <a:avLst/>
          </a:prstGeom>
          <a:solidFill>
            <a:srgbClr val="1A7070"/>
          </a:solidFill>
          <a:ln w="12700">
            <a:solidFill>
              <a:srgbClr val="1A7070"/>
            </a:solidFill>
            <a:prstDash val="solid"/>
          </a:ln>
        </p:spPr>
      </p:sp>
      <p:sp>
        <p:nvSpPr>
          <p:cNvPr id="26" name="Text 24"/>
          <p:cNvSpPr/>
          <p:nvPr/>
        </p:nvSpPr>
        <p:spPr>
          <a:xfrm>
            <a:off x="660196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Values can change.</a:t>
            </a:r>
            <a:endParaRPr lang="en-US" sz="1600" dirty="0"/>
          </a:p>
        </p:txBody>
      </p:sp>
      <p:sp>
        <p:nvSpPr>
          <p:cNvPr id="27" name="Text 25"/>
          <p:cNvSpPr/>
          <p:nvPr/>
        </p:nvSpPr>
        <p:spPr>
          <a:xfrm>
            <a:off x="660196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Reassignment keeps the name and points it at a new value. Trace in order.</a:t>
            </a:r>
            <a:endParaRPr lang="en-US" sz="1400" dirty="0"/>
          </a:p>
        </p:txBody>
      </p:sp>
      <p:sp>
        <p:nvSpPr>
          <p:cNvPr id="28" name="Shape 26"/>
          <p:cNvSpPr/>
          <p:nvPr/>
        </p:nvSpPr>
        <p:spPr>
          <a:xfrm>
            <a:off x="457200" y="4160520"/>
            <a:ext cx="5669280" cy="1298448"/>
          </a:xfrm>
          <a:prstGeom prst="roundRect">
            <a:avLst>
              <a:gd name="adj" fmla="val 5634"/>
            </a:avLst>
          </a:prstGeom>
          <a:solidFill>
            <a:srgbClr val="FFFFFF"/>
          </a:solidFill>
          <a:ln w="12700">
            <a:solidFill>
              <a:srgbClr val="E2E8EE"/>
            </a:solidFill>
            <a:prstDash val="solid"/>
          </a:ln>
        </p:spPr>
      </p:sp>
      <p:sp>
        <p:nvSpPr>
          <p:cNvPr id="29" name="Shape 27"/>
          <p:cNvSpPr/>
          <p:nvPr/>
        </p:nvSpPr>
        <p:spPr>
          <a:xfrm>
            <a:off x="457200" y="4160520"/>
            <a:ext cx="109728" cy="1298448"/>
          </a:xfrm>
          <a:prstGeom prst="rect">
            <a:avLst/>
          </a:prstGeom>
          <a:solidFill>
            <a:srgbClr val="1A7070"/>
          </a:solidFill>
          <a:ln w="12700">
            <a:solidFill>
              <a:srgbClr val="1A7070"/>
            </a:solidFill>
            <a:prstDash val="solid"/>
          </a:ln>
        </p:spPr>
      </p:sp>
      <p:sp>
        <p:nvSpPr>
          <p:cNvPr id="30" name="Text 28"/>
          <p:cNvSpPr/>
          <p:nvPr/>
        </p:nvSpPr>
        <p:spPr>
          <a:xfrm>
            <a:off x="74980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Use names in formulas.</a:t>
            </a:r>
            <a:endParaRPr lang="en-US" sz="1600" dirty="0"/>
          </a:p>
        </p:txBody>
      </p:sp>
      <p:sp>
        <p:nvSpPr>
          <p:cNvPr id="31" name="Text 29"/>
          <p:cNvSpPr/>
          <p:nvPr/>
        </p:nvSpPr>
        <p:spPr>
          <a:xfrm>
            <a:off x="74980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area = width * height stays true when width changes.</a:t>
            </a:r>
            <a:endParaRPr lang="en-US" sz="1400" dirty="0"/>
          </a:p>
        </p:txBody>
      </p:sp>
      <p:sp>
        <p:nvSpPr>
          <p:cNvPr id="32" name="Shape 30"/>
          <p:cNvSpPr/>
          <p:nvPr/>
        </p:nvSpPr>
        <p:spPr>
          <a:xfrm>
            <a:off x="6309360" y="4160520"/>
            <a:ext cx="5669280" cy="1298448"/>
          </a:xfrm>
          <a:prstGeom prst="roundRect">
            <a:avLst>
              <a:gd name="adj" fmla="val 5634"/>
            </a:avLst>
          </a:prstGeom>
          <a:solidFill>
            <a:srgbClr val="FFFFFF"/>
          </a:solidFill>
          <a:ln w="12700">
            <a:solidFill>
              <a:srgbClr val="E2E8EE"/>
            </a:solidFill>
            <a:prstDash val="solid"/>
          </a:ln>
        </p:spPr>
      </p:sp>
      <p:sp>
        <p:nvSpPr>
          <p:cNvPr id="33" name="Shape 31"/>
          <p:cNvSpPr/>
          <p:nvPr/>
        </p:nvSpPr>
        <p:spPr>
          <a:xfrm>
            <a:off x="6309360" y="4160520"/>
            <a:ext cx="109728" cy="1298448"/>
          </a:xfrm>
          <a:prstGeom prst="rect">
            <a:avLst/>
          </a:prstGeom>
          <a:solidFill>
            <a:srgbClr val="1A7070"/>
          </a:solidFill>
          <a:ln w="12700">
            <a:solidFill>
              <a:srgbClr val="1A7070"/>
            </a:solidFill>
            <a:prstDash val="solid"/>
          </a:ln>
        </p:spPr>
      </p:sp>
      <p:sp>
        <p:nvSpPr>
          <p:cNvPr id="34" name="Text 32"/>
          <p:cNvSpPr/>
          <p:nvPr/>
        </p:nvSpPr>
        <p:spPr>
          <a:xfrm>
            <a:off x="660196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God’s promises do not shift.</a:t>
            </a:r>
            <a:endParaRPr lang="en-US" sz="1600" dirty="0"/>
          </a:p>
        </p:txBody>
      </p:sp>
      <p:sp>
        <p:nvSpPr>
          <p:cNvPr id="35" name="Text 33"/>
          <p:cNvSpPr/>
          <p:nvPr/>
        </p:nvSpPr>
        <p:spPr>
          <a:xfrm>
            <a:off x="660196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2 Corinthians 1:20: in Christ the promises are Yes and Amen.</a:t>
            </a:r>
            <a:endParaRPr lang="en-US" sz="1400" dirty="0"/>
          </a:p>
        </p:txBody>
      </p:sp>
      <p:sp>
        <p:nvSpPr>
          <p:cNvPr id="36" name="Shape 34"/>
          <p:cNvSpPr/>
          <p:nvPr/>
        </p:nvSpPr>
        <p:spPr>
          <a:xfrm>
            <a:off x="457200" y="5623560"/>
            <a:ext cx="11247120" cy="685800"/>
          </a:xfrm>
          <a:prstGeom prst="roundRect">
            <a:avLst>
              <a:gd name="adj" fmla="val 10667"/>
            </a:avLst>
          </a:prstGeom>
          <a:solidFill>
            <a:srgbClr val="FBF3E2"/>
          </a:solidFill>
          <a:ln w="12700">
            <a:solidFill>
              <a:srgbClr val="E8D9B8"/>
            </a:solidFill>
            <a:prstDash val="solid"/>
          </a:ln>
        </p:spPr>
      </p:sp>
      <p:sp>
        <p:nvSpPr>
          <p:cNvPr id="37" name="Text 35"/>
          <p:cNvSpPr/>
          <p:nvPr/>
        </p:nvSpPr>
        <p:spPr>
          <a:xfrm>
            <a:off x="640080" y="5687568"/>
            <a:ext cx="10881360" cy="548640"/>
          </a:xfrm>
          <a:prstGeom prst="rect">
            <a:avLst/>
          </a:prstGeom>
          <a:noFill/>
          <a:ln/>
        </p:spPr>
        <p:txBody>
          <a:bodyPr wrap="square" lIns="0" tIns="0" rIns="0" bIns="0" rtlCol="0" anchor="ctr"/>
          <a:lstStyle/>
          <a:p>
            <a:pPr indent="0" marL="0">
              <a:buNone/>
            </a:pPr>
            <a:r>
              <a:rPr lang="en-US" sz="1500" dirty="0">
                <a:solidFill>
                  <a:srgbClr val="0D3358"/>
                </a:solidFill>
                <a:latin typeface="Calibri" pitchFamily="34" charset="0"/>
                <a:ea typeface="Calibri" pitchFamily="34" charset="-122"/>
                <a:cs typeface="Calibri" pitchFamily="34" charset="-120"/>
              </a:rPr>
              <a:t>Next lesson  ·  Data Types  ·  int, float, str, and bool — what kind of value a name holds.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LogosTeach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LogosTeach CS1 Lesson Template</dc:title>
  <dc:subject>Computer Science 1 house-style PowerPoint template</dc:subject>
  <dc:creator>LogosTeach</dc:creator>
  <cp:lastModifiedBy>LogosTeach</cp:lastModifiedBy>
  <cp:revision>1</cp:revision>
  <dcterms:created xsi:type="dcterms:W3CDTF">2026-08-31T17:26:11Z</dcterms:created>
  <dcterms:modified xsi:type="dcterms:W3CDTF">2026-08-31T17:26:11Z</dcterms:modified>
</cp:coreProperties>
</file>